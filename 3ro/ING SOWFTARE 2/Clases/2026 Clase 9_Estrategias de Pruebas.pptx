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5" r:id="rId1"/>
  </p:sldMasterIdLst>
  <p:notesMasterIdLst>
    <p:notesMasterId r:id="rId43"/>
  </p:notesMasterIdLst>
  <p:sldIdLst>
    <p:sldId id="300" r:id="rId2"/>
    <p:sldId id="312" r:id="rId3"/>
    <p:sldId id="313" r:id="rId4"/>
    <p:sldId id="315" r:id="rId5"/>
    <p:sldId id="316" r:id="rId6"/>
    <p:sldId id="317" r:id="rId7"/>
    <p:sldId id="318" r:id="rId8"/>
    <p:sldId id="319" r:id="rId9"/>
    <p:sldId id="321" r:id="rId10"/>
    <p:sldId id="320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334" r:id="rId23"/>
    <p:sldId id="335" r:id="rId24"/>
    <p:sldId id="336" r:id="rId25"/>
    <p:sldId id="337" r:id="rId26"/>
    <p:sldId id="338" r:id="rId27"/>
    <p:sldId id="339" r:id="rId28"/>
    <p:sldId id="341" r:id="rId29"/>
    <p:sldId id="340" r:id="rId30"/>
    <p:sldId id="342" r:id="rId31"/>
    <p:sldId id="343" r:id="rId32"/>
    <p:sldId id="344" r:id="rId33"/>
    <p:sldId id="345" r:id="rId34"/>
    <p:sldId id="346" r:id="rId35"/>
    <p:sldId id="347" r:id="rId36"/>
    <p:sldId id="348" r:id="rId37"/>
    <p:sldId id="349" r:id="rId38"/>
    <p:sldId id="333" r:id="rId39"/>
    <p:sldId id="350" r:id="rId40"/>
    <p:sldId id="352" r:id="rId41"/>
    <p:sldId id="351" r:id="rId42"/>
  </p:sldIdLst>
  <p:sldSz cx="12192000" cy="6858000"/>
  <p:notesSz cx="6858000" cy="9144000"/>
  <p:embeddedFontLst>
    <p:embeddedFont>
      <p:font typeface="Gill Sans" panose="020B0604020202020204" charset="0"/>
      <p:regular r:id="rId44"/>
      <p:bold r:id="rId45"/>
    </p:embeddedFont>
    <p:embeddedFont>
      <p:font typeface="Noto Sans Symbols" panose="020B0604020202020204" charset="0"/>
      <p:regular r:id="rId46"/>
      <p:bold r:id="rId47"/>
    </p:embeddedFont>
    <p:embeddedFont>
      <p:font typeface="Noto Sans Symbols2" panose="020B0502040504020204" pitchFamily="34" charset="0"/>
      <p:regular r:id="rId48"/>
    </p:embeddedFont>
  </p:embeddedFont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9" roundtripDataSignature="AMtx7miKcTC63w/5JVD3A+KHjFuLQvus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2" autoAdjust="0"/>
    <p:restoredTop sz="94660"/>
  </p:normalViewPr>
  <p:slideViewPr>
    <p:cSldViewPr snapToGrid="0">
      <p:cViewPr varScale="1">
        <p:scale>
          <a:sx n="62" d="100"/>
          <a:sy n="62" d="100"/>
        </p:scale>
        <p:origin x="94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EE78A1-5830-4DF2-90A3-2048D48DACF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8C964A3B-4B24-4D31-AF15-23246466D7E5}">
      <dgm:prSet/>
      <dgm:spPr/>
      <dgm:t>
        <a:bodyPr/>
        <a:lstStyle/>
        <a:p>
          <a:r>
            <a:rPr lang="en-US" b="0" i="0"/>
            <a:t>Se empieza la prueba con los módulos atómicos (es decir, módulos de los niveles más bajos de la estructura del programa). </a:t>
          </a:r>
          <a:endParaRPr lang="en-US"/>
        </a:p>
      </dgm:t>
    </dgm:pt>
    <dgm:pt modelId="{06958F9D-17DF-4E95-A595-61F758C06A6D}" type="parTrans" cxnId="{1B4C9505-90BF-4C02-8068-BDC30FD4E049}">
      <dgm:prSet/>
      <dgm:spPr/>
      <dgm:t>
        <a:bodyPr/>
        <a:lstStyle/>
        <a:p>
          <a:endParaRPr lang="en-US"/>
        </a:p>
      </dgm:t>
    </dgm:pt>
    <dgm:pt modelId="{0DA7BDA2-FC27-4B89-A288-F2DE9D035E2D}" type="sibTrans" cxnId="{1B4C9505-90BF-4C02-8068-BDC30FD4E049}">
      <dgm:prSet/>
      <dgm:spPr/>
      <dgm:t>
        <a:bodyPr/>
        <a:lstStyle/>
        <a:p>
          <a:endParaRPr lang="en-US"/>
        </a:p>
      </dgm:t>
    </dgm:pt>
    <dgm:pt modelId="{682230E1-E5C7-4492-A782-F95B279B60C3}">
      <dgm:prSet/>
      <dgm:spPr/>
      <dgm:t>
        <a:bodyPr/>
        <a:lstStyle/>
        <a:p>
          <a:r>
            <a:rPr lang="en-US" b="0" i="0"/>
            <a:t>Dado que los módulos se integran de abajo hacia arriba, el proceso requerido de los módulos subordinados siempre está disponible y se elimina la necesidad de resguardos pero no  así, los conductores.</a:t>
          </a:r>
          <a:endParaRPr lang="en-US"/>
        </a:p>
      </dgm:t>
    </dgm:pt>
    <dgm:pt modelId="{1F44A65C-B77C-4B63-840C-1EF7E1CCF179}" type="parTrans" cxnId="{86D0E464-28AB-436C-A12F-4915D61183A2}">
      <dgm:prSet/>
      <dgm:spPr/>
      <dgm:t>
        <a:bodyPr/>
        <a:lstStyle/>
        <a:p>
          <a:endParaRPr lang="en-US"/>
        </a:p>
      </dgm:t>
    </dgm:pt>
    <dgm:pt modelId="{AE0CF56B-D74F-49AB-8521-51CD27B88385}" type="sibTrans" cxnId="{86D0E464-28AB-436C-A12F-4915D61183A2}">
      <dgm:prSet/>
      <dgm:spPr/>
      <dgm:t>
        <a:bodyPr/>
        <a:lstStyle/>
        <a:p>
          <a:endParaRPr lang="en-US"/>
        </a:p>
      </dgm:t>
    </dgm:pt>
    <dgm:pt modelId="{7AEDB164-8EAE-4BBB-B444-38BB3E71AFB7}" type="pres">
      <dgm:prSet presAssocID="{4AEE78A1-5830-4DF2-90A3-2048D48DACFA}" presName="root" presStyleCnt="0">
        <dgm:presLayoutVars>
          <dgm:dir/>
          <dgm:resizeHandles val="exact"/>
        </dgm:presLayoutVars>
      </dgm:prSet>
      <dgm:spPr/>
    </dgm:pt>
    <dgm:pt modelId="{A9A885C2-5B1A-49C4-AC35-46574052C05B}" type="pres">
      <dgm:prSet presAssocID="{8C964A3B-4B24-4D31-AF15-23246466D7E5}" presName="compNode" presStyleCnt="0"/>
      <dgm:spPr/>
    </dgm:pt>
    <dgm:pt modelId="{68E33FFC-AC6D-4431-AF1C-52B2DD7B53B2}" type="pres">
      <dgm:prSet presAssocID="{8C964A3B-4B24-4D31-AF15-23246466D7E5}" presName="bgRect" presStyleLbl="bgShp" presStyleIdx="0" presStyleCnt="2"/>
      <dgm:spPr/>
    </dgm:pt>
    <dgm:pt modelId="{7BA041A5-F920-418B-B8A3-C03C62AD463C}" type="pres">
      <dgm:prSet presAssocID="{8C964A3B-4B24-4D31-AF15-23246466D7E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s clef"/>
        </a:ext>
      </dgm:extLst>
    </dgm:pt>
    <dgm:pt modelId="{0057398A-FB19-4918-895D-F8A9E2E63E52}" type="pres">
      <dgm:prSet presAssocID="{8C964A3B-4B24-4D31-AF15-23246466D7E5}" presName="spaceRect" presStyleCnt="0"/>
      <dgm:spPr/>
    </dgm:pt>
    <dgm:pt modelId="{CD12D17B-62BF-4231-A57B-2BAE009BB4EF}" type="pres">
      <dgm:prSet presAssocID="{8C964A3B-4B24-4D31-AF15-23246466D7E5}" presName="parTx" presStyleLbl="revTx" presStyleIdx="0" presStyleCnt="2">
        <dgm:presLayoutVars>
          <dgm:chMax val="0"/>
          <dgm:chPref val="0"/>
        </dgm:presLayoutVars>
      </dgm:prSet>
      <dgm:spPr/>
    </dgm:pt>
    <dgm:pt modelId="{D6AEC4B6-F0A2-492C-96CD-E00458A91518}" type="pres">
      <dgm:prSet presAssocID="{0DA7BDA2-FC27-4B89-A288-F2DE9D035E2D}" presName="sibTrans" presStyleCnt="0"/>
      <dgm:spPr/>
    </dgm:pt>
    <dgm:pt modelId="{83DF9F99-96B6-489C-A749-ED3D5F4FEF33}" type="pres">
      <dgm:prSet presAssocID="{682230E1-E5C7-4492-A782-F95B279B60C3}" presName="compNode" presStyleCnt="0"/>
      <dgm:spPr/>
    </dgm:pt>
    <dgm:pt modelId="{CAB6941D-DAC5-4B6B-A9C4-8141546A61FA}" type="pres">
      <dgm:prSet presAssocID="{682230E1-E5C7-4492-A782-F95B279B60C3}" presName="bgRect" presStyleLbl="bgShp" presStyleIdx="1" presStyleCnt="2"/>
      <dgm:spPr/>
    </dgm:pt>
    <dgm:pt modelId="{C5F46D1A-5420-4B76-AF3C-5E7872C8C6D6}" type="pres">
      <dgm:prSet presAssocID="{682230E1-E5C7-4492-A782-F95B279B60C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tir"/>
        </a:ext>
      </dgm:extLst>
    </dgm:pt>
    <dgm:pt modelId="{4A6B035E-CBCF-436D-BA40-5C5E0994CCF4}" type="pres">
      <dgm:prSet presAssocID="{682230E1-E5C7-4492-A782-F95B279B60C3}" presName="spaceRect" presStyleCnt="0"/>
      <dgm:spPr/>
    </dgm:pt>
    <dgm:pt modelId="{C471AA2D-0AF4-4D5E-8EAF-03E5CBEAD61F}" type="pres">
      <dgm:prSet presAssocID="{682230E1-E5C7-4492-A782-F95B279B60C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B4C9505-90BF-4C02-8068-BDC30FD4E049}" srcId="{4AEE78A1-5830-4DF2-90A3-2048D48DACFA}" destId="{8C964A3B-4B24-4D31-AF15-23246466D7E5}" srcOrd="0" destOrd="0" parTransId="{06958F9D-17DF-4E95-A595-61F758C06A6D}" sibTransId="{0DA7BDA2-FC27-4B89-A288-F2DE9D035E2D}"/>
    <dgm:cxn modelId="{32692C3A-C5B8-47E1-82C5-5969BBB0E42E}" type="presOf" srcId="{682230E1-E5C7-4492-A782-F95B279B60C3}" destId="{C471AA2D-0AF4-4D5E-8EAF-03E5CBEAD61F}" srcOrd="0" destOrd="0" presId="urn:microsoft.com/office/officeart/2018/2/layout/IconVerticalSolidList"/>
    <dgm:cxn modelId="{152B0963-B2B0-4C9E-9D51-2BD69D1BA96B}" type="presOf" srcId="{8C964A3B-4B24-4D31-AF15-23246466D7E5}" destId="{CD12D17B-62BF-4231-A57B-2BAE009BB4EF}" srcOrd="0" destOrd="0" presId="urn:microsoft.com/office/officeart/2018/2/layout/IconVerticalSolidList"/>
    <dgm:cxn modelId="{86D0E464-28AB-436C-A12F-4915D61183A2}" srcId="{4AEE78A1-5830-4DF2-90A3-2048D48DACFA}" destId="{682230E1-E5C7-4492-A782-F95B279B60C3}" srcOrd="1" destOrd="0" parTransId="{1F44A65C-B77C-4B63-840C-1EF7E1CCF179}" sibTransId="{AE0CF56B-D74F-49AB-8521-51CD27B88385}"/>
    <dgm:cxn modelId="{535A6FFF-7CEF-4D0F-9CB4-CAC192E3069B}" type="presOf" srcId="{4AEE78A1-5830-4DF2-90A3-2048D48DACFA}" destId="{7AEDB164-8EAE-4BBB-B444-38BB3E71AFB7}" srcOrd="0" destOrd="0" presId="urn:microsoft.com/office/officeart/2018/2/layout/IconVerticalSolidList"/>
    <dgm:cxn modelId="{B4872F1E-5B9B-4177-B01C-2D4DBB37BA53}" type="presParOf" srcId="{7AEDB164-8EAE-4BBB-B444-38BB3E71AFB7}" destId="{A9A885C2-5B1A-49C4-AC35-46574052C05B}" srcOrd="0" destOrd="0" presId="urn:microsoft.com/office/officeart/2018/2/layout/IconVerticalSolidList"/>
    <dgm:cxn modelId="{319355BF-CDC1-4255-B521-1362ADDB0C82}" type="presParOf" srcId="{A9A885C2-5B1A-49C4-AC35-46574052C05B}" destId="{68E33FFC-AC6D-4431-AF1C-52B2DD7B53B2}" srcOrd="0" destOrd="0" presId="urn:microsoft.com/office/officeart/2018/2/layout/IconVerticalSolidList"/>
    <dgm:cxn modelId="{FF17BD29-8191-4010-AB81-8514BA53DCE9}" type="presParOf" srcId="{A9A885C2-5B1A-49C4-AC35-46574052C05B}" destId="{7BA041A5-F920-418B-B8A3-C03C62AD463C}" srcOrd="1" destOrd="0" presId="urn:microsoft.com/office/officeart/2018/2/layout/IconVerticalSolidList"/>
    <dgm:cxn modelId="{BF097C77-7219-4805-9ADB-A00294D8BB11}" type="presParOf" srcId="{A9A885C2-5B1A-49C4-AC35-46574052C05B}" destId="{0057398A-FB19-4918-895D-F8A9E2E63E52}" srcOrd="2" destOrd="0" presId="urn:microsoft.com/office/officeart/2018/2/layout/IconVerticalSolidList"/>
    <dgm:cxn modelId="{04C2929D-F21D-4CA9-ABE5-B434D293CB21}" type="presParOf" srcId="{A9A885C2-5B1A-49C4-AC35-46574052C05B}" destId="{CD12D17B-62BF-4231-A57B-2BAE009BB4EF}" srcOrd="3" destOrd="0" presId="urn:microsoft.com/office/officeart/2018/2/layout/IconVerticalSolidList"/>
    <dgm:cxn modelId="{21BDCF8B-4094-43B6-BD13-BA554D6321A3}" type="presParOf" srcId="{7AEDB164-8EAE-4BBB-B444-38BB3E71AFB7}" destId="{D6AEC4B6-F0A2-492C-96CD-E00458A91518}" srcOrd="1" destOrd="0" presId="urn:microsoft.com/office/officeart/2018/2/layout/IconVerticalSolidList"/>
    <dgm:cxn modelId="{58E4BC95-4C92-43AD-A23D-9BC2F876C077}" type="presParOf" srcId="{7AEDB164-8EAE-4BBB-B444-38BB3E71AFB7}" destId="{83DF9F99-96B6-489C-A749-ED3D5F4FEF33}" srcOrd="2" destOrd="0" presId="urn:microsoft.com/office/officeart/2018/2/layout/IconVerticalSolidList"/>
    <dgm:cxn modelId="{11A3C85C-DBD2-4CA5-9367-AF4B65F687EF}" type="presParOf" srcId="{83DF9F99-96B6-489C-A749-ED3D5F4FEF33}" destId="{CAB6941D-DAC5-4B6B-A9C4-8141546A61FA}" srcOrd="0" destOrd="0" presId="urn:microsoft.com/office/officeart/2018/2/layout/IconVerticalSolidList"/>
    <dgm:cxn modelId="{5308679C-0724-423B-8749-FB7B0D6831EF}" type="presParOf" srcId="{83DF9F99-96B6-489C-A749-ED3D5F4FEF33}" destId="{C5F46D1A-5420-4B76-AF3C-5E7872C8C6D6}" srcOrd="1" destOrd="0" presId="urn:microsoft.com/office/officeart/2018/2/layout/IconVerticalSolidList"/>
    <dgm:cxn modelId="{9264185D-1D3B-406E-ABB9-FB327ADF3240}" type="presParOf" srcId="{83DF9F99-96B6-489C-A749-ED3D5F4FEF33}" destId="{4A6B035E-CBCF-436D-BA40-5C5E0994CCF4}" srcOrd="2" destOrd="0" presId="urn:microsoft.com/office/officeart/2018/2/layout/IconVerticalSolidList"/>
    <dgm:cxn modelId="{75BBBB0C-9706-40E6-85AC-190352F01C2B}" type="presParOf" srcId="{83DF9F99-96B6-489C-A749-ED3D5F4FEF33}" destId="{C471AA2D-0AF4-4D5E-8EAF-03E5CBEAD6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E33FFC-AC6D-4431-AF1C-52B2DD7B53B2}">
      <dsp:nvSpPr>
        <dsp:cNvPr id="0" name=""/>
        <dsp:cNvSpPr/>
      </dsp:nvSpPr>
      <dsp:spPr>
        <a:xfrm>
          <a:off x="0" y="658526"/>
          <a:ext cx="9761538" cy="1215741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A041A5-F920-418B-B8A3-C03C62AD463C}">
      <dsp:nvSpPr>
        <dsp:cNvPr id="0" name=""/>
        <dsp:cNvSpPr/>
      </dsp:nvSpPr>
      <dsp:spPr>
        <a:xfrm>
          <a:off x="367761" y="932068"/>
          <a:ext cx="668658" cy="66865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2D17B-62BF-4231-A57B-2BAE009BB4EF}">
      <dsp:nvSpPr>
        <dsp:cNvPr id="0" name=""/>
        <dsp:cNvSpPr/>
      </dsp:nvSpPr>
      <dsp:spPr>
        <a:xfrm>
          <a:off x="1404181" y="658526"/>
          <a:ext cx="8357356" cy="1215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66" tIns="128666" rIns="128666" bIns="12866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Se empieza la prueba con los módulos atómicos (es decir, módulos de los niveles más bajos de la estructura del programa). </a:t>
          </a:r>
          <a:endParaRPr lang="en-US" sz="2200" kern="1200"/>
        </a:p>
      </dsp:txBody>
      <dsp:txXfrm>
        <a:off x="1404181" y="658526"/>
        <a:ext cx="8357356" cy="1215741"/>
      </dsp:txXfrm>
    </dsp:sp>
    <dsp:sp modelId="{CAB6941D-DAC5-4B6B-A9C4-8141546A61FA}">
      <dsp:nvSpPr>
        <dsp:cNvPr id="0" name=""/>
        <dsp:cNvSpPr/>
      </dsp:nvSpPr>
      <dsp:spPr>
        <a:xfrm>
          <a:off x="0" y="2178204"/>
          <a:ext cx="9761538" cy="1215741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F46D1A-5420-4B76-AF3C-5E7872C8C6D6}">
      <dsp:nvSpPr>
        <dsp:cNvPr id="0" name=""/>
        <dsp:cNvSpPr/>
      </dsp:nvSpPr>
      <dsp:spPr>
        <a:xfrm>
          <a:off x="367761" y="2451746"/>
          <a:ext cx="668658" cy="66865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71AA2D-0AF4-4D5E-8EAF-03E5CBEAD61F}">
      <dsp:nvSpPr>
        <dsp:cNvPr id="0" name=""/>
        <dsp:cNvSpPr/>
      </dsp:nvSpPr>
      <dsp:spPr>
        <a:xfrm>
          <a:off x="1404181" y="2178204"/>
          <a:ext cx="8357356" cy="1215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66" tIns="128666" rIns="128666" bIns="12866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Dado que los módulos se integran de abajo hacia arriba, el proceso requerido de los módulos subordinados siempre está disponible y se elimina la necesidad de resguardos pero no  así, los conductores.</a:t>
          </a:r>
          <a:endParaRPr lang="en-US" sz="2200" kern="1200"/>
        </a:p>
      </dsp:txBody>
      <dsp:txXfrm>
        <a:off x="1404181" y="2178204"/>
        <a:ext cx="8357356" cy="12157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77643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A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:notes"/>
          <p:cNvSpPr/>
          <p:nvPr/>
        </p:nvSpPr>
        <p:spPr>
          <a:xfrm>
            <a:off x="3884760" y="8685360"/>
            <a:ext cx="2971080" cy="4564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A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9000AD9B-2B23-014B-839D-28DB8AC53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DC316249-C7BB-3778-1CD0-8A4341AA2B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B15CADA8-060B-0F56-DDCF-03B9980EAE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447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9F1482F6-6616-A1B8-F586-BA417E8F2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5F29D53A-C675-F016-E977-1C3CD7D885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78A21BC7-0409-6BCC-A22E-91C72AA53A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7609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2E910C60-F745-37BF-BD6C-7819B9DC7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7FD992BE-DE9E-4BAC-E913-65F14BF214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02C8206E-8423-7D4B-3E09-A1D14AAF8C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3514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2E0D2898-476D-ED30-062B-04E79849A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0362C176-97AC-AF2B-3735-FC3926B65E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A12941C5-1B2E-61E4-BB4C-41E88742F0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99841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F672D30E-D477-0C29-6224-363AA80F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3E19B3AF-5DE5-89BE-70CB-7EA8F4EFBF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CD3DEE1F-8926-D61E-7660-BE2503743A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556581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C014B42B-FABA-881B-ECD5-7B049DEF9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EF9407C5-4C30-F963-9D93-BE7F7A45EE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F6AF888A-B454-6291-BD43-FF672D71A5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95116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16E8193E-E33E-3AC7-F16D-4BA8FCC28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E7503320-2A53-DA01-C874-DBF4598FE6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C49D3643-BC60-074B-21D8-78D4DC0E62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0789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25DFE885-4A8A-2ECD-49FE-8C386973F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1535B6B0-CA28-11DF-F068-46B65677DA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7F874C4F-FF25-C564-4A26-A18990B60A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3863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1EACFAC4-6048-2DAC-50EA-1155722BB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D93A271D-1CB7-47CE-07BA-FB0DF8EC14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B5BF8FE7-B78B-2405-FC9D-3CF498227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33177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B46A5EB1-95BF-1A00-F846-7AC3B4562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76562498-DD54-5D43-2B01-0FCC41896E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347D6E64-8596-005C-77B9-5D22109BFA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0436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61B56FC0-A7F3-B185-585E-9D182775C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6892B7E9-D0D2-8ABA-3FC5-58596673C6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B81DD3D1-77E7-321A-4283-D62A76EEF7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0355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E1A74654-53D3-DDA5-A836-0B70CAB22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F69DE19B-3A00-4FFC-7BCF-43EE28537A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30EBD824-179B-DF9A-DD67-57C39A3554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57843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08AE80B2-C0FD-479F-887D-5E546C73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34427BC5-E200-F6F3-CE1B-DDAB0DCF0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A176D158-4C72-A648-6122-C880F7E83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412729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215888DC-DF8F-BE40-1105-5B4DD8631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9574BCEB-42F1-66FA-D229-9AA0E59EBE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F75020F1-B956-1BE3-906D-AFF0B7C727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09632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E9945E21-5319-204F-2191-26BE5347B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88BD409C-FD89-9D87-3664-0919FC91FF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E558F2C7-C775-03E2-FFB2-3BE990823E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751699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542F7E8B-7110-ECAF-1112-B930198A0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AD92165B-7746-B3A9-EBAE-5AA338C9D9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3536310D-336E-F99B-C61C-EF4316503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549577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B84F39C9-6995-E772-46F8-4101CE63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A400D010-7E8B-0217-357F-2500927833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CD24292F-9FA0-BC2D-AF4E-F9EF9F0525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3803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5CBB3173-AB2D-2083-504E-65EB0A2C9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AE034D44-986B-5D7C-2F85-378BA45DF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E7292148-8131-797E-83BD-2BE32C7E23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74431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E2832091-671B-3116-E9A8-E70496A48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9FCD394C-0B70-665F-6181-FF61FCFBD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5232AEF5-8AB7-D408-B3E2-29BE6CA6F7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005377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364E8868-C7AF-3C96-E3D8-2CEDB6391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E01754E9-CB79-5B93-6D20-B477BAF2CD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4F159BA7-C01A-AD93-31CB-75D4022186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12969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23371EB9-F4D5-46F1-A0FD-93D4B6291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89BC4B8D-9806-010A-E0A7-2512B415B2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D32F99A0-74A3-588E-A671-3EC87DA77E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483065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AB8F989D-207A-6123-D69B-41ECC27AF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FA51FF58-131D-04AC-5B11-D432C6FF59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D21ACD11-9704-FC9B-1C2F-B67AB65EEB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255363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5A9F0E89-F0D8-0212-7A87-B6C8B0F21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806C2790-E714-AE55-BCA0-E257BF8DF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9DE33BAF-38A3-7FBA-D7DD-1D44B01987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487663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F9EFC8CA-DFDA-E7CA-AFEC-7BC08AA1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5FD2EE28-C179-7C0D-35CF-A89A799D13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ADD1780C-00D5-0E35-2A24-FB7F422784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206132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9F4A1E79-5DBB-9A3F-358B-BC0DE5DE3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9DE52D05-5112-7728-9E89-A304E59A1D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C674747B-E227-7BE5-AFD7-35C6825AAB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127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830E6476-7B04-90D7-F66E-8E00B379B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9AEABF84-FD97-71ED-B393-5F947A4CB8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A2275ED7-98E1-19E5-B1C1-A36260C16F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5007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CD46D934-0A29-A9C5-5A6F-578E4E57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92B650F1-D5CC-9358-DC2E-84B0F08938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01642232-FC3E-B02A-D56A-812F9CCE1A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14200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210CC617-DF85-704D-53EA-D077DA5A6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81F74FD6-86D8-FB17-E1C1-D375898BAC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93594E30-38D1-582A-9BE2-551CB38460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84977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8C4CE4B3-AE83-341E-B9E5-37B2F9EFC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3FBCA8DB-4735-9BD0-B043-E3D1EFFEF8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7C271A02-3035-3A70-0383-DD6C46583D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933839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BE317BCA-EA37-F92B-FE29-6A02E30A1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10D56EB8-FCDE-4EB2-0E77-6AD8147033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DAB68207-578E-7E93-472B-E80CFC6EF9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214528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54C71F52-BE74-2C21-2938-1A8AC75F2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825B3571-C9BA-17E5-ECF1-50FE3C33F4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4C78426C-6D64-E92A-C2BD-CDA67D90CD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402672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C51C33B0-0367-4136-9DCD-5A7C05CCD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001C1372-094C-D262-C616-F4B700FFF0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64B50DB0-ED15-34C2-5E0B-1D6E1F12E0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611828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FCD23326-677C-99E6-0F26-0F7A16C58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B72B3DF3-42F9-8DC6-DB84-300E05042F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EF92C2AD-9180-A2B8-9BC4-802077D50F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138061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87F921F8-951A-C2E6-4C0D-7E76B7DCE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47DDE744-F72E-D255-DA17-E1732B5689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DA134259-5F6B-B28D-9115-6C61DA4B65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2:notes">
            <a:extLst>
              <a:ext uri="{FF2B5EF4-FFF2-40B4-BE49-F238E27FC236}">
                <a16:creationId xmlns:a16="http://schemas.microsoft.com/office/drawing/2014/main" id="{CAC0A2E3-39F1-1702-B3C1-669F4602B7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53876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8D571515-A703-7FB9-4931-6F614E8C0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D7AE35CC-6433-971F-8F1F-754722B2BF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90BFD3BF-BE1B-E719-9498-1AAB86DE37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461488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E41FDD89-5C48-3453-E101-917EEB221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6DCAE536-749A-B99E-BD08-C4C3DA1349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90D823DC-4A90-76C2-0429-7C5670D4D7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80711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26F71128-3E69-0868-1DD7-665E52B43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4B937B80-32BB-7374-A521-714F6F69A6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385C2912-0DBE-7FDF-ABB9-D288A079F3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20375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 con 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5F519826-3A40-CFF4-16C3-B2F0A1B502F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B7CA13E-A36D-A57D-2E39-97D1F5F5748A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87A7BC9B-B86F-29ED-F890-CB118ABA96E5}"/>
              </a:ext>
            </a:extLst>
          </p:cNvPr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>
            <a:lvl1pPr algn="l">
              <a:lnSpc>
                <a:spcPct val="85000"/>
              </a:lnSpc>
              <a:defRPr sz="72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15A5BFA-3CDD-0F3F-3566-4B7319CFB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2B796F5-1842-E7C9-00C5-E394AD55D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9628E9-86F5-6F97-51C5-523A52AED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68158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C8211-0332-36F9-5A06-7CA55E885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3134E-99D5-EC1E-832F-DA80D0D37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55810-DE8C-50A6-55A4-92B5B5DFF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8218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9D940839-1E1D-7DEF-06E6-B7964A0D787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B533BF-0C3A-003E-C7B9-8DF684C8B184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97D598AC-47B2-F2B5-B2CB-6B3E4675EBAC}"/>
              </a:ext>
            </a:extLst>
          </p:cNvPr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91F7FA1-EDFD-2FB4-6441-F29E029D3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FA2482-EEC6-387D-B7B4-AF693910C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558C742-AEAD-A417-E7C0-B8048ED2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4846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B391641-FE95-D6F1-4217-924F904D2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F9E9C-45FA-C566-7D2C-93CACE606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1ABDA-3EF9-F7EC-FC78-5FF414588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8722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9349F8B-A869-83FF-68FE-34C4C3938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E545CF7-48FD-BE7B-87AD-5F96A5E63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74D2203-CF0B-4B1D-7032-E13908C8B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851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26B19C2-CF9B-C55E-68D7-6CB5C61E3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2E9CBDB-EDFF-A21F-13B6-460214D9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7A9D8B1-D4CC-5804-7E60-598094D15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4827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3E54A7F-0D1A-A603-7651-A752DA1C389D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CB0519A-1CF7-E18B-1BD4-53D96AEE3DF4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Google Shape;67;p52">
            <a:extLst>
              <a:ext uri="{FF2B5EF4-FFF2-40B4-BE49-F238E27FC236}">
                <a16:creationId xmlns:a16="http://schemas.microsoft.com/office/drawing/2014/main" id="{13FDACAF-1D5C-E28F-3527-00C991C43D4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25" y="177800"/>
            <a:ext cx="12065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8B43686E-655B-1D35-9FBE-4F37B4554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8B428D69-0B7B-F884-A8F0-3B2DBFAFC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D5185DB7-22FA-752E-17BA-9A1A3717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967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82ED54E-08A8-1A06-A2FF-0A9358E3E355}"/>
              </a:ext>
            </a:extLst>
          </p:cNvPr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C2880BD-06E9-FDAD-1CB0-5B69C3096F68}"/>
              </a:ext>
            </a:extLst>
          </p:cNvPr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5B70EA0D-4927-D6F6-8783-A5B37ED3F7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047DDAA0-1EE8-FC83-0143-E40C9AE5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459538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A0043D39-5371-26CC-ACD1-16A2EB6F6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9395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6717272-B011-A76A-BBCB-46CF98880CA1}"/>
              </a:ext>
            </a:extLst>
          </p:cNvPr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728334F-AC89-086D-AF3F-24E9C61EC510}"/>
              </a:ext>
            </a:extLst>
          </p:cNvPr>
          <p:cNvSpPr/>
          <p:nvPr/>
        </p:nvSpPr>
        <p:spPr>
          <a:xfrm>
            <a:off x="0" y="4914900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AEADCFFB-25A3-6BF3-65CE-18D1CF02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05041195-5AA0-A9EA-D167-5024DA3E8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D59EF1AB-25C2-2C21-4CC2-423AAA14C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1781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5BB42-0891-C7E3-D2A0-5E3F92FDC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DC5C0-DA38-98EC-A66B-B66A024D4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F0CFF-DB26-ACA7-A7B9-866DAF2E1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40585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C98A7A1D-8CB6-87BF-6FDD-2391CEAAA81A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4238ACE-5D53-3BEC-FA7E-43DDD5E3D2D3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545402F-CFF5-79F2-3929-E035A4D87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8640618-7D57-5A91-B0E3-9D509D28C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B65E9AD-75A6-0CD8-6AD7-8E2844A2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75216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1_En blanc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B7EF408-50B9-FBDC-F3DC-DA8E82A70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5B21D1-24DC-5525-5C7E-520208A5E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F021EAF-86A4-DEAF-6140-0329057E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8791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>
  <p:cSld name="1_Imagen con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392EBED-A0F7-E54F-77E4-BE4C31F7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412D999-1ABF-3941-20C0-1B49DA40A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0725B27-A12A-0C8D-1F3D-FCAAD432E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7177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 con fuente ">
  <p:cSld name="Normal con fuente 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E22D2B48-B97A-5105-C383-C8ECE77A5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7370DD66-200C-912A-E7BA-AB3BC73AE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4ADD622-05B4-059A-C5C2-3331AD7D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8663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D874F2-EA70-E2F8-07EE-E89B85186FED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EE5EE9-356C-EC12-DB91-7E54F7168A7D}"/>
              </a:ext>
            </a:extLst>
          </p:cNvPr>
          <p:cNvSpPr/>
          <p:nvPr/>
        </p:nvSpPr>
        <p:spPr>
          <a:xfrm>
            <a:off x="0" y="63341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6022D3-58D2-AE65-EBF8-9E2937F8C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1029" name="Text Placeholder 2">
            <a:extLst>
              <a:ext uri="{FF2B5EF4-FFF2-40B4-BE49-F238E27FC236}">
                <a16:creationId xmlns:a16="http://schemas.microsoft.com/office/drawing/2014/main" id="{A41BF8D0-C4A4-6ACF-2DFD-869F513056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los estilos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  <a:endParaRPr lang="en-US" alt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70C75-84EE-7EEE-A78F-D07CBBC4D3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0C1BF-EA7D-D0FC-E846-64C85DCFE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5BC0D-FDAC-F3B8-AC80-E70D69D12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solidFill>
                  <a:srgbClr val="FFFFFF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E026BF-C668-7BFD-2CFE-C9A01DE86D94}"/>
              </a:ext>
            </a:extLst>
          </p:cNvPr>
          <p:cNvCxnSpPr/>
          <p:nvPr/>
        </p:nvCxnSpPr>
        <p:spPr>
          <a:xfrm>
            <a:off x="1193800" y="1738313"/>
            <a:ext cx="996632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Google Shape;67;p52">
            <a:extLst>
              <a:ext uri="{FF2B5EF4-FFF2-40B4-BE49-F238E27FC236}">
                <a16:creationId xmlns:a16="http://schemas.microsoft.com/office/drawing/2014/main" id="{09363A0D-0A1A-21BD-94B9-66E593339F8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25" y="177800"/>
            <a:ext cx="12065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424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 kern="1200" spc="-50">
          <a:solidFill>
            <a:schemeClr val="tx1"/>
          </a:solidFill>
          <a:latin typeface="+mn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90488" indent="-90488" algn="l" rtl="0" eaLnBrk="1" fontAlgn="base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betatesting.com/beta-testers" TargetMode="External"/><Relationship Id="rId3" Type="http://schemas.openxmlformats.org/officeDocument/2006/relationships/hyperlink" Target="https://beta.apple.com/es-419" TargetMode="External"/><Relationship Id="rId7" Type="http://schemas.openxmlformats.org/officeDocument/2006/relationships/hyperlink" Target="https://www.utest.com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usertesting.com/" TargetMode="External"/><Relationship Id="rId5" Type="http://schemas.openxmlformats.org/officeDocument/2006/relationships/hyperlink" Target="https://www.google.com/android/beta?hl=es" TargetMode="External"/><Relationship Id="rId4" Type="http://schemas.openxmlformats.org/officeDocument/2006/relationships/hyperlink" Target="https://support.google.com/websearch/answer/6307673?hl=es-419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gestiopolis.com/sistema-gestion-pruebas-soluciones-erp-enfocadas-paquetes-odoo-cuba/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</a:pPr>
            <a:r>
              <a:rPr lang="es-AR" dirty="0"/>
              <a:t>Ingeniería de Software II</a:t>
            </a:r>
            <a:endParaRPr b="1" dirty="0">
              <a:solidFill>
                <a:srgbClr val="4A6617"/>
              </a:solidFill>
            </a:endParaRPr>
          </a:p>
        </p:txBody>
      </p:sp>
      <p:sp>
        <p:nvSpPr>
          <p:cNvPr id="65" name="Google Shape;65;p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SzPts val="2300"/>
            </a:pPr>
            <a:r>
              <a:rPr lang="es-AR" dirty="0"/>
              <a:t>2026 – CLASE 9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C52CB20-B78C-1990-D42A-63E20E8E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5" name="Google Shape;139;p2">
            <a:extLst>
              <a:ext uri="{FF2B5EF4-FFF2-40B4-BE49-F238E27FC236}">
                <a16:creationId xmlns:a16="http://schemas.microsoft.com/office/drawing/2014/main" id="{96B343B4-C220-21D8-663E-A95EB26AE944}"/>
              </a:ext>
            </a:extLst>
          </p:cNvPr>
          <p:cNvSpPr txBox="1">
            <a:spLocks/>
          </p:cNvSpPr>
          <p:nvPr/>
        </p:nvSpPr>
        <p:spPr>
          <a:xfrm>
            <a:off x="9805850" y="6459540"/>
            <a:ext cx="1278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>
            <a:defPPr>
              <a:defRPr lang="en-US"/>
            </a:defPPr>
            <a:lvl1pPr algn="r" defTabSz="457200" rtl="0" eaLnBrk="1" fontAlgn="auto" hangingPunct="1">
              <a:spcBef>
                <a:spcPts val="0"/>
              </a:spcBef>
              <a:spcAft>
                <a:spcPts val="0"/>
              </a:spcAft>
              <a:defRPr sz="105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>
              <a:buSzPts val="1000"/>
            </a:pPr>
            <a:fld id="{00000000-1234-1234-1234-123412341234}" type="slidenum">
              <a:rPr lang="es-AR" smtClean="0"/>
              <a:pPr>
                <a:buSzPts val="1000"/>
              </a:pPr>
              <a:t>1</a:t>
            </a:fld>
            <a:endParaRPr lang="es-AR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137;p2">
            <a:extLst>
              <a:ext uri="{FF2B5EF4-FFF2-40B4-BE49-F238E27FC236}">
                <a16:creationId xmlns:a16="http://schemas.microsoft.com/office/drawing/2014/main" id="{E76F2B96-E0E5-4767-88C2-D55D769E397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222279" y="6459540"/>
            <a:ext cx="241132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/>
          <a:p>
            <a:r>
              <a:rPr lang="es-ES"/>
              <a:t>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/>
          <p:cNvSpPr/>
          <p:nvPr/>
        </p:nvSpPr>
        <p:spPr>
          <a:xfrm>
            <a:off x="5955542" y="6509477"/>
            <a:ext cx="2107590" cy="30485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89296" tIns="44636" rIns="89296" bIns="44636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sz="13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1222279" y="1859038"/>
            <a:ext cx="9902083" cy="447818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5325" tIns="57650" rIns="115325" bIns="57650" anchor="t" anchorCtr="0">
            <a:noAutofit/>
          </a:bodyPr>
          <a:lstStyle/>
          <a:p>
            <a:pPr marL="558360" indent="-558360"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Noto Sans Symbols"/>
              <a:buChar char="❖"/>
            </a:pPr>
            <a:r>
              <a:rPr lang="es-ES" sz="3516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Estrategias de Prueba</a:t>
            </a:r>
          </a:p>
          <a:p>
            <a:pPr marL="558360" indent="-558360"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Noto Sans Symbols"/>
              <a:buChar char="❖"/>
            </a:pPr>
            <a:r>
              <a:rPr lang="es-ES" sz="3516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Depuración de programas</a:t>
            </a:r>
          </a:p>
          <a:p>
            <a:pPr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rgbClr val="000000"/>
              </a:buClr>
              <a:buSzPts val="3600"/>
            </a:pPr>
            <a:endParaRPr sz="351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 txBox="1">
            <a:spLocks noGrp="1"/>
          </p:cNvSpPr>
          <p:nvPr>
            <p:ph type="title"/>
          </p:nvPr>
        </p:nvSpPr>
        <p:spPr>
          <a:xfrm>
            <a:off x="1222279" y="287339"/>
            <a:ext cx="9806257" cy="14493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b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AR"/>
              <a:t>Contenidos</a:t>
            </a:r>
            <a:endParaRPr/>
          </a:p>
        </p:txBody>
      </p:sp>
      <p:sp>
        <p:nvSpPr>
          <p:cNvPr id="137" name="Google Shape;137;p2"/>
          <p:cNvSpPr txBox="1">
            <a:spLocks noGrp="1"/>
          </p:cNvSpPr>
          <p:nvPr>
            <p:ph type="dt" idx="10"/>
          </p:nvPr>
        </p:nvSpPr>
        <p:spPr>
          <a:xfrm>
            <a:off x="1222279" y="6459540"/>
            <a:ext cx="241132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/>
          <a:p>
            <a:r>
              <a:rPr lang="es-ES"/>
              <a:t>2026</a:t>
            </a:r>
            <a:endParaRPr/>
          </a:p>
        </p:txBody>
      </p:sp>
      <p:sp>
        <p:nvSpPr>
          <p:cNvPr id="138" name="Google Shape;138;p2"/>
          <p:cNvSpPr txBox="1">
            <a:spLocks noGrp="1"/>
          </p:cNvSpPr>
          <p:nvPr>
            <p:ph type="ftr" idx="11"/>
          </p:nvPr>
        </p:nvSpPr>
        <p:spPr>
          <a:xfrm>
            <a:off x="3746586" y="6459540"/>
            <a:ext cx="4701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/>
          <a:p>
            <a:r>
              <a:rPr lang="es-AR"/>
              <a:t>Ingeniería de Software II</a:t>
            </a:r>
            <a:endParaRPr/>
          </a:p>
        </p:txBody>
      </p:sp>
      <p:sp>
        <p:nvSpPr>
          <p:cNvPr id="139" name="Google Shape;139;p2"/>
          <p:cNvSpPr txBox="1">
            <a:spLocks noGrp="1"/>
          </p:cNvSpPr>
          <p:nvPr>
            <p:ph type="sldNum" idx="12"/>
          </p:nvPr>
        </p:nvSpPr>
        <p:spPr>
          <a:xfrm>
            <a:off x="9805850" y="6459540"/>
            <a:ext cx="1278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/>
          <a:p>
            <a:pPr>
              <a:buSzPts val="1000"/>
            </a:pPr>
            <a:fld id="{00000000-1234-1234-1234-123412341234}" type="slidenum">
              <a:rPr lang="es-AR"/>
              <a:pPr>
                <a:buSzPts val="1000"/>
              </a:pPr>
              <a:t>2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>
            <a:spLocks noGrp="1"/>
          </p:cNvSpPr>
          <p:nvPr>
            <p:ph type="title"/>
          </p:nvPr>
        </p:nvSpPr>
        <p:spPr>
          <a:xfrm>
            <a:off x="457200" y="1312606"/>
            <a:ext cx="3200400" cy="1567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noProof="0" dirty="0"/>
              <a:t>Enfoque estratégico de pruebas</a:t>
            </a:r>
          </a:p>
        </p:txBody>
      </p:sp>
      <p:sp>
        <p:nvSpPr>
          <p:cNvPr id="66" name="Google Shape;66;p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42913" lvl="0" indent="-442913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800" noProof="0" dirty="0">
                <a:solidFill>
                  <a:schemeClr val="tx1"/>
                </a:solidFill>
              </a:rPr>
              <a:t>Una estrategia de pruebas del software proporciona una guía que describe los pasos a seguir, cuándo se planean y llevan a cabo, cuánto esfuerzo, tiempo y recurso se requerirán.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B22B7A-ADDD-A921-3961-E7EC7DCAA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7" name="Google Shape;67;p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II</a:t>
            </a:r>
            <a:endParaRPr/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3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DD60904-A681-7189-2DBC-B0CB7FFC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noProof="0"/>
              <a:t>2026</a:t>
            </a:r>
            <a:endParaRPr lang="es-AR" noProof="0"/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8C50DD76-17D6-52EF-95A8-DA8AF89F43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0" t="17720" r="4192" b="9780"/>
          <a:stretch>
            <a:fillRect/>
          </a:stretch>
        </p:blipFill>
        <p:spPr>
          <a:xfrm>
            <a:off x="4689988" y="2822585"/>
            <a:ext cx="7243414" cy="36133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Enfoque estratégico de pruebas</a:t>
            </a:r>
            <a:endParaRPr dirty="0"/>
          </a:p>
        </p:txBody>
      </p:sp>
      <p:sp>
        <p:nvSpPr>
          <p:cNvPr id="160" name="Google Shape;160;p4"/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/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/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4</a:t>
            </a:fld>
            <a:endParaRPr/>
          </a:p>
        </p:txBody>
      </p:sp>
      <p:sp>
        <p:nvSpPr>
          <p:cNvPr id="163" name="Google Shape;163;p4"/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La prueba es un </a:t>
            </a:r>
            <a:r>
              <a:rPr lang="es-ES" sz="3000" u="sng" dirty="0">
                <a:solidFill>
                  <a:schemeClr val="dk1"/>
                </a:solidFill>
              </a:rPr>
              <a:t>conjunto de actividades</a:t>
            </a:r>
            <a:r>
              <a:rPr lang="es-ES" sz="3000" dirty="0">
                <a:solidFill>
                  <a:schemeClr val="dk1"/>
                </a:solidFill>
              </a:rPr>
              <a:t> que se planean con anticipación y se realizan de manera sistemática.</a:t>
            </a: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Conjunto de pasos en el que se incluyen técnicas y métodos específicos de diseño de casos de prueba.</a:t>
            </a: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Una estrategia de pruebas debe incluir pruebas de </a:t>
            </a:r>
            <a:r>
              <a:rPr lang="es-ES" sz="3000" u="sng" dirty="0">
                <a:solidFill>
                  <a:schemeClr val="dk1"/>
                </a:solidFill>
              </a:rPr>
              <a:t>bajo nivel y de alto nivel</a:t>
            </a:r>
            <a:r>
              <a:rPr lang="es-ES" sz="3000" dirty="0">
                <a:solidFill>
                  <a:schemeClr val="dk1"/>
                </a:solidFill>
              </a:rPr>
              <a:t>.</a:t>
            </a: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Las actividades de las estrategias de pruebas son parte de la </a:t>
            </a:r>
            <a:r>
              <a:rPr lang="es-ES" sz="3000" u="sng" dirty="0">
                <a:solidFill>
                  <a:schemeClr val="dk1"/>
                </a:solidFill>
              </a:rPr>
              <a:t>Verificación y Validación</a:t>
            </a:r>
            <a:r>
              <a:rPr lang="es-ES" sz="3000" dirty="0">
                <a:solidFill>
                  <a:schemeClr val="dk1"/>
                </a:solidFill>
              </a:rPr>
              <a:t>, incluidas en el aseguramiento de la calidad del software.</a:t>
            </a:r>
          </a:p>
          <a:p>
            <a:pPr marL="530225" lvl="0" indent="-530225" algn="just" rtl="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endParaRPr sz="3000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982F13A0-88CD-B068-1833-B6045A3C0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43992F8A-56BB-75F8-A12E-4FFE6AF153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Concepto de Verificación y Validación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70DDEFD0-B514-FF23-978B-99BE55E6421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3B4B5F76-153A-CACA-CBB1-CA8F22F1757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73CFE1C8-5CA5-F021-6D5E-684D65CD36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5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9856CCA7-E399-3802-5947-3567A11411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</a:rPr>
              <a:t>La </a:t>
            </a:r>
            <a:r>
              <a:rPr lang="es-ES" sz="2800" b="1" dirty="0">
                <a:solidFill>
                  <a:schemeClr val="dk1"/>
                </a:solidFill>
              </a:rPr>
              <a:t>Verificación</a:t>
            </a:r>
            <a:r>
              <a:rPr lang="es-ES" sz="2800" dirty="0">
                <a:solidFill>
                  <a:schemeClr val="dk1"/>
                </a:solidFill>
              </a:rPr>
              <a:t> es el conjunto de actividades que asegura que el software </a:t>
            </a:r>
            <a:r>
              <a:rPr lang="es-ES" sz="2800" u="sng" dirty="0">
                <a:solidFill>
                  <a:schemeClr val="dk1"/>
                </a:solidFill>
              </a:rPr>
              <a:t>implemente correctamente</a:t>
            </a:r>
            <a:r>
              <a:rPr lang="es-ES" sz="2800" dirty="0">
                <a:solidFill>
                  <a:schemeClr val="dk1"/>
                </a:solidFill>
              </a:rPr>
              <a:t> una función específica y la </a:t>
            </a:r>
            <a:r>
              <a:rPr lang="es-ES" sz="2800" b="1" dirty="0">
                <a:solidFill>
                  <a:schemeClr val="dk1"/>
                </a:solidFill>
              </a:rPr>
              <a:t>Validación</a:t>
            </a:r>
            <a:r>
              <a:rPr lang="es-ES" sz="2800" dirty="0">
                <a:solidFill>
                  <a:schemeClr val="dk1"/>
                </a:solidFill>
              </a:rPr>
              <a:t> es un conjunto diferente de actividades que aseguran que el software construido </a:t>
            </a:r>
            <a:r>
              <a:rPr lang="es-ES" sz="2800" u="sng" dirty="0">
                <a:solidFill>
                  <a:schemeClr val="dk1"/>
                </a:solidFill>
              </a:rPr>
              <a:t>corresponde con los requisitos del cliente</a:t>
            </a:r>
            <a:r>
              <a:rPr lang="es-ES" sz="2800" dirty="0">
                <a:solidFill>
                  <a:schemeClr val="dk1"/>
                </a:solidFill>
              </a:rPr>
              <a:t>.</a:t>
            </a: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400" b="1" dirty="0">
                <a:solidFill>
                  <a:schemeClr val="dk1"/>
                </a:solidFill>
              </a:rPr>
              <a:t>Verificación</a:t>
            </a:r>
            <a:r>
              <a:rPr lang="es-ES" sz="2400" dirty="0">
                <a:solidFill>
                  <a:schemeClr val="dk1"/>
                </a:solidFill>
              </a:rPr>
              <a:t>: </a:t>
            </a:r>
            <a:r>
              <a:rPr lang="es-ES" sz="2400" i="1" dirty="0">
                <a:solidFill>
                  <a:schemeClr val="dk1"/>
                </a:solidFill>
              </a:rPr>
              <a:t>¿Estamos  construyendo el producto correctamente?</a:t>
            </a:r>
          </a:p>
          <a:p>
            <a:pPr marL="722313" lvl="0" indent="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None/>
            </a:pPr>
            <a:r>
              <a:rPr lang="es-ES" sz="2400" dirty="0">
                <a:solidFill>
                  <a:schemeClr val="dk1"/>
                </a:solidFill>
              </a:rPr>
              <a:t>Comprobar que el software está de acuerdo con su especificación, donde se debe comprobar que satisface tanto los requerimientos funcionales como los no funcionales.</a:t>
            </a: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400" b="1" dirty="0">
                <a:solidFill>
                  <a:schemeClr val="dk1"/>
                </a:solidFill>
              </a:rPr>
              <a:t>Validación</a:t>
            </a:r>
            <a:r>
              <a:rPr lang="es-ES" sz="2400" dirty="0">
                <a:solidFill>
                  <a:schemeClr val="dk1"/>
                </a:solidFill>
              </a:rPr>
              <a:t>: </a:t>
            </a:r>
            <a:r>
              <a:rPr lang="es-ES" sz="2400" i="1" dirty="0">
                <a:solidFill>
                  <a:schemeClr val="dk1"/>
                </a:solidFill>
              </a:rPr>
              <a:t>¿Estamos construyendo el producto correcto?</a:t>
            </a:r>
          </a:p>
          <a:p>
            <a:pPr marL="722313" lvl="0" indent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lang="es-ES" sz="2400" dirty="0">
                <a:solidFill>
                  <a:schemeClr val="dk1"/>
                </a:solidFill>
              </a:rPr>
              <a:t>Es un proceso más general, cuyo objetivo es asegurar que el software satisface las expectativas del cliente.</a:t>
            </a:r>
          </a:p>
          <a:p>
            <a:pPr marL="530225" lvl="0" indent="-530225" algn="just" rtl="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endParaRPr sz="2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14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7F2722A7-D5D0-1302-03D5-D5370A54F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0506A7DC-840F-2790-1D97-8955E51136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Estrategias de prueba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41C64762-7071-7CD4-54C6-19AE0FB0596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3D3A4026-5EA8-52A3-7099-735F314745E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040F63DC-840C-F44B-A645-85C3F1AF5E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6</a:t>
            </a:fld>
            <a:endParaRPr/>
          </a:p>
        </p:txBody>
      </p:sp>
      <p:pic>
        <p:nvPicPr>
          <p:cNvPr id="2" name="Google Shape;106;p5">
            <a:extLst>
              <a:ext uri="{FF2B5EF4-FFF2-40B4-BE49-F238E27FC236}">
                <a16:creationId xmlns:a16="http://schemas.microsoft.com/office/drawing/2014/main" id="{91BF05A8-9C53-7510-BF77-2C1A601340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95662" y="1919593"/>
            <a:ext cx="5113338" cy="4295775"/>
          </a:xfrm>
          <a:prstGeom prst="rect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>
            <a:outerShdw blurRad="292100" dist="139700" dir="2700000" algn="tl" rotWithShape="0">
              <a:srgbClr val="333333">
                <a:alpha val="63137"/>
              </a:srgbClr>
            </a:outerShdw>
          </a:effectLst>
        </p:spPr>
      </p:pic>
      <p:sp>
        <p:nvSpPr>
          <p:cNvPr id="3" name="Google Shape;107;p5">
            <a:extLst>
              <a:ext uri="{FF2B5EF4-FFF2-40B4-BE49-F238E27FC236}">
                <a16:creationId xmlns:a16="http://schemas.microsoft.com/office/drawing/2014/main" id="{6DC245BA-4339-A803-8C55-FED0F62AE978}"/>
              </a:ext>
            </a:extLst>
          </p:cNvPr>
          <p:cNvSpPr/>
          <p:nvPr/>
        </p:nvSpPr>
        <p:spPr>
          <a:xfrm>
            <a:off x="8872027" y="3140073"/>
            <a:ext cx="2592387" cy="649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119819" y="44558"/>
                </a:lnTo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prueba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de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unidad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,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donde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comienza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la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espiral</a:t>
            </a:r>
            <a:endParaRPr sz="14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4" name="Google Shape;108;p5">
            <a:extLst>
              <a:ext uri="{FF2B5EF4-FFF2-40B4-BE49-F238E27FC236}">
                <a16:creationId xmlns:a16="http://schemas.microsoft.com/office/drawing/2014/main" id="{7A9100E9-0FAE-AB8D-3E53-5EB9D36EA080}"/>
              </a:ext>
            </a:extLst>
          </p:cNvPr>
          <p:cNvSpPr/>
          <p:nvPr/>
        </p:nvSpPr>
        <p:spPr>
          <a:xfrm>
            <a:off x="657735" y="3455387"/>
            <a:ext cx="3774780" cy="649288"/>
          </a:xfrm>
          <a:prstGeom prst="borderCallout2">
            <a:avLst>
              <a:gd name="adj1" fmla="val 30685"/>
              <a:gd name="adj2" fmla="val 100059"/>
              <a:gd name="adj3" fmla="val -7507"/>
              <a:gd name="adj4" fmla="val 106095"/>
              <a:gd name="adj5" fmla="val -52201"/>
              <a:gd name="adj6" fmla="val 130291"/>
            </a:avLst>
          </a:prstGeom>
          <a:solidFill>
            <a:schemeClr val="accent2">
              <a:lumMod val="40000"/>
              <a:lumOff val="60000"/>
            </a:schemeClr>
          </a:solidFill>
          <a:ln w="22225" cap="rnd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1" u="none" strike="noStrike" cap="none" dirty="0" err="1">
                <a:latin typeface="+mn-lt"/>
                <a:ea typeface="Calibri"/>
                <a:cs typeface="Calibri"/>
                <a:sym typeface="Calibri"/>
              </a:rPr>
              <a:t>prueba</a:t>
            </a:r>
            <a:r>
              <a:rPr lang="en-US" sz="1400" b="0" i="1" u="none" strike="noStrike" cap="none" dirty="0">
                <a:latin typeface="+mn-lt"/>
                <a:ea typeface="Calibri"/>
                <a:cs typeface="Calibri"/>
                <a:sym typeface="Calibri"/>
              </a:rPr>
              <a:t> de </a:t>
            </a:r>
            <a:r>
              <a:rPr lang="en-US" sz="1400" b="0" i="1" u="none" strike="noStrike" cap="none" dirty="0" err="1">
                <a:latin typeface="+mn-lt"/>
                <a:ea typeface="Calibri"/>
                <a:cs typeface="Calibri"/>
                <a:sym typeface="Calibri"/>
              </a:rPr>
              <a:t>integración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donde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el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foco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de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atención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es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el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diseño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y la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arquitectura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del software</a:t>
            </a:r>
            <a:endParaRPr sz="14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" name="Google Shape;109;p5">
            <a:extLst>
              <a:ext uri="{FF2B5EF4-FFF2-40B4-BE49-F238E27FC236}">
                <a16:creationId xmlns:a16="http://schemas.microsoft.com/office/drawing/2014/main" id="{D6A75362-9774-771E-8769-59B30068F8DD}"/>
              </a:ext>
            </a:extLst>
          </p:cNvPr>
          <p:cNvSpPr/>
          <p:nvPr/>
        </p:nvSpPr>
        <p:spPr>
          <a:xfrm>
            <a:off x="7717914" y="2058987"/>
            <a:ext cx="3529013" cy="649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2588" y="17317"/>
                </a:moveTo>
                <a:lnTo>
                  <a:pt x="-12634" y="17317"/>
                </a:lnTo>
                <a:lnTo>
                  <a:pt x="-35305" y="119278"/>
                </a:lnTo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22225" cap="rnd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1" u="none" strike="noStrike" cap="none" dirty="0" err="1">
                <a:latin typeface="+mn-lt"/>
                <a:ea typeface="Calibri"/>
                <a:cs typeface="Calibri"/>
                <a:sym typeface="Calibri"/>
              </a:rPr>
              <a:t>prueba</a:t>
            </a:r>
            <a:r>
              <a:rPr lang="en-US" sz="1400" b="0" i="1" u="none" strike="noStrike" cap="none" dirty="0">
                <a:latin typeface="+mn-lt"/>
                <a:ea typeface="Calibri"/>
                <a:cs typeface="Calibri"/>
                <a:sym typeface="Calibri"/>
              </a:rPr>
              <a:t> de </a:t>
            </a:r>
            <a:r>
              <a:rPr lang="en-US" sz="1400" b="0" i="1" u="none" strike="noStrike" cap="none" dirty="0" err="1">
                <a:latin typeface="+mn-lt"/>
                <a:ea typeface="Calibri"/>
                <a:cs typeface="Calibri"/>
                <a:sym typeface="Calibri"/>
              </a:rPr>
              <a:t>validación</a:t>
            </a:r>
            <a:r>
              <a:rPr lang="en-US" sz="1400" b="0" i="1" u="none" strike="noStrike" cap="none" dirty="0">
                <a:latin typeface="+mn-lt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donde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se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validan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los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requisitos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establecidos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6" name="Google Shape;110;p5">
            <a:extLst>
              <a:ext uri="{FF2B5EF4-FFF2-40B4-BE49-F238E27FC236}">
                <a16:creationId xmlns:a16="http://schemas.microsoft.com/office/drawing/2014/main" id="{7035CB2D-B793-B14F-D19B-215D7FFA2809}"/>
              </a:ext>
            </a:extLst>
          </p:cNvPr>
          <p:cNvSpPr/>
          <p:nvPr/>
        </p:nvSpPr>
        <p:spPr>
          <a:xfrm>
            <a:off x="1197487" y="1818139"/>
            <a:ext cx="3276600" cy="649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120004" y="47585"/>
                </a:moveTo>
                <a:lnTo>
                  <a:pt x="131171" y="47585"/>
                </a:lnTo>
                <a:lnTo>
                  <a:pt x="151804" y="70178"/>
                </a:lnTo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1" u="none" strike="noStrike" cap="none" dirty="0" err="1">
                <a:latin typeface="+mn-lt"/>
                <a:ea typeface="Calibri"/>
                <a:cs typeface="Calibri"/>
                <a:sym typeface="Calibri"/>
              </a:rPr>
              <a:t>prueba</a:t>
            </a:r>
            <a:r>
              <a:rPr lang="en-US" sz="1400" b="0" i="1" u="none" strike="noStrike" cap="none" dirty="0">
                <a:latin typeface="+mn-lt"/>
                <a:ea typeface="Calibri"/>
                <a:cs typeface="Calibri"/>
                <a:sym typeface="Calibri"/>
              </a:rPr>
              <a:t> del </a:t>
            </a:r>
            <a:r>
              <a:rPr lang="en-US" sz="1400" b="0" i="1" u="none" strike="noStrike" cap="none" dirty="0" err="1">
                <a:latin typeface="+mn-lt"/>
                <a:ea typeface="Calibri"/>
                <a:cs typeface="Calibri"/>
                <a:sym typeface="Calibri"/>
              </a:rPr>
              <a:t>sistema</a:t>
            </a:r>
            <a:r>
              <a:rPr lang="en-US" sz="1400" b="0" i="1" u="none" strike="noStrike" cap="none" dirty="0">
                <a:latin typeface="+mn-lt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en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la que se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prueba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el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software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como</a:t>
            </a:r>
            <a:r>
              <a:rPr lang="en-U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 un </a:t>
            </a:r>
            <a:r>
              <a:rPr lang="en-US" sz="1400" b="0" i="0" u="none" strike="noStrike" cap="none" dirty="0" err="1">
                <a:latin typeface="+mn-lt"/>
                <a:ea typeface="Calibri"/>
                <a:cs typeface="Calibri"/>
                <a:sym typeface="Calibri"/>
              </a:rPr>
              <a:t>todo</a:t>
            </a:r>
            <a:endParaRPr sz="14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7" name="Google Shape;111;p5">
            <a:extLst>
              <a:ext uri="{FF2B5EF4-FFF2-40B4-BE49-F238E27FC236}">
                <a16:creationId xmlns:a16="http://schemas.microsoft.com/office/drawing/2014/main" id="{860E993A-670B-5B4E-794A-CDDB57EC3DAE}"/>
              </a:ext>
            </a:extLst>
          </p:cNvPr>
          <p:cNvSpPr/>
          <p:nvPr/>
        </p:nvSpPr>
        <p:spPr>
          <a:xfrm>
            <a:off x="8136732" y="5183497"/>
            <a:ext cx="2592387" cy="38990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2588" y="19073"/>
                </a:moveTo>
                <a:lnTo>
                  <a:pt x="-16411" y="19073"/>
                </a:lnTo>
                <a:lnTo>
                  <a:pt x="-46373" y="2117"/>
                </a:lnTo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22225" cap="rnd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1" u="none" strike="noStrike" cap="none" dirty="0" err="1">
                <a:latin typeface="+mn-lt"/>
                <a:ea typeface="Calibri"/>
                <a:cs typeface="Calibri"/>
                <a:sym typeface="Calibri"/>
              </a:rPr>
              <a:t>Etapas</a:t>
            </a:r>
            <a:r>
              <a:rPr lang="en-US" sz="1400" b="0" i="1" u="none" strike="noStrike" cap="none" dirty="0">
                <a:latin typeface="+mn-lt"/>
                <a:ea typeface="Calibri"/>
                <a:cs typeface="Calibri"/>
                <a:sym typeface="Calibri"/>
              </a:rPr>
              <a:t> del </a:t>
            </a:r>
            <a:r>
              <a:rPr lang="en-US" sz="1400" b="0" i="1" u="none" strike="noStrike" cap="none" dirty="0" err="1">
                <a:latin typeface="+mn-lt"/>
                <a:ea typeface="Calibri"/>
                <a:cs typeface="Calibri"/>
                <a:sym typeface="Calibri"/>
              </a:rPr>
              <a:t>proceso</a:t>
            </a:r>
            <a:r>
              <a:rPr lang="en-US" sz="1400" b="0" i="1" u="none" strike="noStrike" cap="none" dirty="0">
                <a:latin typeface="+mn-lt"/>
                <a:ea typeface="Calibri"/>
                <a:cs typeface="Calibri"/>
                <a:sym typeface="Calibri"/>
              </a:rPr>
              <a:t> de </a:t>
            </a:r>
            <a:r>
              <a:rPr lang="en-US" sz="1400" b="0" i="1" u="none" strike="noStrike" cap="none" dirty="0" err="1">
                <a:latin typeface="+mn-lt"/>
                <a:ea typeface="Calibri"/>
                <a:cs typeface="Calibri"/>
                <a:sym typeface="Calibri"/>
              </a:rPr>
              <a:t>desarrollo</a:t>
            </a:r>
            <a:r>
              <a:rPr lang="en-US" sz="1400" b="0" i="1" u="none" strike="noStrike" cap="none" dirty="0">
                <a:latin typeface="+mn-lt"/>
                <a:ea typeface="Calibri"/>
                <a:cs typeface="Calibri"/>
                <a:sym typeface="Calibri"/>
              </a:rPr>
              <a:t> </a:t>
            </a:r>
            <a:endParaRPr sz="1400" b="0" i="1" u="none" strike="noStrike" cap="none" dirty="0">
              <a:latin typeface="+mn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4826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EABA2B52-5664-9818-41F6-0E4D92615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1F6AF142-F634-1052-6845-18FC43F112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Tipos de prueba de software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9E8F073E-A270-5828-E855-A33D8AA6BEE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5BAB17DD-023E-41B8-1CAF-40C008DAD02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B072E783-9A75-60BD-C65F-1BCEAA9F45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7</a:t>
            </a:fld>
            <a:endParaRPr/>
          </a:p>
        </p:txBody>
      </p:sp>
      <p:pic>
        <p:nvPicPr>
          <p:cNvPr id="8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0A46DB9D-391A-8F3D-E979-F9892202D4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005" b="7796"/>
          <a:stretch>
            <a:fillRect/>
          </a:stretch>
        </p:blipFill>
        <p:spPr>
          <a:xfrm>
            <a:off x="1312118" y="1956487"/>
            <a:ext cx="9628089" cy="428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383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5D5DBDE5-4A9C-79BA-FBCD-F93ED72D0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C3A61913-5C9E-C02B-0C0F-1C1635E260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Pruebas de Unidad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43069D14-20CA-F9D4-7D99-4A38A44586A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99539520-C1CF-911F-905B-5675099DE8B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29FBDE51-E6D5-7075-EE18-472099CDFD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8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DEA89D64-56EA-ED59-3EC0-C0AB8076EB24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Se prueba la interfaz del módulo para asegurar que la información fluye de forma adecuada.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Se examinan las estructuras de datos locales.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Se prueban las condiciones límite para asegurar que el módulo funciona correctamente.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Se ejercitan todos los caminos independientes.</a:t>
            </a:r>
          </a:p>
        </p:txBody>
      </p:sp>
      <p:pic>
        <p:nvPicPr>
          <p:cNvPr id="3" name="Google Shape;127;p7">
            <a:extLst>
              <a:ext uri="{FF2B5EF4-FFF2-40B4-BE49-F238E27FC236}">
                <a16:creationId xmlns:a16="http://schemas.microsoft.com/office/drawing/2014/main" id="{6CBF2818-002F-D213-2912-CD7D5123AC0B}"/>
              </a:ext>
            </a:extLst>
          </p:cNvPr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9372837" y="3886935"/>
            <a:ext cx="2607328" cy="243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907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FB852A16-8D16-3C77-AC9E-9018C6DCB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92C3B79A-FEB5-5F24-C1B3-AF13B4DB05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Pruebas de Unidad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927C7CAB-3CBF-3A5C-55D0-35F0343AB0D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B7B219B1-DED3-785C-5D5A-2D546D3271C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07BADF6C-B47E-C552-B6AE-F5B68D5FBE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9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7482DF85-241C-2D63-5F6B-7F2F0BE74DD3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Los errores más comunes detectados por las pruebas de unidad son:</a:t>
            </a:r>
          </a:p>
          <a:p>
            <a:pPr marL="811213" indent="-280988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800" dirty="0">
                <a:solidFill>
                  <a:schemeClr val="dk1"/>
                </a:solidFill>
              </a:rPr>
              <a:t>Cálculos incorrectos</a:t>
            </a:r>
          </a:p>
          <a:p>
            <a:pPr marL="987425" indent="-265113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</a:rPr>
              <a:t>Aplicación incorrecta de predecesores aritméticos</a:t>
            </a:r>
          </a:p>
          <a:p>
            <a:pPr marL="987425" indent="-265113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</a:rPr>
              <a:t>Operaciones mezcladas</a:t>
            </a:r>
          </a:p>
          <a:p>
            <a:pPr marL="987425" indent="-265113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</a:rPr>
              <a:t>Inicialización incorrecta</a:t>
            </a:r>
          </a:p>
          <a:p>
            <a:pPr marL="987425" indent="-265113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</a:rPr>
              <a:t>Falta de precisión</a:t>
            </a:r>
          </a:p>
          <a:p>
            <a:pPr marL="987425" indent="-265113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</a:rPr>
              <a:t>Representación simbólica incorrecta</a:t>
            </a:r>
          </a:p>
          <a:p>
            <a:pPr marL="811213" indent="-280988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800" dirty="0">
                <a:solidFill>
                  <a:schemeClr val="dk1"/>
                </a:solidFill>
              </a:rPr>
              <a:t>Comparaciones erróneas</a:t>
            </a:r>
          </a:p>
          <a:p>
            <a:pPr marL="811213" indent="-280988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800" dirty="0">
                <a:solidFill>
                  <a:schemeClr val="dk1"/>
                </a:solidFill>
              </a:rPr>
              <a:t>Flujos de control inapropiados </a:t>
            </a:r>
            <a:endParaRPr lang="es-ES" sz="2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288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28093526-2F33-92E8-058E-CFEA29060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444AF321-0F50-15A9-DC1C-C677901DFE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Pruebas de Unidad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6DC7D6CB-FD19-7AD3-33B2-D25741D9699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F4FE2D7A-16C7-37B0-8AC9-31C2EE979BB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CC7D003A-CA32-251D-108D-57D77ECC21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10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DC1BCD28-E48E-525E-E75E-F70D4EB04D2C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Los Casos de prueba deben descubrir errores como:</a:t>
            </a:r>
          </a:p>
          <a:p>
            <a:pPr marL="811213" indent="-280988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Comparaciones entre diferentes tipos de datos</a:t>
            </a:r>
          </a:p>
          <a:p>
            <a:pPr marL="811213" indent="-280988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Operadores lógicos aplicados incorrectamente</a:t>
            </a:r>
          </a:p>
          <a:p>
            <a:pPr marL="811213" indent="-280988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Expectativas de igualdad con grado de precisión </a:t>
            </a:r>
          </a:p>
          <a:p>
            <a:pPr marL="811213" indent="-280988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Comparación incorrecta de variables </a:t>
            </a:r>
          </a:p>
          <a:p>
            <a:pPr marL="811213" indent="-280988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Terminación inapropiada o inexistente de bucles</a:t>
            </a:r>
          </a:p>
          <a:p>
            <a:pPr marL="811213" indent="-280988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Falla en la salida cuando se encuentre una iteración divergente</a:t>
            </a:r>
          </a:p>
          <a:p>
            <a:pPr marL="811213" indent="-280988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Variables de bucle modificadas inapropiadamente </a:t>
            </a:r>
          </a:p>
        </p:txBody>
      </p:sp>
    </p:spTree>
    <p:extLst>
      <p:ext uri="{BB962C8B-B14F-4D97-AF65-F5344CB8AC3E}">
        <p14:creationId xmlns:p14="http://schemas.microsoft.com/office/powerpoint/2010/main" val="658394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626883B9-CEEA-B078-527A-A3D058693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D502F0D9-E593-1D88-ED4E-2AEDBFA110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Pruebas de Unidad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ABEF042B-D1C6-879C-0FE6-8899B139CB7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418913C3-FBC7-9ECC-5AB4-643F40A4238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254BB405-6273-0711-A309-568EA3BD2B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11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41BC8E41-6122-433E-DA6E-7B116BF3D30A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Procedimiento:</a:t>
            </a:r>
          </a:p>
          <a:p>
            <a:pPr marL="811213" indent="-280988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Como un componente no es un programa independiente, se debe desarrollar para cada prueba de unidad un software que controle y/o resguarde.</a:t>
            </a:r>
          </a:p>
          <a:p>
            <a:pPr marL="811213" indent="-280988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Un controlador es un «programa principal» que acepta los datos del caso de prueba, pasa estos datos al módulo (a ser probado) y muestra los resultados.</a:t>
            </a:r>
          </a:p>
        </p:txBody>
      </p:sp>
      <p:pic>
        <p:nvPicPr>
          <p:cNvPr id="3" name="Google Shape;157;p10">
            <a:extLst>
              <a:ext uri="{FF2B5EF4-FFF2-40B4-BE49-F238E27FC236}">
                <a16:creationId xmlns:a16="http://schemas.microsoft.com/office/drawing/2014/main" id="{D07E0F70-2E2C-7DD8-F8D9-F8105B4F6E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8972" t="6726" r="14426" b="9790"/>
          <a:stretch/>
        </p:blipFill>
        <p:spPr>
          <a:xfrm>
            <a:off x="9070258" y="3790335"/>
            <a:ext cx="2804699" cy="2455199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3137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865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CAFA6931-DBF3-D1A8-6730-71377CD76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635B36D4-F49C-75D7-D138-A1C98D6177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Pruebas de Unidad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C60B968A-09F0-1558-C954-667817C207F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9DCF154C-80E2-6A19-EC5C-27EF91568DC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A04A1221-6F7A-D243-EC82-1E320E8A3A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12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29750E26-5780-87EB-4525-32586E5A6FEB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Procedimiento:</a:t>
            </a:r>
          </a:p>
          <a:p>
            <a:pPr marL="811213" indent="-280988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Un resguardo sirve para reemplazar a módulos subordinados al componente que hay que probar. </a:t>
            </a:r>
          </a:p>
          <a:p>
            <a:pPr marL="811213" indent="-280988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Los controladores y resguardos son una sobrecarga de trabajo. </a:t>
            </a:r>
          </a:p>
          <a:p>
            <a:pPr marL="811213" indent="-280988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Si los controladores y resguardos son sencillos, el trabajo adicional es relativamente pequeño. </a:t>
            </a:r>
          </a:p>
          <a:p>
            <a:pPr marL="811213" indent="-280988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La prueba de unidad se simplifica cuando se diseña un módulo con un alto grado de cohesión.</a:t>
            </a:r>
          </a:p>
        </p:txBody>
      </p:sp>
    </p:spTree>
    <p:extLst>
      <p:ext uri="{BB962C8B-B14F-4D97-AF65-F5344CB8AC3E}">
        <p14:creationId xmlns:p14="http://schemas.microsoft.com/office/powerpoint/2010/main" val="2003252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25941BAB-C8E3-4102-419D-9CEF53A46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8F8E5BAE-438B-A75B-BAFE-4F2163B7DE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Pruebas de Integración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013E86BF-25B9-96BA-F523-6A885003116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44C58870-8BB9-3136-5373-7BB8433A211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02FEA586-7D37-C8FA-E5FC-B4CCC59CBF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13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6F2FCD5E-CA31-2230-ED00-72F10DAAE730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Se toman los componentes que han pasado las pruebas de unidad y se los combina según el diseño establecido. 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En esta combinación es posible que:</a:t>
            </a:r>
          </a:p>
          <a:p>
            <a:pPr marL="722313" indent="-279400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Los datos se pueden perder en una interfaz.</a:t>
            </a:r>
          </a:p>
          <a:p>
            <a:pPr marL="722313" indent="-279400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Un módulo puede tener un efecto adverso e inadvertido sobre otro.</a:t>
            </a:r>
          </a:p>
          <a:p>
            <a:pPr marL="722313" indent="-279400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La combinación de subfunciones no produzca el resultado esperado.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endParaRPr lang="es-ES" sz="3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112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459E2BA4-4ADF-6D7C-7E21-7FAD5C15E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5C0E9955-A74B-8487-0DF7-9D3A239539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Pruebas de Integración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A900EDB5-B352-E903-394B-D855E8A2F63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E7C993CC-D10D-F7E0-51C3-0DD6CF83BFA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0387AAB9-777A-7313-25D6-8E0E39C8FF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14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34A2E9DF-815B-AD62-E3F3-C22FCAEB85F3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El programa se construye y se prueba en pequeños segmentos en los que los errores son más fáciles de aislar y de corregir.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La integración puede ser: </a:t>
            </a:r>
          </a:p>
          <a:p>
            <a:pPr marL="722313" indent="-279400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Descendente</a:t>
            </a:r>
          </a:p>
          <a:p>
            <a:pPr marL="722313" indent="-279400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Ascendente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endParaRPr lang="es-ES" sz="3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349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57D737EE-C202-036C-E630-8E654371D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F509DC7D-8EEE-4848-BDF8-B6743FB722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Pruebas de Integración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172EC960-9D19-3FB9-1EA3-FF78FA8A465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B0B7910A-5199-693E-5DB7-2CCE8339582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F0C27988-A2FC-6C80-DC4F-4A8F6CE889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15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4A48BA70-BD20-1102-C96C-BA41D528BFB0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Integración descendente</a:t>
            </a:r>
          </a:p>
          <a:p>
            <a:pPr marL="722313" indent="-279400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Los módulos se integran al descender por la jerarquía de control, iniciando por el programa principal.</a:t>
            </a:r>
          </a:p>
          <a:p>
            <a:pPr marL="722313" indent="-279400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Se puede realizar:</a:t>
            </a:r>
          </a:p>
          <a:p>
            <a:pPr marL="987425" indent="-265113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</a:pPr>
            <a:r>
              <a:rPr lang="es-ES" sz="2600" u="sng" dirty="0">
                <a:solidFill>
                  <a:schemeClr val="dk1"/>
                </a:solidFill>
              </a:rPr>
              <a:t>En profundidad</a:t>
            </a:r>
            <a:r>
              <a:rPr lang="es-ES" sz="2600" dirty="0">
                <a:solidFill>
                  <a:schemeClr val="dk1"/>
                </a:solidFill>
              </a:rPr>
              <a:t>: </a:t>
            </a:r>
            <a:r>
              <a:rPr lang="es-ES" sz="2600" i="1" dirty="0">
                <a:solidFill>
                  <a:schemeClr val="dk1"/>
                </a:solidFill>
              </a:rPr>
              <a:t>integra todos los módulos de un camino de control principal de la estructura.</a:t>
            </a:r>
          </a:p>
          <a:p>
            <a:pPr marL="987425" indent="-265113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</a:pPr>
            <a:r>
              <a:rPr lang="es-ES" sz="2600" u="sng" dirty="0">
                <a:solidFill>
                  <a:schemeClr val="dk1"/>
                </a:solidFill>
              </a:rPr>
              <a:t>En anchura</a:t>
            </a:r>
            <a:r>
              <a:rPr lang="es-ES" sz="2600" dirty="0">
                <a:solidFill>
                  <a:schemeClr val="dk1"/>
                </a:solidFill>
              </a:rPr>
              <a:t>: </a:t>
            </a:r>
            <a:r>
              <a:rPr lang="es-ES" sz="2600" i="1" dirty="0">
                <a:solidFill>
                  <a:schemeClr val="dk1"/>
                </a:solidFill>
              </a:rPr>
              <a:t>incorpora todos los módulos directamente subordinados a cada nivel.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endParaRPr lang="es-ES" sz="3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08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72B60B1B-E5C9-ED6B-E757-5E2456AF6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3A7CE6A4-0B6A-0262-B93E-267F73CBA0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Pruebas de Integración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371C5E0F-6AE5-9E69-A8EA-6F07F213930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84101724-4A11-0F0F-C00C-6497E1EB931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9E5D3688-5393-85EE-BD7F-CA65D198C2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16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E6B0B650-64CE-6851-34F0-972DF557BF25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Integración descendente en </a:t>
            </a:r>
            <a:r>
              <a:rPr lang="es-ES" sz="3000" u="sng" dirty="0">
                <a:solidFill>
                  <a:schemeClr val="dk1"/>
                </a:solidFill>
              </a:rPr>
              <a:t>profundidad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b="1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Pasos: </a:t>
            </a:r>
            <a:endParaRPr lang="es-ES" sz="2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lvl="0" indent="-3429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1. Conductor: Módulo principal </a:t>
            </a:r>
            <a:endParaRPr lang="es-E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lvl="0" indent="-3429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    Resguardos: Para los módulos subordinados</a:t>
            </a:r>
            <a:endParaRPr lang="es-E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lvl="0" indent="-3429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2. Sustituir resguardos por módulos 1 a 1</a:t>
            </a:r>
            <a:endParaRPr lang="es-E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lvl="0" indent="-3429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3. Probar</a:t>
            </a:r>
            <a:endParaRPr lang="es-E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lvl="0" indent="-3429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4. Reemplazar otro resguardo</a:t>
            </a:r>
            <a:endParaRPr lang="es-E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lvl="0" indent="-3429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5. Pruebas de regresión</a:t>
            </a:r>
            <a:endParaRPr lang="es-E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endParaRPr lang="es-ES" sz="3000" dirty="0">
              <a:solidFill>
                <a:schemeClr val="dk1"/>
              </a:solidFill>
            </a:endParaRPr>
          </a:p>
          <a:p>
            <a:pPr marL="0" indent="0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None/>
            </a:pPr>
            <a:endParaRPr lang="es-ES" sz="3000" dirty="0">
              <a:solidFill>
                <a:schemeClr val="dk1"/>
              </a:solidFill>
            </a:endParaRP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6C27CE9-4707-6155-EB6A-507F768D5886}"/>
              </a:ext>
            </a:extLst>
          </p:cNvPr>
          <p:cNvGrpSpPr/>
          <p:nvPr/>
        </p:nvGrpSpPr>
        <p:grpSpPr>
          <a:xfrm>
            <a:off x="7059864" y="2581890"/>
            <a:ext cx="4786313" cy="3228975"/>
            <a:chOff x="5664201" y="3141664"/>
            <a:chExt cx="4786313" cy="3228975"/>
          </a:xfrm>
        </p:grpSpPr>
        <p:grpSp>
          <p:nvGrpSpPr>
            <p:cNvPr id="25" name="Google Shape;208;p15">
              <a:extLst>
                <a:ext uri="{FF2B5EF4-FFF2-40B4-BE49-F238E27FC236}">
                  <a16:creationId xmlns:a16="http://schemas.microsoft.com/office/drawing/2014/main" id="{6CDCD361-7D2B-9509-0051-438DCF45584F}"/>
                </a:ext>
              </a:extLst>
            </p:cNvPr>
            <p:cNvGrpSpPr/>
            <p:nvPr/>
          </p:nvGrpSpPr>
          <p:grpSpPr>
            <a:xfrm>
              <a:off x="5664201" y="3141664"/>
              <a:ext cx="4786313" cy="3228975"/>
              <a:chOff x="4071934" y="2928940"/>
              <a:chExt cx="4786312" cy="3228970"/>
            </a:xfrm>
          </p:grpSpPr>
          <p:pic>
            <p:nvPicPr>
              <p:cNvPr id="28" name="Google Shape;209;p15" descr="a15">
                <a:extLst>
                  <a:ext uri="{FF2B5EF4-FFF2-40B4-BE49-F238E27FC236}">
                    <a16:creationId xmlns:a16="http://schemas.microsoft.com/office/drawing/2014/main" id="{223397F4-3366-60CE-E124-FEFA49A3F5C3}"/>
                  </a:ext>
                </a:extLst>
              </p:cNvPr>
              <p:cNvPicPr preferRelativeResize="0"/>
              <p:nvPr/>
            </p:nvPicPr>
            <p:blipFill rotWithShape="1">
              <a:blip r:embed="rId3"/>
              <a:srcRect t="10803" b="6845"/>
              <a:stretch/>
            </p:blipFill>
            <p:spPr>
              <a:xfrm>
                <a:off x="4071934" y="3143248"/>
                <a:ext cx="4786312" cy="3014662"/>
              </a:xfrm>
              <a:prstGeom prst="rect">
                <a:avLst/>
              </a:prstGeom>
            </p:spPr>
          </p:pic>
          <p:sp>
            <p:nvSpPr>
              <p:cNvPr id="29" name="Google Shape;210;p15">
                <a:extLst>
                  <a:ext uri="{FF2B5EF4-FFF2-40B4-BE49-F238E27FC236}">
                    <a16:creationId xmlns:a16="http://schemas.microsoft.com/office/drawing/2014/main" id="{49BB3A64-BAD1-458D-4D7A-69B03DBB26E0}"/>
                  </a:ext>
                </a:extLst>
              </p:cNvPr>
              <p:cNvSpPr/>
              <p:nvPr/>
            </p:nvSpPr>
            <p:spPr>
              <a:xfrm flipH="1">
                <a:off x="6286497" y="2928940"/>
                <a:ext cx="428625" cy="428624"/>
              </a:xfrm>
              <a:prstGeom prst="ellipse">
                <a:avLst/>
              </a:prstGeom>
              <a:noFill/>
              <a:ln w="28575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211;p15">
                <a:extLst>
                  <a:ext uri="{FF2B5EF4-FFF2-40B4-BE49-F238E27FC236}">
                    <a16:creationId xmlns:a16="http://schemas.microsoft.com/office/drawing/2014/main" id="{1B9FB7B9-6D34-0FD7-CE4E-7EE3F16A7BE2}"/>
                  </a:ext>
                </a:extLst>
              </p:cNvPr>
              <p:cNvSpPr txBox="1"/>
              <p:nvPr/>
            </p:nvSpPr>
            <p:spPr>
              <a:xfrm>
                <a:off x="6357934" y="3000377"/>
                <a:ext cx="284162" cy="307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 dirty="0">
                    <a:solidFill>
                      <a:schemeClr val="dk1"/>
                    </a:solidFill>
                    <a:latin typeface="Calibri" panose="020F0502020204030204" pitchFamily="34" charset="0"/>
                    <a:ea typeface="Gill Sans"/>
                    <a:cs typeface="Calibri" panose="020F0502020204030204" pitchFamily="34" charset="0"/>
                    <a:sym typeface="Gill Sans"/>
                  </a:rPr>
                  <a:t>1</a:t>
                </a:r>
                <a:endParaRPr sz="1800" b="0" i="0" u="none" strike="noStrike" cap="none" dirty="0">
                  <a:solidFill>
                    <a:schemeClr val="dk1"/>
                  </a:solidFill>
                  <a:latin typeface="Calibri" panose="020F0502020204030204" pitchFamily="34" charset="0"/>
                  <a:ea typeface="Gill Sans"/>
                  <a:cs typeface="Calibri" panose="020F0502020204030204" pitchFamily="34" charset="0"/>
                  <a:sym typeface="Gill Sans"/>
                </a:endParaRPr>
              </a:p>
            </p:txBody>
          </p:sp>
          <p:sp>
            <p:nvSpPr>
              <p:cNvPr id="31" name="Google Shape;212;p15">
                <a:extLst>
                  <a:ext uri="{FF2B5EF4-FFF2-40B4-BE49-F238E27FC236}">
                    <a16:creationId xmlns:a16="http://schemas.microsoft.com/office/drawing/2014/main" id="{81A9E0F7-9EC1-4D35-A476-4FC835BC1DBF}"/>
                  </a:ext>
                </a:extLst>
              </p:cNvPr>
              <p:cNvSpPr/>
              <p:nvPr/>
            </p:nvSpPr>
            <p:spPr>
              <a:xfrm flipH="1">
                <a:off x="4714872" y="3714751"/>
                <a:ext cx="428625" cy="428624"/>
              </a:xfrm>
              <a:prstGeom prst="ellipse">
                <a:avLst/>
              </a:prstGeom>
              <a:noFill/>
              <a:ln w="28575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213;p15">
                <a:extLst>
                  <a:ext uri="{FF2B5EF4-FFF2-40B4-BE49-F238E27FC236}">
                    <a16:creationId xmlns:a16="http://schemas.microsoft.com/office/drawing/2014/main" id="{11F71990-C7B5-6754-F19F-FE868EBA4514}"/>
                  </a:ext>
                </a:extLst>
              </p:cNvPr>
              <p:cNvSpPr txBox="1"/>
              <p:nvPr/>
            </p:nvSpPr>
            <p:spPr>
              <a:xfrm>
                <a:off x="4786309" y="3786189"/>
                <a:ext cx="284162" cy="307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dk1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2</a:t>
                </a:r>
                <a:endParaRPr sz="18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29" name="Google Shape;214;p15">
                <a:extLst>
                  <a:ext uri="{FF2B5EF4-FFF2-40B4-BE49-F238E27FC236}">
                    <a16:creationId xmlns:a16="http://schemas.microsoft.com/office/drawing/2014/main" id="{A3C35CA8-AF66-0B7C-FFD1-8A359A40EF91}"/>
                  </a:ext>
                </a:extLst>
              </p:cNvPr>
              <p:cNvSpPr/>
              <p:nvPr/>
            </p:nvSpPr>
            <p:spPr>
              <a:xfrm flipH="1">
                <a:off x="4143372" y="4500563"/>
                <a:ext cx="433387" cy="428624"/>
              </a:xfrm>
              <a:prstGeom prst="ellipse">
                <a:avLst/>
              </a:prstGeom>
              <a:noFill/>
              <a:ln w="28575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215;p15">
                <a:extLst>
                  <a:ext uri="{FF2B5EF4-FFF2-40B4-BE49-F238E27FC236}">
                    <a16:creationId xmlns:a16="http://schemas.microsoft.com/office/drawing/2014/main" id="{4984A883-0475-FDD6-8248-EED3784726DE}"/>
                  </a:ext>
                </a:extLst>
              </p:cNvPr>
              <p:cNvSpPr txBox="1"/>
              <p:nvPr/>
            </p:nvSpPr>
            <p:spPr>
              <a:xfrm>
                <a:off x="4214809" y="4571999"/>
                <a:ext cx="284162" cy="307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dk1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3</a:t>
                </a:r>
                <a:endParaRPr sz="18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  <p:sp>
          <p:nvSpPr>
            <p:cNvPr id="26" name="Google Shape;217;p15">
              <a:extLst>
                <a:ext uri="{FF2B5EF4-FFF2-40B4-BE49-F238E27FC236}">
                  <a16:creationId xmlns:a16="http://schemas.microsoft.com/office/drawing/2014/main" id="{D832E955-5A63-2298-9DFC-3357048F0DA8}"/>
                </a:ext>
              </a:extLst>
            </p:cNvPr>
            <p:cNvSpPr txBox="1"/>
            <p:nvPr/>
          </p:nvSpPr>
          <p:spPr>
            <a:xfrm>
              <a:off x="5880101" y="5805489"/>
              <a:ext cx="284163" cy="307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18;p15">
              <a:extLst>
                <a:ext uri="{FF2B5EF4-FFF2-40B4-BE49-F238E27FC236}">
                  <a16:creationId xmlns:a16="http://schemas.microsoft.com/office/drawing/2014/main" id="{E00A05D2-EBAA-2E19-FF8E-F4832A8ABD2F}"/>
                </a:ext>
              </a:extLst>
            </p:cNvPr>
            <p:cNvSpPr/>
            <p:nvPr/>
          </p:nvSpPr>
          <p:spPr>
            <a:xfrm flipH="1">
              <a:off x="5808663" y="5732464"/>
              <a:ext cx="431800" cy="428625"/>
            </a:xfrm>
            <a:prstGeom prst="ellipse">
              <a:avLst/>
            </a:pr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0873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79BDA1DE-ED2E-9965-764A-F7E689B50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5CEAE47F-6BC9-3A49-D7D9-1D7E74C588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Pruebas de Integración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271F4437-556B-02AF-8D31-4FCE12A54F4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98EDEA57-EC92-2148-3475-58FA3422A9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5D8D42D5-F0CC-10AD-EDDD-F65748AE25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17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4B8E2117-329B-D27A-0F8E-E6E184AE91F7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Integración descendente en </a:t>
            </a:r>
            <a:r>
              <a:rPr lang="es-ES" sz="3000" u="sng" dirty="0">
                <a:solidFill>
                  <a:schemeClr val="dk1"/>
                </a:solidFill>
              </a:rPr>
              <a:t>anchura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b="1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Pasos: </a:t>
            </a:r>
            <a:endParaRPr lang="es-ES" sz="2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lvl="0" indent="-3429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1. Conductor: Módulo principal </a:t>
            </a:r>
            <a:endParaRPr lang="es-E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lvl="0" indent="-3429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    Resguardos: Para los módulos subordinados</a:t>
            </a:r>
            <a:endParaRPr lang="es-E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lvl="0" indent="-3429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2. Sustituir resguardos por módulos 1 a 1</a:t>
            </a:r>
            <a:endParaRPr lang="es-E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lvl="0" indent="-3429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3. Probar</a:t>
            </a:r>
            <a:endParaRPr lang="es-E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lvl="0" indent="-3429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4. Reemplazar otro resguardo</a:t>
            </a:r>
            <a:endParaRPr lang="es-E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lvl="0" indent="-3429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5. Pruebas de regresión</a:t>
            </a:r>
            <a:endParaRPr lang="es-ES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endParaRPr lang="es-ES" sz="3000" dirty="0">
              <a:solidFill>
                <a:schemeClr val="dk1"/>
              </a:solidFill>
            </a:endParaRP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endParaRPr lang="es-ES" sz="3000" dirty="0">
              <a:solidFill>
                <a:schemeClr val="dk1"/>
              </a:solidFill>
            </a:endParaRPr>
          </a:p>
        </p:txBody>
      </p:sp>
      <p:grpSp>
        <p:nvGrpSpPr>
          <p:cNvPr id="11" name="Google Shape;229;p16">
            <a:extLst>
              <a:ext uri="{FF2B5EF4-FFF2-40B4-BE49-F238E27FC236}">
                <a16:creationId xmlns:a16="http://schemas.microsoft.com/office/drawing/2014/main" id="{856AC038-8FE1-1635-5166-181FDB6157EE}"/>
              </a:ext>
            </a:extLst>
          </p:cNvPr>
          <p:cNvGrpSpPr/>
          <p:nvPr/>
        </p:nvGrpSpPr>
        <p:grpSpPr>
          <a:xfrm>
            <a:off x="7051008" y="2796202"/>
            <a:ext cx="4786313" cy="3014663"/>
            <a:chOff x="4357688" y="3286125"/>
            <a:chExt cx="4786312" cy="3014663"/>
          </a:xfrm>
        </p:grpSpPr>
        <p:pic>
          <p:nvPicPr>
            <p:cNvPr id="12" name="Google Shape;230;p16" descr="a15">
              <a:extLst>
                <a:ext uri="{FF2B5EF4-FFF2-40B4-BE49-F238E27FC236}">
                  <a16:creationId xmlns:a16="http://schemas.microsoft.com/office/drawing/2014/main" id="{69C930D0-60F0-E3A6-7114-4F01E562E8D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t="10803" b="6845"/>
            <a:stretch/>
          </p:blipFill>
          <p:spPr>
            <a:xfrm>
              <a:off x="4357688" y="3286125"/>
              <a:ext cx="4786312" cy="30146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231;p16">
              <a:extLst>
                <a:ext uri="{FF2B5EF4-FFF2-40B4-BE49-F238E27FC236}">
                  <a16:creationId xmlns:a16="http://schemas.microsoft.com/office/drawing/2014/main" id="{05191F54-B71A-40E7-C287-93013686B62D}"/>
                </a:ext>
              </a:extLst>
            </p:cNvPr>
            <p:cNvSpPr/>
            <p:nvPr/>
          </p:nvSpPr>
          <p:spPr>
            <a:xfrm flipH="1">
              <a:off x="6286501" y="3357563"/>
              <a:ext cx="428625" cy="428625"/>
            </a:xfrm>
            <a:prstGeom prst="ellipse">
              <a:avLst/>
            </a:pr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32;p16">
              <a:extLst>
                <a:ext uri="{FF2B5EF4-FFF2-40B4-BE49-F238E27FC236}">
                  <a16:creationId xmlns:a16="http://schemas.microsoft.com/office/drawing/2014/main" id="{7683CDF2-BFC2-A784-3610-345590E2F3E3}"/>
                </a:ext>
              </a:extLst>
            </p:cNvPr>
            <p:cNvSpPr txBox="1"/>
            <p:nvPr/>
          </p:nvSpPr>
          <p:spPr>
            <a:xfrm>
              <a:off x="6357938" y="3429000"/>
              <a:ext cx="284163" cy="307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Calibri" panose="020F0502020204030204" pitchFamily="34" charset="0"/>
                  <a:ea typeface="Gill Sans"/>
                  <a:cs typeface="Calibri" panose="020F0502020204030204" pitchFamily="34" charset="0"/>
                  <a:sym typeface="Gill Sans"/>
                </a:rPr>
                <a:t>1</a:t>
              </a:r>
              <a:endParaRPr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endParaRPr>
            </a:p>
          </p:txBody>
        </p:sp>
        <p:sp>
          <p:nvSpPr>
            <p:cNvPr id="15" name="Google Shape;233;p16">
              <a:extLst>
                <a:ext uri="{FF2B5EF4-FFF2-40B4-BE49-F238E27FC236}">
                  <a16:creationId xmlns:a16="http://schemas.microsoft.com/office/drawing/2014/main" id="{F01D44CB-466A-6832-0421-81723D541F55}"/>
                </a:ext>
              </a:extLst>
            </p:cNvPr>
            <p:cNvSpPr/>
            <p:nvPr/>
          </p:nvSpPr>
          <p:spPr>
            <a:xfrm flipH="1">
              <a:off x="4714876" y="4143375"/>
              <a:ext cx="428625" cy="428625"/>
            </a:xfrm>
            <a:prstGeom prst="ellipse">
              <a:avLst/>
            </a:pr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34;p16">
              <a:extLst>
                <a:ext uri="{FF2B5EF4-FFF2-40B4-BE49-F238E27FC236}">
                  <a16:creationId xmlns:a16="http://schemas.microsoft.com/office/drawing/2014/main" id="{8E23991A-AA31-DA5C-91ED-1B9CB093A400}"/>
                </a:ext>
              </a:extLst>
            </p:cNvPr>
            <p:cNvSpPr txBox="1"/>
            <p:nvPr/>
          </p:nvSpPr>
          <p:spPr>
            <a:xfrm>
              <a:off x="4786313" y="4214813"/>
              <a:ext cx="284163" cy="307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2</a:t>
              </a:r>
              <a:endPara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" name="Google Shape;235;p16">
              <a:extLst>
                <a:ext uri="{FF2B5EF4-FFF2-40B4-BE49-F238E27FC236}">
                  <a16:creationId xmlns:a16="http://schemas.microsoft.com/office/drawing/2014/main" id="{258292BD-BC69-AC69-878A-239675FBE5EB}"/>
                </a:ext>
              </a:extLst>
            </p:cNvPr>
            <p:cNvSpPr/>
            <p:nvPr/>
          </p:nvSpPr>
          <p:spPr>
            <a:xfrm flipH="1">
              <a:off x="7858125" y="4143375"/>
              <a:ext cx="428625" cy="428625"/>
            </a:xfrm>
            <a:prstGeom prst="ellipse">
              <a:avLst/>
            </a:pr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36;p16">
              <a:extLst>
                <a:ext uri="{FF2B5EF4-FFF2-40B4-BE49-F238E27FC236}">
                  <a16:creationId xmlns:a16="http://schemas.microsoft.com/office/drawing/2014/main" id="{9CF97DBE-1F88-1B83-88D6-42E1263D3C16}"/>
                </a:ext>
              </a:extLst>
            </p:cNvPr>
            <p:cNvSpPr txBox="1"/>
            <p:nvPr/>
          </p:nvSpPr>
          <p:spPr>
            <a:xfrm>
              <a:off x="6357938" y="4143375"/>
              <a:ext cx="284163" cy="307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3</a:t>
              </a:r>
              <a:endPara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" name="Google Shape;237;p16">
              <a:extLst>
                <a:ext uri="{FF2B5EF4-FFF2-40B4-BE49-F238E27FC236}">
                  <a16:creationId xmlns:a16="http://schemas.microsoft.com/office/drawing/2014/main" id="{1952AFB9-3162-380D-620B-63D2F4EC59C0}"/>
                </a:ext>
              </a:extLst>
            </p:cNvPr>
            <p:cNvSpPr txBox="1"/>
            <p:nvPr/>
          </p:nvSpPr>
          <p:spPr>
            <a:xfrm>
              <a:off x="7929562" y="4214813"/>
              <a:ext cx="284163" cy="307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4</a:t>
              </a:r>
              <a:endPara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0" name="Google Shape;238;p16">
              <a:extLst>
                <a:ext uri="{FF2B5EF4-FFF2-40B4-BE49-F238E27FC236}">
                  <a16:creationId xmlns:a16="http://schemas.microsoft.com/office/drawing/2014/main" id="{501E27BF-E6AC-BA77-6F0E-02D998948366}"/>
                </a:ext>
              </a:extLst>
            </p:cNvPr>
            <p:cNvSpPr/>
            <p:nvPr/>
          </p:nvSpPr>
          <p:spPr>
            <a:xfrm flipH="1">
              <a:off x="6286501" y="4143375"/>
              <a:ext cx="428625" cy="428625"/>
            </a:xfrm>
            <a:prstGeom prst="ellipse">
              <a:avLst/>
            </a:pr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5397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C4C5A819-C4F8-A96A-2669-16629D79C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C7D516AD-4791-D729-23B7-81A246A31E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Pruebas de Integración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5F3EC147-B7DC-59C8-CA14-001EC397E3F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9B41B82B-60EC-23CD-64EF-E04BE7625FF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BBDACB86-24A5-9D3C-F6FC-C7B27D4FC7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18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CB8C7A65-CA74-BD24-B500-1F23E1B9ACA0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Integración ascendente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endParaRPr lang="es-ES" sz="3000" dirty="0">
              <a:solidFill>
                <a:schemeClr val="dk1"/>
              </a:solidFill>
            </a:endParaRPr>
          </a:p>
        </p:txBody>
      </p:sp>
      <p:graphicFrame>
        <p:nvGraphicFramePr>
          <p:cNvPr id="5" name="Google Shape;246;p17">
            <a:extLst>
              <a:ext uri="{FF2B5EF4-FFF2-40B4-BE49-F238E27FC236}">
                <a16:creationId xmlns:a16="http://schemas.microsoft.com/office/drawing/2014/main" id="{07BAD299-774A-CF02-D2A6-C62E511BED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6288411"/>
              </p:ext>
            </p:extLst>
          </p:nvPr>
        </p:nvGraphicFramePr>
        <p:xfrm>
          <a:off x="1240631" y="2075611"/>
          <a:ext cx="9761538" cy="40524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34189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915E1173-E3AE-B70F-010F-E9DC49568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52;p18" descr="a17">
            <a:extLst>
              <a:ext uri="{FF2B5EF4-FFF2-40B4-BE49-F238E27FC236}">
                <a16:creationId xmlns:a16="http://schemas.microsoft.com/office/drawing/2014/main" id="{721598ED-DE7E-8BC8-B4CA-AB48F73B23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1872" r="1474"/>
          <a:stretch/>
        </p:blipFill>
        <p:spPr>
          <a:xfrm>
            <a:off x="6683375" y="2301514"/>
            <a:ext cx="5508625" cy="368141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8BE23030-C486-DAD0-25B9-A433F2DE69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Pruebas de Integración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6029136B-DFE6-D5F8-15B6-4993EA1B54E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D4FD4BE2-F5FF-66B9-150B-DEDDF434673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887795A3-0972-6B18-3A7A-87167DA53C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19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3A5B2525-E169-91F8-1AE6-639B4B83C70E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Integración ascendente</a:t>
            </a:r>
            <a:endParaRPr lang="es-ES" sz="3000" u="sng" dirty="0">
              <a:solidFill>
                <a:schemeClr val="dk1"/>
              </a:solidFill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b="1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Pasos: </a:t>
            </a:r>
            <a:endParaRPr lang="es-ES" sz="2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lvl="0" indent="-3429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1. Combinar módulos de bajo nivel </a:t>
            </a:r>
          </a:p>
          <a:p>
            <a:pPr marL="342900" lvl="0" indent="-3429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2. Hacer conductor para coordinar entrada y salida </a:t>
            </a:r>
          </a:p>
          <a:p>
            <a:pPr marL="342900" lvl="0" indent="-3429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3. Probar el grupo </a:t>
            </a:r>
          </a:p>
          <a:p>
            <a:pPr marL="342900" lvl="0" indent="-3429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ES" sz="2400" dirty="0">
                <a:solidFill>
                  <a:schemeClr val="dk1"/>
                </a:solidFill>
                <a:latin typeface="Calibri" panose="020F0502020204030204" pitchFamily="34" charset="0"/>
                <a:ea typeface="Gill Sans"/>
                <a:cs typeface="Calibri" panose="020F0502020204030204" pitchFamily="34" charset="0"/>
                <a:sym typeface="Gill Sans"/>
              </a:rPr>
              <a:t>4. Eliminar conductores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endParaRPr lang="es-ES" sz="3000" dirty="0">
              <a:solidFill>
                <a:schemeClr val="dk1"/>
              </a:solidFill>
            </a:endParaRPr>
          </a:p>
          <a:p>
            <a:pPr marL="0" indent="0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None/>
            </a:pPr>
            <a:endParaRPr lang="es-ES" sz="3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383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2E07EF60-663E-D533-3B9E-E2FE7D514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677D2F32-1C41-4928-1D97-E41B8FAE60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Pruebas de Integración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E1062BCE-05EA-D83E-317C-FFE850A60F2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CFFCE0AE-507E-101F-DB1A-C43784FE510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41199E7-E256-4A3E-E759-2396CC3AAE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20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F3E088AA-5749-CB97-E182-0C81D77B1100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Hay discusión respecto a las ventajas y desventajas de los enfoques Ascendente con Descendente.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La principal </a:t>
            </a:r>
            <a:r>
              <a:rPr lang="es-ES" sz="3000" u="sng" dirty="0">
                <a:solidFill>
                  <a:schemeClr val="dk1"/>
                </a:solidFill>
              </a:rPr>
              <a:t>desventaja del enfoque Descendente</a:t>
            </a:r>
            <a:r>
              <a:rPr lang="es-ES" sz="3000" dirty="0">
                <a:solidFill>
                  <a:schemeClr val="dk1"/>
                </a:solidFill>
              </a:rPr>
              <a:t> es la necesidad de los resguardos.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La principal </a:t>
            </a:r>
            <a:r>
              <a:rPr lang="es-ES" sz="3000" u="sng" dirty="0">
                <a:solidFill>
                  <a:schemeClr val="dk1"/>
                </a:solidFill>
              </a:rPr>
              <a:t>desventaja de la opción Ascendente</a:t>
            </a:r>
            <a:r>
              <a:rPr lang="es-ES" sz="3000" dirty="0">
                <a:solidFill>
                  <a:schemeClr val="dk1"/>
                </a:solidFill>
              </a:rPr>
              <a:t> es que “el programa como entidad no existe hasta que se agrega el último módulo”.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La elección depende de las características del software, un enfoque combinado (</a:t>
            </a:r>
            <a:r>
              <a:rPr lang="es-ES" sz="3000" i="1" dirty="0">
                <a:solidFill>
                  <a:schemeClr val="dk1"/>
                </a:solidFill>
              </a:rPr>
              <a:t>prueba sándwich</a:t>
            </a:r>
            <a:r>
              <a:rPr lang="es-ES" sz="3000" dirty="0">
                <a:solidFill>
                  <a:schemeClr val="dk1"/>
                </a:solidFill>
              </a:rPr>
              <a:t>) puede ser la mejor opción.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endParaRPr lang="es-ES" sz="3000" dirty="0">
              <a:solidFill>
                <a:schemeClr val="dk1"/>
              </a:solidFill>
            </a:endParaRPr>
          </a:p>
          <a:p>
            <a:pPr marL="0" indent="0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None/>
            </a:pPr>
            <a:endParaRPr lang="es-ES" sz="3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27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07216CC1-97CE-49EA-6FD6-62AFC58A6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3EA9110C-EDB6-52CB-A5AE-EA2FD17133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Pruebas de Integración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98C08A05-83A0-7FA8-53E7-C99801018C7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7DCA9E7A-8415-E4EE-1DBA-27FA75BB6BD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59757316-9D6A-5B34-11EF-02189295FD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21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933CEF87-5B88-5195-34BA-0A71ECFA3D50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Pruebas de regresión</a:t>
            </a:r>
          </a:p>
          <a:p>
            <a:pPr marL="625475" indent="-352425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Cada vez que se añade un nuevo módulo como parte de una prueba de integración, el software cambia.</a:t>
            </a:r>
          </a:p>
          <a:p>
            <a:pPr marL="625475" indent="-352425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Se establecen nuevos caminos, pueden ocurrir nuevas E/S y se invoca una nueva lógica de control.</a:t>
            </a:r>
          </a:p>
          <a:p>
            <a:pPr marL="625475" indent="-352425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Estos cambios pueden causar problemas con funciones que antes trabajaban perfectamente. </a:t>
            </a:r>
          </a:p>
          <a:p>
            <a:pPr marL="625475" indent="-352425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En el contexto de una estrategia de Prueba de integración, la </a:t>
            </a:r>
            <a:r>
              <a:rPr lang="es-ES" sz="2600" u="sng" dirty="0">
                <a:solidFill>
                  <a:schemeClr val="dk1"/>
                </a:solidFill>
              </a:rPr>
              <a:t>Prueba de regresión</a:t>
            </a:r>
            <a:r>
              <a:rPr lang="es-ES" sz="2600" dirty="0">
                <a:solidFill>
                  <a:schemeClr val="dk1"/>
                </a:solidFill>
              </a:rPr>
              <a:t> implica volver a ejecutar un subconjunto de pruebas que se han llevado a cabo anteriormente para asegurarse de que los cambios no han propagado efectos colaterales no deseados.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endParaRPr lang="es-ES" sz="3000" dirty="0">
              <a:solidFill>
                <a:schemeClr val="dk1"/>
              </a:solidFill>
            </a:endParaRPr>
          </a:p>
          <a:p>
            <a:pPr marL="0" indent="0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None/>
            </a:pPr>
            <a:endParaRPr lang="es-ES" sz="3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73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DF98D5F9-FEA6-85F5-9673-D156B6B2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74CF537A-E0AD-E2E9-CB79-CAD3935A0C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Pruebas de Integración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7AD79E29-AE5D-56E1-E3D7-8984671C3F6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DF0462CF-7A8F-D44C-84FE-20AFA994C11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3F5EA9F9-EB99-5203-7B1F-3D1CD280B2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22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60D2A251-BDF2-84E5-68BC-C190DD27A9BE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Pruebas de regresión</a:t>
            </a:r>
          </a:p>
          <a:p>
            <a:pPr marL="625475" indent="-352425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Estas pruebas se pueden hacer manualmente, volviendo a realizar un subconjunto de todos los casos de prueba, o utilizando herramientas automáticas.</a:t>
            </a:r>
          </a:p>
          <a:p>
            <a:pPr marL="625475" indent="-352425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El conjunto de pruebas de regresión contiene tres clases diferentes de casos de prueba:</a:t>
            </a:r>
          </a:p>
          <a:p>
            <a:pPr marL="898525" indent="-27305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</a:rPr>
              <a:t>una muestra representativa de pruebas que ejercite todas las funciones del software.</a:t>
            </a:r>
          </a:p>
          <a:p>
            <a:pPr marL="898525" indent="-27305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</a:rPr>
              <a:t>pruebas adicionales que se centren en las funciones del software que son probablemente afectadas por el cambio.</a:t>
            </a:r>
          </a:p>
          <a:p>
            <a:pPr marL="898525" indent="-27305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</a:rPr>
              <a:t>pruebas que se centren en los componentes del software que han cambiado.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endParaRPr lang="es-ES" sz="3000" dirty="0">
              <a:solidFill>
                <a:schemeClr val="dk1"/>
              </a:solidFill>
            </a:endParaRPr>
          </a:p>
          <a:p>
            <a:pPr marL="0" indent="0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None/>
            </a:pPr>
            <a:endParaRPr lang="es-ES" sz="3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75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1D7823AA-724C-4C14-A82A-F7466F131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74611254-B1A5-02BA-EE38-01053C3CBE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Pruebas de Integración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E2DEAB68-7EB5-67D5-EE49-B7EA1081955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3772126C-11DE-22D4-5A19-A588F2BA21F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CC1A73C3-7AC0-AF79-3AE6-AC7537DB45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23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82768752-D0B4-A8D4-B648-FF58EE105922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Posible estrategia de pruebas de integración:</a:t>
            </a:r>
          </a:p>
          <a:p>
            <a:pPr marL="0" indent="0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None/>
            </a:pPr>
            <a:endParaRPr lang="es-ES" sz="3000" dirty="0">
              <a:solidFill>
                <a:schemeClr val="dk1"/>
              </a:solidFill>
            </a:endParaRPr>
          </a:p>
        </p:txBody>
      </p:sp>
      <p:pic>
        <p:nvPicPr>
          <p:cNvPr id="3" name="Google Shape;302;g1e37e07c6ab_0_12">
            <a:extLst>
              <a:ext uri="{FF2B5EF4-FFF2-40B4-BE49-F238E27FC236}">
                <a16:creationId xmlns:a16="http://schemas.microsoft.com/office/drawing/2014/main" id="{1978E919-D1DA-32DC-7399-F0D7BC1E3F03}"/>
              </a:ext>
            </a:extLst>
          </p:cNvPr>
          <p:cNvPicPr preferRelativeResize="0"/>
          <p:nvPr/>
        </p:nvPicPr>
        <p:blipFill rotWithShape="1">
          <a:blip r:embed="rId3"/>
          <a:srcRect t="22604" b="5115"/>
          <a:stretch>
            <a:fillRect/>
          </a:stretch>
        </p:blipFill>
        <p:spPr>
          <a:xfrm>
            <a:off x="2045368" y="2375456"/>
            <a:ext cx="8101263" cy="394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07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4ECDE113-4630-5956-4748-07EFAA360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1AB7A345-6860-74A2-1CE6-ECE8DF8D7C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sz="3800" dirty="0"/>
              <a:t>Pruebas de Unidad e Integración para software OO</a:t>
            </a:r>
            <a:endParaRPr sz="3800"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708A9CF5-D56B-C2F6-6A00-86370D2FC2C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BE1483BC-A660-C966-A46A-2047A9D3A32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B630A4A1-0191-D231-4ED7-DE5AA2E719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24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1BBCB0F9-CAC7-73AE-91EF-DFDB81CD2424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</a:rPr>
              <a:t>Prueba de Unidad: </a:t>
            </a:r>
          </a:p>
          <a:p>
            <a:pPr marL="722313" indent="-273050" algn="just" defTabSz="9144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</a:rPr>
              <a:t>Por lo general una clase encapsulada es el foco de la prueba de unidad.</a:t>
            </a:r>
          </a:p>
          <a:p>
            <a:pPr marL="722313" indent="-273050" algn="just" defTabSz="9144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</a:rPr>
              <a:t>Los métodos son las unidades comprobables más pequeñas.</a:t>
            </a:r>
          </a:p>
          <a:p>
            <a:pPr marL="722313" indent="-273050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</a:rPr>
              <a:t>La prueba de clase es el equivalente en este caso, la cual debe ser dirigida a las operaciones encapsuladas por la clase y el comportamiento de estado de ésta.</a:t>
            </a:r>
            <a:endParaRPr lang="es-ES" sz="2800" dirty="0">
              <a:solidFill>
                <a:schemeClr val="dk1"/>
              </a:solidFill>
            </a:endParaRP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dk1"/>
                </a:solidFill>
              </a:rPr>
              <a:t>Prueba de integración:</a:t>
            </a:r>
          </a:p>
          <a:p>
            <a:pPr marL="722313" indent="-273050" algn="just" defTabSz="9144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722313" algn="l"/>
              </a:tabLst>
            </a:pPr>
            <a:r>
              <a:rPr lang="es-ES" sz="2400" dirty="0">
                <a:solidFill>
                  <a:schemeClr val="dk1"/>
                </a:solidFill>
              </a:rPr>
              <a:t>El software OO no tiene una estructura de control jerárquica obvia.</a:t>
            </a:r>
          </a:p>
          <a:p>
            <a:pPr marL="722313" indent="-273050" algn="just" defTabSz="9144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722313" algn="l"/>
              </a:tabLst>
            </a:pPr>
            <a:r>
              <a:rPr lang="es-ES" sz="2400" dirty="0">
                <a:solidFill>
                  <a:schemeClr val="dk1"/>
                </a:solidFill>
              </a:rPr>
              <a:t>La prueba basada en hebra integra el conjunto de clases requeridas para responder a una entrada o evento.</a:t>
            </a:r>
          </a:p>
          <a:p>
            <a:pPr marL="722313" indent="-273050" algn="just" defTabSz="9144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722313" algn="l"/>
              </a:tabLst>
            </a:pPr>
            <a:r>
              <a:rPr lang="es-ES" sz="2400" dirty="0">
                <a:solidFill>
                  <a:schemeClr val="dk1"/>
                </a:solidFill>
              </a:rPr>
              <a:t>La prueba basada en uso comienza con las clases independientes, luego las dependientes.</a:t>
            </a:r>
            <a:endParaRPr lang="es-ES" sz="2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947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6D610892-5E2F-91D1-C6AD-16C627774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3F0922A6-76A8-A5D1-C430-BAF7C2294B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Pruebas de Validación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B30CBEA6-804A-F189-95E1-B3C94D028EF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E45205B3-8A41-F264-F98E-314751D4671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Ingeniería de Software II</a:t>
            </a:r>
            <a:endParaRPr dirty="0"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1B16A2C-207E-E8F8-B465-3210797F6F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25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43EDE45F-5710-1744-225C-A0C6812BF3AC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La validación del software se consigue mediante una serie de pruebas que demuestren la conformidad con los requisitos.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Una vez que se procede con cada caso de prueba de validación, puede darse una de las dos condiciones:</a:t>
            </a:r>
          </a:p>
          <a:p>
            <a:pPr marL="963613" indent="-514350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+mj-lt"/>
              <a:buAutoNum type="arabicPeriod"/>
            </a:pPr>
            <a:r>
              <a:rPr lang="es-ES" sz="2600" i="1" dirty="0">
                <a:solidFill>
                  <a:schemeClr val="dk1"/>
                </a:solidFill>
              </a:rPr>
              <a:t>Las características de funcionamiento o de rendimiento están de acuerdo con las especificaciones y son aceptables.</a:t>
            </a:r>
            <a:endParaRPr lang="es-ES" sz="2600" dirty="0">
              <a:solidFill>
                <a:schemeClr val="dk1"/>
              </a:solidFill>
            </a:endParaRPr>
          </a:p>
          <a:p>
            <a:pPr marL="963613" indent="-514350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+mj-lt"/>
              <a:buAutoNum type="arabicPeriod"/>
            </a:pPr>
            <a:r>
              <a:rPr lang="es-ES" sz="2600" i="1" dirty="0">
                <a:solidFill>
                  <a:schemeClr val="dk1"/>
                </a:solidFill>
              </a:rPr>
              <a:t>Se descubre una desviación de las especificaciones y se crea una lista de deficiencias. </a:t>
            </a:r>
          </a:p>
        </p:txBody>
      </p:sp>
    </p:spTree>
    <p:extLst>
      <p:ext uri="{BB962C8B-B14F-4D97-AF65-F5344CB8AC3E}">
        <p14:creationId xmlns:p14="http://schemas.microsoft.com/office/powerpoint/2010/main" val="2150456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D7351261-F71B-EFDC-6713-552ACAE0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2B16CD08-7DD2-C804-4CAC-87AE43C525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sz="4800" dirty="0"/>
              <a:t>Pruebas de Validación</a:t>
            </a:r>
            <a:endParaRPr sz="4800"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4BE5C490-8959-820B-3719-80477323910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E246D48A-BDFC-CAB6-9CD1-2B0732A2CAA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Ingeniería de Software II</a:t>
            </a:r>
            <a:endParaRPr dirty="0"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A9EE5708-B98F-E832-67B2-8EFA69AA1D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26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59798858-D4C9-30E5-2CBB-8892C1CF77BA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Estas pruebas comienzan cuando finalizan las pruebas de integración.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Revisión de la configuración: </a:t>
            </a:r>
            <a:r>
              <a:rPr lang="es-ES" sz="3000" i="1" dirty="0">
                <a:solidFill>
                  <a:schemeClr val="dk1"/>
                </a:solidFill>
              </a:rPr>
              <a:t>Asegurar que todos los elementos de la configuración del software se hayan desarrollado apropiadamente, estén catalogados y contengan detalle suficiente para reforzar la fase de soporte.</a:t>
            </a:r>
          </a:p>
        </p:txBody>
      </p:sp>
    </p:spTree>
    <p:extLst>
      <p:ext uri="{BB962C8B-B14F-4D97-AF65-F5344CB8AC3E}">
        <p14:creationId xmlns:p14="http://schemas.microsoft.com/office/powerpoint/2010/main" val="1573196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B761E49B-5C15-CF47-1253-348FF5213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21C7C22E-3B51-E530-F1B0-47C9E016A8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sz="4800" dirty="0"/>
              <a:t>Pruebas de Validación</a:t>
            </a:r>
            <a:endParaRPr sz="4800"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F37C211B-3182-EAAC-DA4E-CBD8F740497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FEE440C1-7EC4-0CB2-B628-9E1F6E0B03D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Ingeniería de Software II</a:t>
            </a:r>
            <a:endParaRPr dirty="0"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12483B5B-F71A-B3CC-679D-3948FE444D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27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15727875-B4A6-A73B-97D3-FE17C5D100DF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Pruebas de aceptación</a:t>
            </a:r>
            <a:r>
              <a:rPr lang="es-ES" sz="3000" b="1" dirty="0">
                <a:solidFill>
                  <a:schemeClr val="dk1"/>
                </a:solidFill>
              </a:rPr>
              <a:t> 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Las realiza el usuario final en lugar del responsable del desarrollo del sistema.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Una prueba de aceptación puede ir desde algo informal, hasta la ejecución sistemática de una serie de pruebas bien planificadas. 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Dentro de las Pruebas de aceptación se pueden encontrar: </a:t>
            </a:r>
          </a:p>
          <a:p>
            <a:pPr marL="987425" indent="-265113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</a:pPr>
            <a:r>
              <a:rPr lang="es-ES" sz="2600" dirty="0">
                <a:solidFill>
                  <a:schemeClr val="dk1"/>
                </a:solidFill>
              </a:rPr>
              <a:t>Pruebas </a:t>
            </a:r>
            <a:r>
              <a:rPr lang="es-ES" sz="2600" u="sng" dirty="0">
                <a:solidFill>
                  <a:schemeClr val="dk1"/>
                </a:solidFill>
              </a:rPr>
              <a:t>ALFA</a:t>
            </a:r>
            <a:r>
              <a:rPr lang="es-ES" sz="2600" dirty="0">
                <a:solidFill>
                  <a:schemeClr val="dk1"/>
                </a:solidFill>
              </a:rPr>
              <a:t>: Las realizan los desarrolladores con clientes antes de liberar el producto.</a:t>
            </a:r>
          </a:p>
          <a:p>
            <a:pPr marL="987425" indent="-265113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</a:pPr>
            <a:r>
              <a:rPr lang="es-ES" sz="2600" dirty="0">
                <a:solidFill>
                  <a:schemeClr val="dk1"/>
                </a:solidFill>
              </a:rPr>
              <a:t>Pruebas </a:t>
            </a:r>
            <a:r>
              <a:rPr lang="es-ES" sz="2600" u="sng" dirty="0">
                <a:solidFill>
                  <a:schemeClr val="dk1"/>
                </a:solidFill>
              </a:rPr>
              <a:t>BETA</a:t>
            </a:r>
            <a:r>
              <a:rPr lang="es-ES" sz="2600" dirty="0">
                <a:solidFill>
                  <a:schemeClr val="dk1"/>
                </a:solidFill>
              </a:rPr>
              <a:t>: Se seleccionan los clientes que efectuarán la prueba. Los desarrolladores no se encuentran presentes.</a:t>
            </a:r>
          </a:p>
        </p:txBody>
      </p:sp>
    </p:spTree>
    <p:extLst>
      <p:ext uri="{BB962C8B-B14F-4D97-AF65-F5344CB8AC3E}">
        <p14:creationId xmlns:p14="http://schemas.microsoft.com/office/powerpoint/2010/main" val="3319685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E15530F8-DC0C-0B52-BF85-C1DCA8252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739BF3C0-D594-DD30-E27A-B01E29D13E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sz="4800" dirty="0"/>
              <a:t>Pruebas de Validación</a:t>
            </a:r>
            <a:endParaRPr sz="4800"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74C05992-C9FC-33EF-2857-9A66867900C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8C4308BA-6752-D923-6F13-71A2FC919A7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Ingeniería de Software II</a:t>
            </a:r>
            <a:endParaRPr dirty="0"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4BEDB09A-1AA6-4783-E37D-F057D42C47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28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1E07F71A-CA5C-BA6D-7406-992B86E821FD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Pruebas de aceptación ALFA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Las pruebas alfa se hacen  en un </a:t>
            </a:r>
            <a:r>
              <a:rPr lang="es-ES" sz="2600" u="sng" dirty="0">
                <a:solidFill>
                  <a:schemeClr val="dk1"/>
                </a:solidFill>
              </a:rPr>
              <a:t>entorno controlado</a:t>
            </a:r>
            <a:r>
              <a:rPr lang="es-ES" sz="2600" dirty="0">
                <a:solidFill>
                  <a:schemeClr val="dk1"/>
                </a:solidFill>
              </a:rPr>
              <a:t>. Se llevan a cabo por un cliente en el lugar de desarrollo.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Se utiliza el software de forma natural con el desarrollador como observador del usuario, quien va registrando los errores y problemas de uso. 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Se realizan después de que todos los procedimientos de prueba básicos, como las pruebas unitarias y pruebas de integración se han completado, y se produce después de las pruebas del sistema. 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Esta no es la versión final del software. Pueden añadirse otras funcionalidades incluso después de la prueba alfa.</a:t>
            </a:r>
          </a:p>
        </p:txBody>
      </p:sp>
    </p:spTree>
    <p:extLst>
      <p:ext uri="{BB962C8B-B14F-4D97-AF65-F5344CB8AC3E}">
        <p14:creationId xmlns:p14="http://schemas.microsoft.com/office/powerpoint/2010/main" val="3691035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D9928E80-1251-BF71-30CA-4D180954E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355D137F-B6F7-73E7-69E9-FE0EEE288B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sz="4800" dirty="0"/>
              <a:t>Pruebas de Validación</a:t>
            </a:r>
            <a:endParaRPr sz="4800"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03B5FD6B-FAEA-9405-9010-73755148E88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AC4D4FF3-B661-707A-BA21-EFFF13EAD1A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Ingeniería de Software II</a:t>
            </a:r>
            <a:endParaRPr dirty="0"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B8749D79-FAA1-C705-D5AE-EDAA5802C8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29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3D7D2AC9-C99B-B3E1-029C-108764A290D6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Pruebas de aceptación BETA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Las pruebas beta se llevan a cabo por los usuarios finales del software en los lugares de trabajo de los clientes. 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El desarrollador no está presente. La prueba beta es una aplicación en vivo del software en un entorno que </a:t>
            </a:r>
            <a:r>
              <a:rPr lang="es-ES" sz="2600" u="sng" dirty="0">
                <a:solidFill>
                  <a:schemeClr val="dk1"/>
                </a:solidFill>
              </a:rPr>
              <a:t>no es controlado</a:t>
            </a:r>
            <a:r>
              <a:rPr lang="es-ES" sz="2600" dirty="0">
                <a:solidFill>
                  <a:schemeClr val="dk1"/>
                </a:solidFill>
              </a:rPr>
              <a:t>. 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El cliente registra todos los problemas que encuentra durante la prueba beta e informa a intervalos regulares al desarrollador. 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Las pruebas beta es la última fase de las fases de prueba y se hacen utilizando técnicas de caja negra. 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A veces, la versión beta se lanza al mercado y, en función de las modificaciones realizadas, los comentarios de los usuarios o la ausencia de cambios en el software, se publica la versión final.</a:t>
            </a:r>
          </a:p>
        </p:txBody>
      </p:sp>
    </p:spTree>
    <p:extLst>
      <p:ext uri="{BB962C8B-B14F-4D97-AF65-F5344CB8AC3E}">
        <p14:creationId xmlns:p14="http://schemas.microsoft.com/office/powerpoint/2010/main" val="80334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706C0045-F59C-6E6D-A659-B48D4E037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E873958C-5652-216D-81B7-025F7B1484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sz="4800" dirty="0"/>
              <a:t>Pruebas de Validación</a:t>
            </a:r>
            <a:endParaRPr sz="4800"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C36E9F3B-56B7-9A8D-C468-50BB95304B2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ED836D67-DD3C-1C3F-B3E7-8005F9BDA7F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Ingeniería de Software II</a:t>
            </a:r>
            <a:endParaRPr dirty="0"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3CCA9AE1-2A09-9A58-9C8F-7F0522DB58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30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EA1D6091-5D80-3A95-4FD4-35620D571C90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413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Pruebas de aceptación BETA - Ejemplos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La explicación de cómo desarrollar una prueba beta de pre lanzamiento de una App para Apple Store se puede ver en:</a:t>
            </a:r>
          </a:p>
          <a:p>
            <a:pPr marL="712788" indent="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None/>
            </a:pPr>
            <a:r>
              <a:rPr lang="es-ES" sz="2200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https://beta.apple.com/es-419</a:t>
            </a:r>
            <a:r>
              <a:rPr lang="es-ES" sz="2200" dirty="0">
                <a:solidFill>
                  <a:srgbClr val="C00000"/>
                </a:solidFill>
              </a:rPr>
              <a:t> 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tx1"/>
                </a:solidFill>
              </a:rPr>
              <a:t>Google APP para Android, programa de Beta </a:t>
            </a:r>
            <a:r>
              <a:rPr lang="es-ES" sz="2600" dirty="0" err="1">
                <a:solidFill>
                  <a:schemeClr val="tx1"/>
                </a:solidFill>
              </a:rPr>
              <a:t>testers</a:t>
            </a:r>
            <a:endParaRPr lang="es-ES" sz="2600" dirty="0">
              <a:solidFill>
                <a:schemeClr val="tx1"/>
              </a:solidFill>
            </a:endParaRPr>
          </a:p>
          <a:p>
            <a:pPr marL="712788" indent="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None/>
              <a:tabLst>
                <a:tab pos="712788" algn="l"/>
              </a:tabLst>
            </a:pPr>
            <a:r>
              <a:rPr lang="es-ES" sz="2200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https://support.google.com/websearch/answer/6307673?hl=es-419</a:t>
            </a:r>
            <a:endParaRPr lang="es-ES" sz="2200" dirty="0">
              <a:solidFill>
                <a:srgbClr val="C00000"/>
              </a:solidFill>
            </a:endParaRPr>
          </a:p>
          <a:p>
            <a:pPr marL="712788" indent="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None/>
              <a:tabLst>
                <a:tab pos="712788" algn="l"/>
              </a:tabLst>
            </a:pPr>
            <a:r>
              <a:rPr lang="es-ES" sz="2200" dirty="0">
                <a:solidFill>
                  <a:srgbClr val="C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https://www.google.com/android/beta?hl=es</a:t>
            </a:r>
            <a:endParaRPr lang="es-ES" sz="2200" dirty="0">
              <a:solidFill>
                <a:srgbClr val="C00000"/>
              </a:solidFill>
            </a:endParaRP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tx1"/>
                </a:solidFill>
              </a:rPr>
              <a:t>Otros:</a:t>
            </a:r>
            <a:endParaRPr lang="es-ES" sz="2600" dirty="0">
              <a:solidFill>
                <a:schemeClr val="tx1"/>
              </a:solidFill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712788" indent="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None/>
            </a:pPr>
            <a:r>
              <a:rPr lang="es-ES" sz="2200" dirty="0">
                <a:solidFill>
                  <a:srgbClr val="C000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https://www.usertesting.com/</a:t>
            </a:r>
            <a:r>
              <a:rPr lang="es-ES" sz="2200" dirty="0">
                <a:solidFill>
                  <a:srgbClr val="C00000"/>
                </a:solidFill>
              </a:rPr>
              <a:t> </a:t>
            </a:r>
          </a:p>
          <a:p>
            <a:pPr marL="712788" indent="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None/>
            </a:pPr>
            <a:r>
              <a:rPr lang="es-ES" sz="2200" dirty="0">
                <a:solidFill>
                  <a:srgbClr val="C000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https://www.utest.com/</a:t>
            </a:r>
            <a:r>
              <a:rPr lang="es-ES" sz="2200" dirty="0">
                <a:solidFill>
                  <a:srgbClr val="C00000"/>
                </a:solidFill>
              </a:rPr>
              <a:t> </a:t>
            </a:r>
          </a:p>
          <a:p>
            <a:pPr marL="712788" indent="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None/>
            </a:pPr>
            <a:r>
              <a:rPr lang="es-ES" sz="2200" dirty="0">
                <a:solidFill>
                  <a:srgbClr val="C0000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Beta </a:t>
            </a:r>
            <a:r>
              <a:rPr lang="es-ES" sz="2200" dirty="0" err="1">
                <a:solidFill>
                  <a:srgbClr val="C0000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Testers</a:t>
            </a:r>
            <a:r>
              <a:rPr lang="es-ES" sz="2200" dirty="0">
                <a:solidFill>
                  <a:srgbClr val="C0000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Únete a la comunidad de </a:t>
            </a:r>
            <a:r>
              <a:rPr lang="es-ES" sz="2200" dirty="0" err="1">
                <a:solidFill>
                  <a:srgbClr val="C0000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BetaTesting</a:t>
            </a:r>
            <a:r>
              <a:rPr lang="es-ES" sz="2200" dirty="0">
                <a:solidFill>
                  <a:srgbClr val="C0000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hoy</a:t>
            </a:r>
            <a:endParaRPr lang="es-ES" sz="2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0503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B440D568-08A4-4C33-98F8-069768025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DAC27374-DAC9-9A0C-A7C4-DF28F3844E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sz="4800" dirty="0"/>
              <a:t>Pruebas del Sistema</a:t>
            </a:r>
            <a:endParaRPr sz="4800"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F879C8B0-30F7-581B-A338-C61C6604EFA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8825E916-FB51-D8DD-FC26-D8D238C0FDA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Ingeniería de Software II</a:t>
            </a:r>
            <a:endParaRPr dirty="0"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770A8BF9-443B-D3D6-77CB-FB62DF6A90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31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B93B937C-511F-3AB6-4314-AEFD99A24D08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La prueba del sistema, está constituida por una serie de pruebas diferentes. 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Aunque cada prueba tiene un propósito diferente, todas trabajan para verificar que se han integrado adecuadamente todos los elementos del sistema y que realizan las funciones apropiadas.</a:t>
            </a:r>
          </a:p>
        </p:txBody>
      </p:sp>
    </p:spTree>
    <p:extLst>
      <p:ext uri="{BB962C8B-B14F-4D97-AF65-F5344CB8AC3E}">
        <p14:creationId xmlns:p14="http://schemas.microsoft.com/office/powerpoint/2010/main" val="37921108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445318BA-994C-7C23-38C1-D44FD048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E9FFEC20-D729-A260-CCB7-F598D98602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sz="4800" dirty="0"/>
              <a:t>Pruebas del Sistema</a:t>
            </a:r>
            <a:endParaRPr sz="4800"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E8D5DB07-9C91-28A4-7BBB-C25C3A826E3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025AA715-2F5E-44D6-7B39-18EBAE3031D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Ingeniería de Software II</a:t>
            </a:r>
            <a:endParaRPr dirty="0"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E68115CC-318E-83B2-647C-AC6C81D7A2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32</a:t>
            </a:fld>
            <a:endParaRPr/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248F7383-67DE-4CBC-1876-4CD6C290F9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730" b="7994"/>
          <a:stretch>
            <a:fillRect/>
          </a:stretch>
        </p:blipFill>
        <p:spPr>
          <a:xfrm>
            <a:off x="1896310" y="2118641"/>
            <a:ext cx="8459705" cy="395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183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653E1213-BAD8-61A7-9D9F-5527D5E2D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03D23952-49AC-9661-BA23-01011D7C6A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sz="4800" dirty="0"/>
              <a:t>Una posible estrategia de pruebas</a:t>
            </a:r>
            <a:endParaRPr sz="4800"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136BC1A2-BC79-EF92-3D71-3C26FA2721A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0F9535BC-D7E2-61E0-721D-547568BC7B0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Ingeniería de Software II</a:t>
            </a:r>
            <a:endParaRPr dirty="0"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79DD6EAF-3513-055A-6FCF-E6E8AD9812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33</a:t>
            </a:fld>
            <a:endParaRPr/>
          </a:p>
        </p:txBody>
      </p:sp>
      <p:pic>
        <p:nvPicPr>
          <p:cNvPr id="2" name="Google Shape;414;g1e37e07c6ab_0_1">
            <a:extLst>
              <a:ext uri="{FF2B5EF4-FFF2-40B4-BE49-F238E27FC236}">
                <a16:creationId xmlns:a16="http://schemas.microsoft.com/office/drawing/2014/main" id="{922617A6-337C-DAC3-604E-CEF24F46F2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7763" b="4918"/>
          <a:stretch>
            <a:fillRect/>
          </a:stretch>
        </p:blipFill>
        <p:spPr>
          <a:xfrm>
            <a:off x="2212488" y="1801199"/>
            <a:ext cx="7767024" cy="45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CBBB24E-3908-8675-02AD-523DAF5FDAD1}"/>
              </a:ext>
            </a:extLst>
          </p:cNvPr>
          <p:cNvSpPr txBox="1"/>
          <p:nvPr/>
        </p:nvSpPr>
        <p:spPr>
          <a:xfrm>
            <a:off x="6646908" y="6124828"/>
            <a:ext cx="55450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https://www.gestiopolis.com/sistema-gestion-pruebas-soluciones-erp-enfocadas-paquetes-odoo-cuba/</a:t>
            </a:r>
            <a:r>
              <a:rPr lang="en-US" sz="1000" b="0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67596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B01D7414-F9C3-91A8-9CC3-F83839C0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3B3A44B7-7267-3BC2-BEE6-8B35BBA531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sz="4800" dirty="0"/>
              <a:t>Pruebas de entornos especializados</a:t>
            </a:r>
            <a:endParaRPr sz="4800"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8BA0E17A-2C28-64A2-AEDE-E9B4F267050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F0E18DFB-2F92-C2E0-9DE2-89178CAA5CA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Ingeniería de Software II</a:t>
            </a:r>
            <a:endParaRPr dirty="0"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EBF5D5BA-19F0-353C-1842-9D812D5F5A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34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7F78777B-B2FB-FACC-590C-ACB2C551B755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A medida que el software se hace más complejo, crece también la necesidad de enfoques de pruebas especializados.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Pruebas de interfaces gráficas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Pruebas de arquitecturas cliente-servidor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Pruebas de la documentación y ayuda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Pruebas de sistema en tiempo real </a:t>
            </a:r>
          </a:p>
        </p:txBody>
      </p:sp>
    </p:spTree>
    <p:extLst>
      <p:ext uri="{BB962C8B-B14F-4D97-AF65-F5344CB8AC3E}">
        <p14:creationId xmlns:p14="http://schemas.microsoft.com/office/powerpoint/2010/main" val="42694462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70935993-DDF6-5F29-2FDF-081940289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D4C91898-95E7-99CE-4C95-FAB49B6EE2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sz="4800" dirty="0"/>
              <a:t>Pruebas de entornos especializados</a:t>
            </a:r>
            <a:endParaRPr sz="4800"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56C820DB-3B3A-2AEA-717C-CFC022468D5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9A5B0022-D103-C9FF-F995-A5AE140F9B3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Ingeniería de Software II</a:t>
            </a:r>
            <a:endParaRPr dirty="0"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BC3E1F5A-07EE-2E51-4539-7456E07A24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35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F86418AA-4BCB-EDC0-B79A-BC6FD94B9C74}"/>
              </a:ext>
            </a:extLst>
          </p:cNvPr>
          <p:cNvSpPr txBox="1">
            <a:spLocks/>
          </p:cNvSpPr>
          <p:nvPr/>
        </p:nvSpPr>
        <p:spPr bwMode="auto">
          <a:xfrm>
            <a:off x="1030288" y="1899368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Pruebas de arquitecturas cliente-servidor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</a:rPr>
              <a:t>Pruebas de funcionalidad de la aplicación.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</a:rPr>
              <a:t>Prueba de servidor: </a:t>
            </a:r>
            <a:r>
              <a:rPr lang="es-ES" sz="2400" i="1" dirty="0">
                <a:solidFill>
                  <a:schemeClr val="dk1"/>
                </a:solidFill>
              </a:rPr>
              <a:t>Probar las funciones de coordinación y manejo de datos del servidor. Desempeño del servidor (tiempo de respuesta y procesamiento total de los datos).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</a:rPr>
              <a:t>Prueba de base de datos: </a:t>
            </a:r>
            <a:r>
              <a:rPr lang="es-ES" sz="2400" i="1" dirty="0">
                <a:solidFill>
                  <a:schemeClr val="dk1"/>
                </a:solidFill>
              </a:rPr>
              <a:t>Probar la exactitud e integridad de los datos, examinar transacciones, asegurar que se almacenan, actualizan y recuperan los datos.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</a:rPr>
              <a:t>Pruebas de transacciones: </a:t>
            </a:r>
            <a:r>
              <a:rPr lang="es-ES" sz="2400" i="1" dirty="0">
                <a:solidFill>
                  <a:schemeClr val="dk1"/>
                </a:solidFill>
              </a:rPr>
              <a:t>Crear una serie de pruebas para asegurar que cada transacción se procese de acuerdo a los requisitos.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dk1"/>
                </a:solidFill>
              </a:rPr>
              <a:t>Pruebas de comunicación de red: </a:t>
            </a:r>
            <a:r>
              <a:rPr lang="es-ES" sz="2400" i="1" dirty="0">
                <a:solidFill>
                  <a:schemeClr val="dk1"/>
                </a:solidFill>
              </a:rPr>
              <a:t>Verificar comunicación entre los nodos, que el paso de mensajes, transacciones y tráfico de la red se realice sin errores.</a:t>
            </a:r>
          </a:p>
        </p:txBody>
      </p:sp>
    </p:spTree>
    <p:extLst>
      <p:ext uri="{BB962C8B-B14F-4D97-AF65-F5344CB8AC3E}">
        <p14:creationId xmlns:p14="http://schemas.microsoft.com/office/powerpoint/2010/main" val="14270686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B854550A-1A83-F96B-2BDA-337010B73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5F6D0538-C6DA-FC89-EAEA-BCB183C068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sz="4800" dirty="0"/>
              <a:t>Pruebas de entornos especializados</a:t>
            </a:r>
            <a:endParaRPr sz="4800"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4ADDD77C-FAB9-2895-9E0C-E28DF85A886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DE126E40-0E76-3278-6F5C-9E15758FF8B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Ingeniería de Software II</a:t>
            </a:r>
            <a:endParaRPr dirty="0"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E4C0914F-8396-4D0A-2128-F418F5A1FA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36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8C96DD50-88BE-09D6-0B89-2A326B7BCB0C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Pruebas de la documentación y funciones de ayuda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Es importante para la aceptación del programa.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Revisar la guía del usuario o funciones de ayuda en línea.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La prueba de documentación se realiza en dos fases:</a:t>
            </a:r>
          </a:p>
          <a:p>
            <a:pPr marL="1076325" indent="-354013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+mj-lt"/>
              <a:buAutoNum type="arabicPeriod"/>
            </a:pPr>
            <a:r>
              <a:rPr lang="es-ES" sz="2400" dirty="0">
                <a:solidFill>
                  <a:schemeClr val="dk1"/>
                </a:solidFill>
              </a:rPr>
              <a:t>Revisar e inspeccionar: examinar la claridad editorial del documento.</a:t>
            </a:r>
          </a:p>
          <a:p>
            <a:pPr marL="1076325" indent="-354013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+mj-lt"/>
              <a:buAutoNum type="arabicPeriod"/>
            </a:pPr>
            <a:r>
              <a:rPr lang="es-ES" sz="2400" dirty="0">
                <a:solidFill>
                  <a:schemeClr val="dk1"/>
                </a:solidFill>
              </a:rPr>
              <a:t>Prueba en vivo: usar la documentación junto con el programa real.</a:t>
            </a:r>
          </a:p>
        </p:txBody>
      </p:sp>
    </p:spTree>
    <p:extLst>
      <p:ext uri="{BB962C8B-B14F-4D97-AF65-F5344CB8AC3E}">
        <p14:creationId xmlns:p14="http://schemas.microsoft.com/office/powerpoint/2010/main" val="2114103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F627FA71-FA88-7E92-C846-89BD880D4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BA063EAC-352F-781D-6240-1FCC1D9CF9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sz="4800" dirty="0"/>
              <a:t>Pruebas de entornos especializados</a:t>
            </a:r>
            <a:endParaRPr sz="4800"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C7E09513-2D2F-3F89-8442-AC51DDFCD72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834D823E-2A1E-1F67-8F1F-9A6C44E3703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Ingeniería de Software II</a:t>
            </a:r>
            <a:endParaRPr dirty="0"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C0E36CD8-04FB-1246-DB7F-2E3110ED26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37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EA52A321-5D94-3203-60EF-FFA7828C6ED2}"/>
              </a:ext>
            </a:extLst>
          </p:cNvPr>
          <p:cNvSpPr txBox="1">
            <a:spLocks/>
          </p:cNvSpPr>
          <p:nvPr/>
        </p:nvSpPr>
        <p:spPr bwMode="auto">
          <a:xfrm>
            <a:off x="1030288" y="1914116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Pruebas de sistemas de tiempo real</a:t>
            </a:r>
          </a:p>
          <a:p>
            <a:pPr marL="722313" indent="-28257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El diseño de los casos de prueba, además de los convencionales deben incluir manejo de eventos (interrupciones), temporización de los datos, el paralelismo entre las tareas, etc.</a:t>
            </a:r>
          </a:p>
          <a:p>
            <a:pPr marL="1076325" indent="-354013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+mj-lt"/>
              <a:buAutoNum type="arabicPeriod"/>
            </a:pPr>
            <a:endParaRPr lang="es-ES" sz="2400" dirty="0">
              <a:solidFill>
                <a:schemeClr val="dk1"/>
              </a:solidFill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61156BE3-234F-BDD6-92C4-1009AA75AD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995" b="11345"/>
          <a:stretch>
            <a:fillRect/>
          </a:stretch>
        </p:blipFill>
        <p:spPr>
          <a:xfrm>
            <a:off x="3152769" y="3539818"/>
            <a:ext cx="5886462" cy="277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9404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62B76492-40D0-B68A-A902-42C476395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>
            <a:extLst>
              <a:ext uri="{FF2B5EF4-FFF2-40B4-BE49-F238E27FC236}">
                <a16:creationId xmlns:a16="http://schemas.microsoft.com/office/drawing/2014/main" id="{0737E60D-2D49-6611-4142-AB9646681D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80674"/>
            <a:ext cx="3200400" cy="109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noProof="0" dirty="0"/>
              <a:t>Depuración de programas</a:t>
            </a:r>
          </a:p>
        </p:txBody>
      </p:sp>
      <p:sp>
        <p:nvSpPr>
          <p:cNvPr id="66" name="Google Shape;66;p2">
            <a:extLst>
              <a:ext uri="{FF2B5EF4-FFF2-40B4-BE49-F238E27FC236}">
                <a16:creationId xmlns:a16="http://schemas.microsoft.com/office/drawing/2014/main" id="{716763E0-BA85-7437-D20D-94005304C6B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42913" lvl="0" indent="-442913" algn="just" rtl="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800" noProof="0" dirty="0">
                <a:solidFill>
                  <a:schemeClr val="tx1"/>
                </a:solidFill>
              </a:rPr>
              <a:t>La depuración de programas, es el proceso de identificar y corregir errores en programas informáticos.</a:t>
            </a:r>
          </a:p>
          <a:p>
            <a:pPr marL="442913" lvl="0" indent="-442913" algn="just" rtl="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800" noProof="0" dirty="0">
                <a:solidFill>
                  <a:schemeClr val="tx1"/>
                </a:solidFill>
              </a:rPr>
              <a:t>La depuración no es una prueba, pero siempre ocurre como consecuencia de la prueba efectiva.</a:t>
            </a:r>
          </a:p>
          <a:p>
            <a:pPr marL="722313" lvl="0" indent="-27940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400" i="1" dirty="0">
                <a:solidFill>
                  <a:schemeClr val="tx1"/>
                </a:solidFill>
              </a:rPr>
              <a:t>S</a:t>
            </a:r>
            <a:r>
              <a:rPr lang="es-ES" sz="2400" i="1" noProof="0" dirty="0">
                <a:solidFill>
                  <a:schemeClr val="tx1"/>
                </a:solidFill>
              </a:rPr>
              <a:t>e descubre un error, la depuración elimina dicho error.</a:t>
            </a:r>
          </a:p>
          <a:p>
            <a:pPr marL="442913" lvl="0" indent="-442913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lang="es-ES" sz="2800" noProof="0" dirty="0">
              <a:solidFill>
                <a:schemeClr val="tx1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05D3EF-9E4F-D2BD-C3BF-8056F0340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7" name="Google Shape;67;p2">
            <a:extLst>
              <a:ext uri="{FF2B5EF4-FFF2-40B4-BE49-F238E27FC236}">
                <a16:creationId xmlns:a16="http://schemas.microsoft.com/office/drawing/2014/main" id="{0A06B40D-27E0-ED89-3694-148128BFB9C5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II</a:t>
            </a:r>
            <a:endParaRPr/>
          </a:p>
        </p:txBody>
      </p:sp>
      <p:sp>
        <p:nvSpPr>
          <p:cNvPr id="64" name="Google Shape;64;p2">
            <a:extLst>
              <a:ext uri="{FF2B5EF4-FFF2-40B4-BE49-F238E27FC236}">
                <a16:creationId xmlns:a16="http://schemas.microsoft.com/office/drawing/2014/main" id="{5D939F98-20C2-D3C3-EB3E-674C80ED229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3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8FA9953-0F7E-E643-2E54-C7ED3297A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noProof="0"/>
              <a:t>2026</a:t>
            </a:r>
            <a:endParaRPr lang="es-AR" noProof="0"/>
          </a:p>
        </p:txBody>
      </p:sp>
      <p:sp>
        <p:nvSpPr>
          <p:cNvPr id="4" name="Rectángulo 3" descr="Insecto">
            <a:extLst>
              <a:ext uri="{FF2B5EF4-FFF2-40B4-BE49-F238E27FC236}">
                <a16:creationId xmlns:a16="http://schemas.microsoft.com/office/drawing/2014/main" id="{8D6B2B5F-9B59-5951-DE40-3FCC709F9D31}"/>
              </a:ext>
            </a:extLst>
          </p:cNvPr>
          <p:cNvSpPr/>
          <p:nvPr/>
        </p:nvSpPr>
        <p:spPr>
          <a:xfrm>
            <a:off x="9448800" y="4221581"/>
            <a:ext cx="1512000" cy="1512000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51039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145AF239-A5D9-9F12-AF48-F4BCC9BD7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27AD2A87-D66F-D911-20C0-D6DF30D778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sz="4800" dirty="0"/>
              <a:t>El proceso de depuración</a:t>
            </a:r>
            <a:endParaRPr sz="4800"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093EFCEC-02AB-A65E-5466-C62C900864F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94D59A93-C8E6-553A-15BA-5C4E6D407B2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Ingeniería de Software II</a:t>
            </a:r>
            <a:endParaRPr dirty="0"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300B3E98-95CB-CA5D-2616-366FB12A81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39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F365153A-9992-7E18-8A91-7461B0FF7738}"/>
              </a:ext>
            </a:extLst>
          </p:cNvPr>
          <p:cNvSpPr txBox="1">
            <a:spLocks/>
          </p:cNvSpPr>
          <p:nvPr/>
        </p:nvSpPr>
        <p:spPr bwMode="auto">
          <a:xfrm>
            <a:off x="1030288" y="1914116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El proceso de depuración siempre tiene uno de dos resultados:</a:t>
            </a:r>
          </a:p>
          <a:p>
            <a:pPr marL="900113" indent="-45720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Tx/>
              <a:buFont typeface="+mj-lt"/>
              <a:buAutoNum type="arabicPeriod"/>
            </a:pPr>
            <a:r>
              <a:rPr lang="es-ES" sz="2600" dirty="0">
                <a:solidFill>
                  <a:schemeClr val="dk1"/>
                </a:solidFill>
              </a:rPr>
              <a:t>Se encuentra la causa, se corrige y se elimina. </a:t>
            </a:r>
          </a:p>
          <a:p>
            <a:pPr marL="900113" indent="-45720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Tx/>
              <a:buFont typeface="+mj-lt"/>
              <a:buAutoNum type="arabicPeriod"/>
            </a:pPr>
            <a:r>
              <a:rPr lang="es-ES" sz="2600" dirty="0">
                <a:solidFill>
                  <a:schemeClr val="dk1"/>
                </a:solidFill>
              </a:rPr>
              <a:t>No se encuentra la causa. La persona que realiza la depuración debe sospechar la causa, diseñar un caso de prueba que ayude a confirmar sus sospechas y el trabajo vuelve hacia atrás a la corrección del error de una forma iterativa.</a:t>
            </a:r>
          </a:p>
        </p:txBody>
      </p:sp>
      <p:pic>
        <p:nvPicPr>
          <p:cNvPr id="5" name="Google Shape;482;p36">
            <a:extLst>
              <a:ext uri="{FF2B5EF4-FFF2-40B4-BE49-F238E27FC236}">
                <a16:creationId xmlns:a16="http://schemas.microsoft.com/office/drawing/2014/main" id="{85CE64F1-9D50-B82C-4996-30C557D8B0E9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/>
          <a:srcRect l="8548" t="6723" r="12537" b="2743"/>
          <a:stretch>
            <a:fillRect/>
          </a:stretch>
        </p:blipFill>
        <p:spPr>
          <a:xfrm>
            <a:off x="9270282" y="4175997"/>
            <a:ext cx="2521153" cy="215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4402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6FBBA32F-E3D9-5A0D-E82C-8EACD0A4D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34C89339-43C7-CD7B-7474-AA950305DF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sz="4800" dirty="0"/>
              <a:t>El proceso de depuración</a:t>
            </a:r>
            <a:endParaRPr sz="4800"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0FCA247A-D668-8E60-2BC9-DDE849C1E31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73BCAF40-F1D7-29EC-A4A2-EAE5204E750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Ingeniería de Software II</a:t>
            </a:r>
            <a:endParaRPr dirty="0"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369C85F6-7B0B-F2FE-39A1-C960FEAD6E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40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AC9BE831-BB17-4B27-C6D9-EAB3FBFA0AF6}"/>
              </a:ext>
            </a:extLst>
          </p:cNvPr>
          <p:cNvSpPr txBox="1">
            <a:spLocks/>
          </p:cNvSpPr>
          <p:nvPr/>
        </p:nvSpPr>
        <p:spPr bwMode="auto">
          <a:xfrm>
            <a:off x="1030288" y="1914116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Características de los errores:</a:t>
            </a:r>
          </a:p>
          <a:p>
            <a:pPr marL="633413" indent="-27940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Síntoma lejano (geográficamente) de la causa</a:t>
            </a:r>
          </a:p>
          <a:p>
            <a:pPr marL="633413" indent="-27940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Síntoma desaparece temporalmente al corregir otro error</a:t>
            </a:r>
          </a:p>
          <a:p>
            <a:pPr marL="633413" indent="-27940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Síntoma producido por error</a:t>
            </a:r>
          </a:p>
          <a:p>
            <a:pPr marL="633413" indent="-27940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Síntoma causado por error humano</a:t>
            </a:r>
          </a:p>
          <a:p>
            <a:pPr marL="633413" indent="-27940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Síntoma causado por problemas de tiempo</a:t>
            </a:r>
          </a:p>
          <a:p>
            <a:pPr marL="633413" indent="-27940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Condiciones de entrada difíciles de reproducir</a:t>
            </a:r>
          </a:p>
          <a:p>
            <a:pPr marL="633413" indent="-27940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Síntoma intermitente (especialmente en desarrollos  hardware-software)</a:t>
            </a:r>
          </a:p>
          <a:p>
            <a:pPr marL="633413" indent="-279400" algn="just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600" dirty="0">
                <a:solidFill>
                  <a:schemeClr val="dk1"/>
                </a:solidFill>
              </a:rPr>
              <a:t>El síntoma se debe a causas distribuidas entre varias tareas que se ejecutan en diferentes procesadores</a:t>
            </a:r>
          </a:p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endParaRPr lang="es-ES" sz="2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6374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9B21A0E2-D1AC-0162-38DD-3DD1253CC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57E1C312-DA96-6683-1CAA-74E53A06CB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sz="4800" dirty="0"/>
              <a:t>El proceso de depuración</a:t>
            </a:r>
            <a:endParaRPr sz="4800"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5314995F-FFDA-3E4A-E453-9CAAA34FD4A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2548504C-5AAD-EF74-BEA9-C5E375C9ABE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Ingeniería de Software II</a:t>
            </a:r>
            <a:endParaRPr dirty="0"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FBBB1E12-9624-C275-C1E6-04B38F6510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41</a:t>
            </a:fld>
            <a:endParaRPr/>
          </a:p>
        </p:txBody>
      </p:sp>
      <p:sp>
        <p:nvSpPr>
          <p:cNvPr id="2" name="Google Shape;163;p4">
            <a:extLst>
              <a:ext uri="{FF2B5EF4-FFF2-40B4-BE49-F238E27FC236}">
                <a16:creationId xmlns:a16="http://schemas.microsoft.com/office/drawing/2014/main" id="{02CFA157-C41B-1D3D-A4DA-251304555001}"/>
              </a:ext>
            </a:extLst>
          </p:cNvPr>
          <p:cNvSpPr txBox="1">
            <a:spLocks/>
          </p:cNvSpPr>
          <p:nvPr/>
        </p:nvSpPr>
        <p:spPr bwMode="auto">
          <a:xfrm>
            <a:off x="1030288" y="1914116"/>
            <a:ext cx="10182225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 defTabSz="9144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3000" dirty="0">
                <a:solidFill>
                  <a:schemeClr val="dk1"/>
                </a:solidFill>
              </a:rPr>
              <a:t>Enfoque:</a:t>
            </a:r>
            <a:endParaRPr lang="es-ES" sz="2400" dirty="0">
              <a:solidFill>
                <a:schemeClr val="dk1"/>
              </a:solidFill>
            </a:endParaRPr>
          </a:p>
        </p:txBody>
      </p:sp>
      <p:pic>
        <p:nvPicPr>
          <p:cNvPr id="4" name="Imagen 3" descr="Gráfico, Diagrama, Gráfico de embudo&#10;&#10;El contenido generado por IA puede ser incorrecto.">
            <a:extLst>
              <a:ext uri="{FF2B5EF4-FFF2-40B4-BE49-F238E27FC236}">
                <a16:creationId xmlns:a16="http://schemas.microsoft.com/office/drawing/2014/main" id="{6E51280D-FDF0-CB54-34FC-DEACA6D1B4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657" r="6537" b="10422"/>
          <a:stretch>
            <a:fillRect/>
          </a:stretch>
        </p:blipFill>
        <p:spPr>
          <a:xfrm>
            <a:off x="2616123" y="2267754"/>
            <a:ext cx="7010554" cy="395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1958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Naranja roj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Clase 1_Comunicacion_SRS.pptx" id="{F39401A9-85DB-4349-A76B-94D95506DA4C}" vid="{1FC3EF6D-30C9-4320-8FF3-A71339F5A8A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2026 Ingenieria de software 2</Template>
  <TotalTime>948</TotalTime>
  <Words>2650</Words>
  <Application>Microsoft Office PowerPoint</Application>
  <PresentationFormat>Panorámica</PresentationFormat>
  <Paragraphs>357</Paragraphs>
  <Slides>41</Slides>
  <Notes>41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9" baseType="lpstr">
      <vt:lpstr>Wingdings</vt:lpstr>
      <vt:lpstr>Calibri</vt:lpstr>
      <vt:lpstr>Gill Sans</vt:lpstr>
      <vt:lpstr>Noto Sans Symbols2</vt:lpstr>
      <vt:lpstr>Times New Roman</vt:lpstr>
      <vt:lpstr>Noto Sans Symbols</vt:lpstr>
      <vt:lpstr>Arial</vt:lpstr>
      <vt:lpstr>Retrospección</vt:lpstr>
      <vt:lpstr>Ingeniería de Software II</vt:lpstr>
      <vt:lpstr>Contenidos</vt:lpstr>
      <vt:lpstr>Enfoque estratégico de pruebas</vt:lpstr>
      <vt:lpstr>Enfoque estratégico de pruebas</vt:lpstr>
      <vt:lpstr>Concepto de Verificación y Validación</vt:lpstr>
      <vt:lpstr>Estrategias de prueba</vt:lpstr>
      <vt:lpstr>Tipos de prueba de software</vt:lpstr>
      <vt:lpstr>Pruebas de Unidad</vt:lpstr>
      <vt:lpstr>Pruebas de Unidad</vt:lpstr>
      <vt:lpstr>Pruebas de Unidad</vt:lpstr>
      <vt:lpstr>Pruebas de Unidad</vt:lpstr>
      <vt:lpstr>Pruebas de Unidad</vt:lpstr>
      <vt:lpstr>Pruebas de Integración</vt:lpstr>
      <vt:lpstr>Pruebas de Integración</vt:lpstr>
      <vt:lpstr>Pruebas de Integración</vt:lpstr>
      <vt:lpstr>Pruebas de Integración</vt:lpstr>
      <vt:lpstr>Pruebas de Integración</vt:lpstr>
      <vt:lpstr>Pruebas de Integración</vt:lpstr>
      <vt:lpstr>Pruebas de Integración</vt:lpstr>
      <vt:lpstr>Pruebas de Integración</vt:lpstr>
      <vt:lpstr>Pruebas de Integración</vt:lpstr>
      <vt:lpstr>Pruebas de Integración</vt:lpstr>
      <vt:lpstr>Pruebas de Integración</vt:lpstr>
      <vt:lpstr>Pruebas de Unidad e Integración para software OO</vt:lpstr>
      <vt:lpstr>Pruebas de Validación</vt:lpstr>
      <vt:lpstr>Pruebas de Validación</vt:lpstr>
      <vt:lpstr>Pruebas de Validación</vt:lpstr>
      <vt:lpstr>Pruebas de Validación</vt:lpstr>
      <vt:lpstr>Pruebas de Validación</vt:lpstr>
      <vt:lpstr>Pruebas de Validación</vt:lpstr>
      <vt:lpstr>Pruebas del Sistema</vt:lpstr>
      <vt:lpstr>Pruebas del Sistema</vt:lpstr>
      <vt:lpstr>Una posible estrategia de pruebas</vt:lpstr>
      <vt:lpstr>Pruebas de entornos especializados</vt:lpstr>
      <vt:lpstr>Pruebas de entornos especializados</vt:lpstr>
      <vt:lpstr>Pruebas de entornos especializados</vt:lpstr>
      <vt:lpstr>Pruebas de entornos especializados</vt:lpstr>
      <vt:lpstr>Depuración de programas</vt:lpstr>
      <vt:lpstr>El proceso de depuración</vt:lpstr>
      <vt:lpstr>El proceso de depuración</vt:lpstr>
      <vt:lpstr>El proceso de depuración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Ingeniería de Software II</dc:title>
  <dc:creator>Ariel Pasini</dc:creator>
  <cp:lastModifiedBy>Rocio Muñoz</cp:lastModifiedBy>
  <cp:revision>24</cp:revision>
  <dcterms:created xsi:type="dcterms:W3CDTF">2016-02-19T02:46:31Z</dcterms:created>
  <dcterms:modified xsi:type="dcterms:W3CDTF">2026-05-29T14:07:11Z</dcterms:modified>
</cp:coreProperties>
</file>