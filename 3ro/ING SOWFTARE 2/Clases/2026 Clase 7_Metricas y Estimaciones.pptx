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6" r:id="rId1"/>
  </p:sldMasterIdLst>
  <p:notesMasterIdLst>
    <p:notesMasterId r:id="rId51"/>
  </p:notesMasterIdLst>
  <p:sldIdLst>
    <p:sldId id="256" r:id="rId2"/>
    <p:sldId id="312" r:id="rId3"/>
    <p:sldId id="313" r:id="rId4"/>
    <p:sldId id="315" r:id="rId5"/>
    <p:sldId id="316" r:id="rId6"/>
    <p:sldId id="317" r:id="rId7"/>
    <p:sldId id="318" r:id="rId8"/>
    <p:sldId id="319" r:id="rId9"/>
    <p:sldId id="320" r:id="rId10"/>
    <p:sldId id="322" r:id="rId11"/>
    <p:sldId id="321" r:id="rId12"/>
    <p:sldId id="323" r:id="rId13"/>
    <p:sldId id="324" r:id="rId14"/>
    <p:sldId id="325" r:id="rId15"/>
    <p:sldId id="326" r:id="rId16"/>
    <p:sldId id="327" r:id="rId17"/>
    <p:sldId id="328" r:id="rId18"/>
    <p:sldId id="330" r:id="rId19"/>
    <p:sldId id="329" r:id="rId20"/>
    <p:sldId id="331" r:id="rId21"/>
    <p:sldId id="332" r:id="rId22"/>
    <p:sldId id="333" r:id="rId23"/>
    <p:sldId id="334" r:id="rId24"/>
    <p:sldId id="335" r:id="rId25"/>
    <p:sldId id="336" r:id="rId26"/>
    <p:sldId id="337" r:id="rId27"/>
    <p:sldId id="314"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3" r:id="rId44"/>
    <p:sldId id="354" r:id="rId45"/>
    <p:sldId id="356" r:id="rId46"/>
    <p:sldId id="357" r:id="rId47"/>
    <p:sldId id="358" r:id="rId48"/>
    <p:sldId id="359" r:id="rId49"/>
    <p:sldId id="355" r:id="rId50"/>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3" roundtripDataSignature="AMtx7mg0pKP9ET3Wn++j4Y+QHcrKexx7a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94B972-DCD8-4A41-B254-406BE0F75871}">
  <a:tblStyle styleId="{EB94B972-DCD8-4A41-B254-406BE0F75871}" styleName="Table_0">
    <a:wholeTbl>
      <a:tcTxStyle b="off" i="off">
        <a:font>
          <a:latin typeface="Calibri Light"/>
          <a:ea typeface="Calibri Light"/>
          <a:cs typeface="Calibri Light"/>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499B5F8-CBB5-4DA8-9794-6E628168463D}" styleName="Table_1">
    <a:wholeTbl>
      <a:tcTxStyle b="off" i="off">
        <a:font>
          <a:latin typeface="Arial"/>
          <a:ea typeface="Arial"/>
          <a:cs typeface="Arial"/>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b="off" i="off"/>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fill>
          <a:solidFill>
            <a:schemeClr val="accent1"/>
          </a:solidFill>
        </a:fill>
      </a:tcStyle>
    </a:firstRow>
    <a:neCell>
      <a:tcTxStyle b="off" i="off"/>
      <a:tcStyle>
        <a:tcBdr/>
      </a:tcStyle>
    </a:neCell>
    <a:nwCell>
      <a:tcTxStyle b="off" i="off"/>
      <a:tcStyle>
        <a:tcBdr/>
      </a:tcStyle>
    </a:nwCell>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27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63"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6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 name="Google Shape;6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29" name="Google Shape;12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2: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1" name="Google Shape;131;p2: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5:notes"/>
          <p:cNvSpPr txBox="1">
            <a:spLocks noGrp="1"/>
          </p:cNvSpPr>
          <p:nvPr>
            <p:ph type="body" idx="1"/>
          </p:nvPr>
        </p:nvSpPr>
        <p:spPr>
          <a:xfrm>
            <a:off x="756000" y="5105465"/>
            <a:ext cx="6047640" cy="483656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35:notes"/>
          <p:cNvSpPr>
            <a:spLocks noGrp="1" noRot="1" noChangeAspect="1"/>
          </p:cNvSpPr>
          <p:nvPr>
            <p:ph type="sldImg" idx="2"/>
          </p:nvPr>
        </p:nvSpPr>
        <p:spPr>
          <a:xfrm>
            <a:off x="198438" y="817563"/>
            <a:ext cx="7162800" cy="40290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D5AFBA0-4B19-E273-AFA7-AF37B9F79711}"/>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6216F99D-52A3-9461-8332-C3849589FC1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6DF126E-5286-8CB0-54E5-3C3F7CAB95D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4497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7929197-5D5B-A455-103A-56761FD8F12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2B756139-F9B3-0291-4D6D-36F68B2546A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8BBE9809-5452-2572-3F33-245286E8E91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5353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7946677-0206-D59D-0BD9-46519CF9BC57}"/>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E9DD9980-F00A-8C51-7B6A-3239D6726E0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04BB0F6-C429-DBE3-D9C6-9192CB64B3B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4516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A71BFB70-4F53-6248-172C-FDA9B749563A}"/>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FD1D242-019E-648B-F1E5-67933AF6324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314398A-1FD9-5F97-53AC-7E3A5E444CA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537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0CE9DB3-FF3A-FC22-7458-41B1938A2089}"/>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D26A1670-54E8-B460-2A00-58B5E20AC62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E79E1B73-4E5F-B51E-4374-46381E9F1F9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8346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6A60210-0059-F1D6-D2D9-E0EA0E23F1A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9C7FCDA-78AC-518F-EC42-A7B3757EA7F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3C98E492-9FC0-0C04-67D2-90F3A7100A7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7782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54BD7FA-C394-6877-0851-9FA6FCB21D1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D8FA0153-D47E-7FEA-5D64-2FC694AACBA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DAFB1E7-540E-D3B1-9EF8-FC3FAEEB84A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596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9F1CE12-0193-E8EC-B394-A54D2D1BF024}"/>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FC2A7060-B40D-2381-0E5D-F4754CF477F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74C40BA0-6A3B-6530-E940-BC1C4A669CF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2061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C70132E-8148-9258-07A3-D2C7589F45A4}"/>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96C3C83-B4D4-FBDF-58F9-F8EC32C3445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35D955F-1056-55A4-1545-C3FD930B127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8941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115771E-4ACF-2F8C-9C46-A8E43362FF48}"/>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BDDCF89-A9D7-1DBC-A117-4173A92E27F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E3025F3-FB8A-DBBF-34A9-79B601CEA8E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1230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D2B7D07-9857-AAD1-6BE9-5A51E03E73D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63DBEEB-8116-0CB5-D855-9665EFE2C19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EE63789-E719-F3C9-CC3A-3A5F3BA484A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2870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3676A35-BAFB-663C-99F0-1A2087A99316}"/>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1FAB94D-B4C2-14CF-3CD9-975DDF6B56B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CFAA76A6-C82A-4E6E-8A27-F73BB7C04E6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4514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E11FDE2-A51C-345A-2223-C90858BF05F6}"/>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8E500E9-021E-5D29-5293-F8457734312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A31CB750-1345-ACF4-486F-D7ED400E123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9410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FB3E774-AE50-7AA6-360A-E63F81766B8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D7C73D2-CADD-FD3E-B462-72D7424C6D8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8BD3C673-6E91-6278-DF75-18C427F6901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4825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1AD2DB2-027E-EED9-C6CC-DB4A8230409A}"/>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FDBF541C-A456-8393-0B04-4D45473AD66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BD14735-280C-2365-9ED8-15787FBC172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5019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A1A9F86-D2E5-04DF-99C0-88B6C45278FC}"/>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BA8093B5-DA3F-0165-E727-7FCC7B83553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375541B2-51EC-9380-29BD-99AA99FB6ED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8290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FCA8D97-2BB6-6607-AFDE-7A542DC625C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D401570F-D051-24C1-C774-B0002455C19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3D9A491-50C2-DEF6-4DB0-D941437D6AC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9217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4CA310D2-647B-183A-1C6F-3D2F2A3DCB3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BB5258E9-3089-E1BE-76BB-1BA04AE4C25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551BE38-6F1E-3A56-6B92-AF1F6325B4B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58891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341A62F-599C-BE89-C34E-138201C153F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6EA5B2A9-9FE3-4CD4-8E4A-48545AB22B9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2E5ED16A-435B-279A-8640-FB19FF4027F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5127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EA402D2-E434-D83C-6D32-DF03AD62431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DB011463-4440-AEC7-9359-1EE3501972F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1F2C2AC7-C20E-CA08-CDEA-CCAFB8E8C9E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15414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FB966A4-7AB3-24C1-457B-243674ED012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1723E171-E45C-DEDC-577B-DBC6D6FE148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2AF62DDD-04AD-D638-ED00-73A0B94AB96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24999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B0EBFE1-8F7A-956E-170A-3E007A65182A}"/>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42AB791C-E3D9-BC13-2916-B3C0AA95CB5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061F2A5-6136-E9A3-42C8-7CCF5AE3BF0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87190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5:notes"/>
          <p:cNvSpPr txBox="1">
            <a:spLocks noGrp="1"/>
          </p:cNvSpPr>
          <p:nvPr>
            <p:ph type="body" idx="1"/>
          </p:nvPr>
        </p:nvSpPr>
        <p:spPr>
          <a:xfrm>
            <a:off x="756000" y="5105465"/>
            <a:ext cx="6047640" cy="483656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35:notes"/>
          <p:cNvSpPr>
            <a:spLocks noGrp="1" noRot="1" noChangeAspect="1"/>
          </p:cNvSpPr>
          <p:nvPr>
            <p:ph type="sldImg" idx="2"/>
          </p:nvPr>
        </p:nvSpPr>
        <p:spPr>
          <a:xfrm>
            <a:off x="198438" y="817563"/>
            <a:ext cx="7162800" cy="40290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90C868D-BFD7-26DD-6758-D64D3958C86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2772130-9300-13F3-AF93-DEB463A6DF7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0D843073-A24D-063B-6F05-C22F1F5901E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97985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670E39D-6153-6693-DE22-4CB59477DF98}"/>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9B85AD4E-5039-276F-B0AC-A5B7E1AF2AB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803695C3-E726-43AE-146B-7F01CE76D54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62307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C910ABA-1642-C68A-E77C-BADF52F3BE4B}"/>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D4CC9EC5-B775-D9C8-3C69-DBD2A53C199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C3C39215-329B-07F2-32CB-E9AEF84827E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5557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4E2AF51-AE03-C6EF-C97F-B1A2CD7D071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654D8D4-0AEA-8532-8710-2CE371881EA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ED56701A-DB22-B011-1ACA-E969692EDA5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1540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C2CD982-BE10-5A25-9580-E31D4C8F3F8E}"/>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B28BE502-1F75-3FFA-4F23-69DF876FF7A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676554A-AC63-FA21-26D0-B7235A9FA7F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7726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E2602EC-180F-FD5B-BBE7-AFFF06FF4D92}"/>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6FEFF0A3-034E-8B68-FC79-786934CD923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99B80351-48BF-00B8-8D10-A930FA1B2FB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78578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E0462C3A-5F8E-7D35-DC99-9043CD1B836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826120E5-FBCF-098A-F44D-B721C0017B1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07407FBE-11FA-8C92-77FC-D7B89559EBB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87848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D618DF2-544A-9DB2-24D5-BEA11BD9E11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4EE2ED1D-9C83-2DE4-99BC-64239F1D956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CBDCEB2F-25ED-1BEF-1505-9C7E8614031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6343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763D71F-A9B3-159C-BE3B-6A8F74C1E5A1}"/>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899C9F5-A0D4-004A-07B1-971A4C8ED8F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82DFEA1A-5AAF-7095-48A5-6F75ADB67DA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97019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8FC48CA-F664-C0CE-9497-08DEA69CBD0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525F88FF-66AA-1724-55ED-CE57567DEA0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8EBB5CB8-1DEA-35F0-7561-B3299B4EE35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48165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0FB7921-DEDE-C349-CF6B-895FA5CA74D1}"/>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C0AE410-FE76-A84E-F7C4-350EF5D1D4B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8B1BC71-73DB-FEFC-E9ED-E76889358C3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610276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5000BFF-7DAD-E09F-12C0-A29A5E9C9528}"/>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AEC83C0-90C3-75AC-D3B9-14EE2982173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BD70E606-D5A2-0146-02BE-02AFAE15C0F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5898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00785D9-BB16-128F-436E-981E25953E13}"/>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514EA080-1044-273C-6E7D-DEA898DFEF9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4DAF90FB-FB7D-810F-F658-A675BD233F3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28939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E4F68C4-0EC5-C377-759A-6ABEE3FD7DB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13FB0DDE-4EB0-A90C-C764-D8A36F5A0F8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0083909A-8BC1-7618-CCD3-41CB2FFE73F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9448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A3326761-9748-614D-EC74-433EDCAE4188}"/>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961A6584-BF79-40D9-F5E7-81389A00357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667A5AAA-92AB-5C2E-0F49-471DABC2E42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59935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CAC00ED-5B89-3415-6059-622F17BE9368}"/>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B5CCF693-C150-4C25-4F57-31BB4F6EAF3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442E45C-9CDA-FEAC-76BB-1D30C9EF78A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94587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96D00D5-5B4F-1CE3-4876-DF6EFEBE2245}"/>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30A38486-2992-6DD8-FE8C-CD4EA4A7247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E7E66FEF-D229-CDC0-FD22-AA2D55C83E1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66846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8519657-8CC1-8ADB-A0D1-37B0DA280069}"/>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24F10DB2-EF65-532D-DBF8-1E3C8ECB3C2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E72D7821-422C-E9A4-6101-CE81DFC133D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54686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08B449F-5E72-F88C-FED7-807906B903D1}"/>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A9F6C184-E980-D6CC-211B-73065360A8B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C0C9A395-A6EB-5B68-2AC1-F4CF7421AF8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39872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C3B5606-30B9-0310-B79D-CD9BCEB42932}"/>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C4B4D6F6-EA97-04C4-E3EC-DAC8532252B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51E29D22-2D10-9F14-F9C2-8007B5F1108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15105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BFB7AB4-BB5E-A2B3-87F3-F4458194C60D}"/>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00F13779-47EC-22CD-3715-CA04DD5FC12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7F95031E-40DB-0368-D3B7-846B2EE0EE8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53588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7A20A73-6599-B533-6E28-D51E1D625680}"/>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851B913D-E255-A581-4362-C1FB8B56F5C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57" name="Google Shape;157;p4:notes">
            <a:extLst>
              <a:ext uri="{FF2B5EF4-FFF2-40B4-BE49-F238E27FC236}">
                <a16:creationId xmlns:a16="http://schemas.microsoft.com/office/drawing/2014/main" id="{F756F145-07AB-0B9A-97FB-7A738B35D5C4}"/>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2725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142598D4-6732-AAB5-EDCE-802C07F351F2}"/>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0FD5361C-6A53-CE42-19EC-87CF812B9446}"/>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27E8DE43-7A6E-9FCC-2155-CA90AEF34EA1}"/>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C92D5F68-DF3F-9501-23EB-C655E7739DB3}"/>
              </a:ext>
            </a:extLst>
          </p:cNvPr>
          <p:cNvSpPr>
            <a:spLocks noGrp="1"/>
          </p:cNvSpPr>
          <p:nvPr>
            <p:ph type="dt" sz="half" idx="10"/>
          </p:nvPr>
        </p:nvSpPr>
        <p:spPr/>
        <p:txBody>
          <a:bodyPr/>
          <a:lstStyle>
            <a:lvl1pPr>
              <a:defRPr/>
            </a:lvl1pPr>
          </a:lstStyle>
          <a:p>
            <a:r>
              <a:rPr lang="es-ES"/>
              <a:t>2026</a:t>
            </a:r>
          </a:p>
        </p:txBody>
      </p:sp>
      <p:sp>
        <p:nvSpPr>
          <p:cNvPr id="8" name="Footer Placeholder 4">
            <a:extLst>
              <a:ext uri="{FF2B5EF4-FFF2-40B4-BE49-F238E27FC236}">
                <a16:creationId xmlns:a16="http://schemas.microsoft.com/office/drawing/2014/main" id="{39578BC0-A3B6-1665-5B61-2CD87BF60456}"/>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5">
            <a:extLst>
              <a:ext uri="{FF2B5EF4-FFF2-40B4-BE49-F238E27FC236}">
                <a16:creationId xmlns:a16="http://schemas.microsoft.com/office/drawing/2014/main" id="{0899E181-F4EF-9F20-1C34-CC32D9AC13C6}"/>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719222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31F18827-52D9-C232-1218-52068DE68229}"/>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39FCAD43-F384-3885-7C48-6D47C89CDCDA}"/>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6A7F588A-ACB3-E943-6E7F-D5584D119AE9}"/>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4007075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CC56A2B-B763-EE7C-8210-8C2B0FB3C15B}"/>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8BC78A59-0796-E719-86F0-8BCB770AC3DD}"/>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E9567528-AA35-1C7D-2DBD-9171B2B0532B}"/>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79AB8A14-738F-D17A-0F63-F46F0FAE570A}"/>
              </a:ext>
            </a:extLst>
          </p:cNvPr>
          <p:cNvSpPr>
            <a:spLocks noGrp="1"/>
          </p:cNvSpPr>
          <p:nvPr>
            <p:ph type="dt" sz="half" idx="10"/>
          </p:nvPr>
        </p:nvSpPr>
        <p:spPr/>
        <p:txBody>
          <a:bodyPr/>
          <a:lstStyle>
            <a:lvl1pPr>
              <a:defRPr/>
            </a:lvl1pPr>
          </a:lstStyle>
          <a:p>
            <a:r>
              <a:rPr lang="es-ES"/>
              <a:t>2026</a:t>
            </a:r>
          </a:p>
        </p:txBody>
      </p:sp>
      <p:sp>
        <p:nvSpPr>
          <p:cNvPr id="8" name="Footer Placeholder 4">
            <a:extLst>
              <a:ext uri="{FF2B5EF4-FFF2-40B4-BE49-F238E27FC236}">
                <a16:creationId xmlns:a16="http://schemas.microsoft.com/office/drawing/2014/main" id="{F7ACF765-EAB9-BBC1-97B9-C0B982E18854}"/>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5">
            <a:extLst>
              <a:ext uri="{FF2B5EF4-FFF2-40B4-BE49-F238E27FC236}">
                <a16:creationId xmlns:a16="http://schemas.microsoft.com/office/drawing/2014/main" id="{C15B4956-B019-1E79-20C1-0F74440249A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750866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7449FB5B-2DE3-F65E-7599-ABD9AE30AB9D}"/>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75DB940C-2ABF-66C8-BD5A-3E34D12C011E}"/>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02D5A00D-8EA9-4D0F-903E-C1EE7EB88EA5}"/>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4113845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8ABDF959-00A8-0F6C-C5DE-829C4B0EF4D6}"/>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677CF1AA-DA17-B45C-A119-055448D6507A}"/>
              </a:ext>
            </a:extLst>
          </p:cNvPr>
          <p:cNvSpPr>
            <a:spLocks noGrp="1"/>
          </p:cNvSpPr>
          <p:nvPr>
            <p:ph type="ftr" sz="quarter" idx="11"/>
          </p:nvPr>
        </p:nvSpPr>
        <p:spPr/>
        <p:txBody>
          <a:bodyPr/>
          <a:lstStyle>
            <a:lvl1pPr>
              <a:defRPr/>
            </a:lvl1pPr>
          </a:lstStyle>
          <a:p>
            <a:r>
              <a:rPr lang="es-ES"/>
              <a:t>INGENIERÍA DE SOFTWARE II</a:t>
            </a:r>
          </a:p>
        </p:txBody>
      </p:sp>
      <p:sp>
        <p:nvSpPr>
          <p:cNvPr id="8" name="Slide Number Placeholder 5">
            <a:extLst>
              <a:ext uri="{FF2B5EF4-FFF2-40B4-BE49-F238E27FC236}">
                <a16:creationId xmlns:a16="http://schemas.microsoft.com/office/drawing/2014/main" id="{8A9D703D-C207-2D61-E347-84574B37F8D4}"/>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053412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0B3A6A37-9A8E-98EB-440E-12DA43F64249}"/>
              </a:ext>
            </a:extLst>
          </p:cNvPr>
          <p:cNvSpPr>
            <a:spLocks noGrp="1"/>
          </p:cNvSpPr>
          <p:nvPr>
            <p:ph type="dt" sz="half" idx="10"/>
          </p:nvPr>
        </p:nvSpPr>
        <p:spPr/>
        <p:txBody>
          <a:bodyPr/>
          <a:lstStyle>
            <a:lvl1pPr>
              <a:defRPr/>
            </a:lvl1pPr>
          </a:lstStyle>
          <a:p>
            <a:r>
              <a:rPr lang="es-ES"/>
              <a:t>2026</a:t>
            </a:r>
          </a:p>
        </p:txBody>
      </p:sp>
      <p:sp>
        <p:nvSpPr>
          <p:cNvPr id="4" name="Footer Placeholder 4">
            <a:extLst>
              <a:ext uri="{FF2B5EF4-FFF2-40B4-BE49-F238E27FC236}">
                <a16:creationId xmlns:a16="http://schemas.microsoft.com/office/drawing/2014/main" id="{32A80760-8CDD-FE39-B524-4D7F15B03518}"/>
              </a:ext>
            </a:extLst>
          </p:cNvPr>
          <p:cNvSpPr>
            <a:spLocks noGrp="1"/>
          </p:cNvSpPr>
          <p:nvPr>
            <p:ph type="ftr" sz="quarter" idx="11"/>
          </p:nvPr>
        </p:nvSpPr>
        <p:spPr/>
        <p:txBody>
          <a:bodyPr/>
          <a:lstStyle>
            <a:lvl1pPr>
              <a:defRPr/>
            </a:lvl1pPr>
          </a:lstStyle>
          <a:p>
            <a:r>
              <a:rPr lang="es-ES"/>
              <a:t>INGENIERÍA DE SOFTWARE II</a:t>
            </a:r>
          </a:p>
        </p:txBody>
      </p:sp>
      <p:sp>
        <p:nvSpPr>
          <p:cNvPr id="5" name="Slide Number Placeholder 5">
            <a:extLst>
              <a:ext uri="{FF2B5EF4-FFF2-40B4-BE49-F238E27FC236}">
                <a16:creationId xmlns:a16="http://schemas.microsoft.com/office/drawing/2014/main" id="{28269958-B532-1DA6-2D70-60BF699C2AEE}"/>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802212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D505FF2-EF86-CEFE-D038-7FD781DD0E16}"/>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7A28C4D6-DCD5-C251-ADBF-F23371D17186}"/>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44F2B65B-D977-C265-7A37-2D99A7E43590}"/>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2C4CA509-25E2-43CA-11F3-50F7DE5A9B67}"/>
              </a:ext>
            </a:extLst>
          </p:cNvPr>
          <p:cNvSpPr>
            <a:spLocks noGrp="1"/>
          </p:cNvSpPr>
          <p:nvPr>
            <p:ph type="dt" sz="half" idx="10"/>
          </p:nvPr>
        </p:nvSpPr>
        <p:spPr/>
        <p:txBody>
          <a:bodyPr/>
          <a:lstStyle>
            <a:lvl1pPr>
              <a:defRPr/>
            </a:lvl1pPr>
          </a:lstStyle>
          <a:p>
            <a:r>
              <a:rPr lang="es-ES"/>
              <a:t>2026</a:t>
            </a:r>
          </a:p>
        </p:txBody>
      </p:sp>
      <p:sp>
        <p:nvSpPr>
          <p:cNvPr id="6" name="Footer Placeholder 7">
            <a:extLst>
              <a:ext uri="{FF2B5EF4-FFF2-40B4-BE49-F238E27FC236}">
                <a16:creationId xmlns:a16="http://schemas.microsoft.com/office/drawing/2014/main" id="{3447FD0E-EE47-C935-FA5B-9DF9F30D5FB7}"/>
              </a:ext>
            </a:extLst>
          </p:cNvPr>
          <p:cNvSpPr>
            <a:spLocks noGrp="1"/>
          </p:cNvSpPr>
          <p:nvPr>
            <p:ph type="ftr" sz="quarter" idx="11"/>
          </p:nvPr>
        </p:nvSpPr>
        <p:spPr/>
        <p:txBody>
          <a:bodyPr/>
          <a:lstStyle>
            <a:lvl1pPr>
              <a:defRPr>
                <a:solidFill>
                  <a:srgbClr val="FFFFFF"/>
                </a:solidFill>
              </a:defRPr>
            </a:lvl1pPr>
          </a:lstStyle>
          <a:p>
            <a:r>
              <a:rPr lang="es-ES"/>
              <a:t>INGENIERÍA DE SOFTWARE II</a:t>
            </a:r>
          </a:p>
        </p:txBody>
      </p:sp>
      <p:sp>
        <p:nvSpPr>
          <p:cNvPr id="7" name="Slide Number Placeholder 8">
            <a:extLst>
              <a:ext uri="{FF2B5EF4-FFF2-40B4-BE49-F238E27FC236}">
                <a16:creationId xmlns:a16="http://schemas.microsoft.com/office/drawing/2014/main" id="{A31F5CFA-3D64-62B4-31B1-B4FA93759044}"/>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18675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A4036AC-FE69-311C-933B-CB580E2238FE}"/>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0E4E8AE4-5A62-3360-B2B9-2183B9944560}"/>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B18415BE-1C74-1689-C57A-5CC7565CE737}"/>
              </a:ext>
            </a:extLst>
          </p:cNvPr>
          <p:cNvSpPr>
            <a:spLocks noGrp="1"/>
          </p:cNvSpPr>
          <p:nvPr>
            <p:ph type="dt" sz="half" idx="10"/>
          </p:nvPr>
        </p:nvSpPr>
        <p:spPr>
          <a:xfrm>
            <a:off x="465138" y="6459538"/>
            <a:ext cx="2619375" cy="365125"/>
          </a:xfrm>
        </p:spPr>
        <p:txBody>
          <a:bodyPr/>
          <a:lstStyle>
            <a:lvl1pPr algn="l">
              <a:defRPr/>
            </a:lvl1pPr>
          </a:lstStyle>
          <a:p>
            <a:r>
              <a:rPr lang="es-ES"/>
              <a:t>2026</a:t>
            </a:r>
          </a:p>
        </p:txBody>
      </p:sp>
      <p:sp>
        <p:nvSpPr>
          <p:cNvPr id="8" name="Footer Placeholder 5">
            <a:extLst>
              <a:ext uri="{FF2B5EF4-FFF2-40B4-BE49-F238E27FC236}">
                <a16:creationId xmlns:a16="http://schemas.microsoft.com/office/drawing/2014/main" id="{90E31687-06CD-9EB5-2F7C-B3798D352678}"/>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r>
              <a:rPr lang="es-ES"/>
              <a:t>INGENIERÍA DE SOFTWARE II</a:t>
            </a:r>
          </a:p>
        </p:txBody>
      </p:sp>
      <p:sp>
        <p:nvSpPr>
          <p:cNvPr id="9" name="Slide Number Placeholder 6">
            <a:extLst>
              <a:ext uri="{FF2B5EF4-FFF2-40B4-BE49-F238E27FC236}">
                <a16:creationId xmlns:a16="http://schemas.microsoft.com/office/drawing/2014/main" id="{E13E69A7-8B6C-3C6D-4F9A-D08E59C022E1}"/>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281226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D9F3D0D-33BE-F4A3-8EE3-5171DE6215AA}"/>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B29746C4-356B-6F5D-D4D6-F1551152925C}"/>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952D811F-7F2F-233A-68AC-3269396483AF}"/>
              </a:ext>
            </a:extLst>
          </p:cNvPr>
          <p:cNvSpPr>
            <a:spLocks noGrp="1"/>
          </p:cNvSpPr>
          <p:nvPr>
            <p:ph type="dt" sz="half" idx="10"/>
          </p:nvPr>
        </p:nvSpPr>
        <p:spPr/>
        <p:txBody>
          <a:bodyPr/>
          <a:lstStyle>
            <a:lvl1pPr>
              <a:defRPr/>
            </a:lvl1pPr>
          </a:lstStyle>
          <a:p>
            <a:r>
              <a:rPr lang="es-ES"/>
              <a:t>2026</a:t>
            </a:r>
          </a:p>
        </p:txBody>
      </p:sp>
      <p:sp>
        <p:nvSpPr>
          <p:cNvPr id="8" name="Footer Placeholder 5">
            <a:extLst>
              <a:ext uri="{FF2B5EF4-FFF2-40B4-BE49-F238E27FC236}">
                <a16:creationId xmlns:a16="http://schemas.microsoft.com/office/drawing/2014/main" id="{B7A64277-1D93-8BF7-4D63-BE17CCED95AB}"/>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6">
            <a:extLst>
              <a:ext uri="{FF2B5EF4-FFF2-40B4-BE49-F238E27FC236}">
                <a16:creationId xmlns:a16="http://schemas.microsoft.com/office/drawing/2014/main" id="{D8025CE3-337C-296C-3EE6-63AC04C9080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891080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48B7F49C-DA7D-A4CA-8573-93625EEF1D32}"/>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F88228A4-D4D3-99DB-9937-BF974D693A61}"/>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F8A3DDE1-451A-4BFD-0382-770ACE8CDE64}"/>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915037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031F0162-2ACD-CBA9-4F11-7EC593ED6DEB}"/>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DE6C46DD-2EF1-C1D0-AA35-33936222E7CD}"/>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5F184A43-80B4-DBFC-F6D4-96B0AE16E664}"/>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5262498C-A1F3-1A4A-5AF2-EFB9E6E8D835}"/>
              </a:ext>
            </a:extLst>
          </p:cNvPr>
          <p:cNvSpPr>
            <a:spLocks noGrp="1"/>
          </p:cNvSpPr>
          <p:nvPr>
            <p:ph type="ftr" sz="quarter" idx="11"/>
          </p:nvPr>
        </p:nvSpPr>
        <p:spPr/>
        <p:txBody>
          <a:bodyPr/>
          <a:lstStyle>
            <a:lvl1pPr>
              <a:defRPr/>
            </a:lvl1pPr>
          </a:lstStyle>
          <a:p>
            <a:r>
              <a:rPr lang="es-ES"/>
              <a:t>INGENIERÍA DE SOFTWARE II</a:t>
            </a:r>
          </a:p>
        </p:txBody>
      </p:sp>
      <p:sp>
        <p:nvSpPr>
          <p:cNvPr id="8" name="Slide Number Placeholder 5">
            <a:extLst>
              <a:ext uri="{FF2B5EF4-FFF2-40B4-BE49-F238E27FC236}">
                <a16:creationId xmlns:a16="http://schemas.microsoft.com/office/drawing/2014/main" id="{99C2212A-3EBF-71B0-302D-7D7DF70FC16D}"/>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263616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93963A1F-5EEC-B1CE-8A6E-CC2F66013A0A}"/>
              </a:ext>
            </a:extLst>
          </p:cNvPr>
          <p:cNvSpPr>
            <a:spLocks noGrp="1"/>
          </p:cNvSpPr>
          <p:nvPr>
            <p:ph type="dt" sz="half" idx="10"/>
          </p:nvPr>
        </p:nvSpPr>
        <p:spPr/>
        <p:txBody>
          <a:bodyPr/>
          <a:lstStyle>
            <a:lvl1pPr>
              <a:defRPr/>
            </a:lvl1pPr>
          </a:lstStyle>
          <a:p>
            <a:r>
              <a:rPr lang="es-ES"/>
              <a:t>2026</a:t>
            </a:r>
          </a:p>
        </p:txBody>
      </p:sp>
      <p:sp>
        <p:nvSpPr>
          <p:cNvPr id="3" name="Footer Placeholder 4">
            <a:extLst>
              <a:ext uri="{FF2B5EF4-FFF2-40B4-BE49-F238E27FC236}">
                <a16:creationId xmlns:a16="http://schemas.microsoft.com/office/drawing/2014/main" id="{49C1C60F-5DB6-DE12-1297-F95024616A4A}"/>
              </a:ext>
            </a:extLst>
          </p:cNvPr>
          <p:cNvSpPr>
            <a:spLocks noGrp="1"/>
          </p:cNvSpPr>
          <p:nvPr>
            <p:ph type="ftr" sz="quarter" idx="11"/>
          </p:nvPr>
        </p:nvSpPr>
        <p:spPr/>
        <p:txBody>
          <a:bodyPr/>
          <a:lstStyle>
            <a:lvl1pPr>
              <a:defRPr/>
            </a:lvl1pPr>
          </a:lstStyle>
          <a:p>
            <a:r>
              <a:rPr lang="es-ES"/>
              <a:t>INGENIERÍA DE SOFTWARE II</a:t>
            </a:r>
          </a:p>
        </p:txBody>
      </p:sp>
      <p:sp>
        <p:nvSpPr>
          <p:cNvPr id="4" name="Slide Number Placeholder 5">
            <a:extLst>
              <a:ext uri="{FF2B5EF4-FFF2-40B4-BE49-F238E27FC236}">
                <a16:creationId xmlns:a16="http://schemas.microsoft.com/office/drawing/2014/main" id="{B6B2A7B4-935D-EDB8-CC7F-72641B18AB9B}"/>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185150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89193657-8555-83CA-576E-42C9A44A8FC6}"/>
              </a:ext>
            </a:extLst>
          </p:cNvPr>
          <p:cNvSpPr>
            <a:spLocks noGrp="1"/>
          </p:cNvSpPr>
          <p:nvPr>
            <p:ph type="dt" sz="half" idx="10"/>
          </p:nvPr>
        </p:nvSpPr>
        <p:spPr/>
        <p:txBody>
          <a:bodyPr/>
          <a:lstStyle>
            <a:lvl1pPr>
              <a:defRPr/>
            </a:lvl1pPr>
          </a:lstStyle>
          <a:p>
            <a:r>
              <a:rPr lang="es-ES"/>
              <a:t>2026</a:t>
            </a:r>
          </a:p>
        </p:txBody>
      </p:sp>
      <p:sp>
        <p:nvSpPr>
          <p:cNvPr id="3" name="Footer Placeholder 4">
            <a:extLst>
              <a:ext uri="{FF2B5EF4-FFF2-40B4-BE49-F238E27FC236}">
                <a16:creationId xmlns:a16="http://schemas.microsoft.com/office/drawing/2014/main" id="{75CB4C39-55A3-E61D-863C-A963564D9056}"/>
              </a:ext>
            </a:extLst>
          </p:cNvPr>
          <p:cNvSpPr>
            <a:spLocks noGrp="1"/>
          </p:cNvSpPr>
          <p:nvPr>
            <p:ph type="ftr" sz="quarter" idx="11"/>
          </p:nvPr>
        </p:nvSpPr>
        <p:spPr/>
        <p:txBody>
          <a:bodyPr/>
          <a:lstStyle>
            <a:lvl1pPr>
              <a:defRPr/>
            </a:lvl1pPr>
          </a:lstStyle>
          <a:p>
            <a:r>
              <a:rPr lang="es-ES"/>
              <a:t>INGENIERÍA DE SOFTWARE II</a:t>
            </a:r>
          </a:p>
        </p:txBody>
      </p:sp>
      <p:sp>
        <p:nvSpPr>
          <p:cNvPr id="4" name="Slide Number Placeholder 5">
            <a:extLst>
              <a:ext uri="{FF2B5EF4-FFF2-40B4-BE49-F238E27FC236}">
                <a16:creationId xmlns:a16="http://schemas.microsoft.com/office/drawing/2014/main" id="{8A6ADFF3-4F7D-906F-6FE9-2F408E7E248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095354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C4E14F19-C953-0E44-D634-49EE5B4D5525}"/>
              </a:ext>
            </a:extLst>
          </p:cNvPr>
          <p:cNvSpPr>
            <a:spLocks noGrp="1"/>
          </p:cNvSpPr>
          <p:nvPr>
            <p:ph type="dt" sz="half" idx="10"/>
          </p:nvPr>
        </p:nvSpPr>
        <p:spPr/>
        <p:txBody>
          <a:bodyPr/>
          <a:lstStyle>
            <a:lvl1pPr>
              <a:defRPr/>
            </a:lvl1pPr>
          </a:lstStyle>
          <a:p>
            <a:r>
              <a:rPr lang="es-ES"/>
              <a:t>2026</a:t>
            </a:r>
          </a:p>
        </p:txBody>
      </p:sp>
      <p:sp>
        <p:nvSpPr>
          <p:cNvPr id="3" name="Footer Placeholder 5">
            <a:extLst>
              <a:ext uri="{FF2B5EF4-FFF2-40B4-BE49-F238E27FC236}">
                <a16:creationId xmlns:a16="http://schemas.microsoft.com/office/drawing/2014/main" id="{27594161-9947-42E7-FAC3-358908FCE4EF}"/>
              </a:ext>
            </a:extLst>
          </p:cNvPr>
          <p:cNvSpPr>
            <a:spLocks noGrp="1"/>
          </p:cNvSpPr>
          <p:nvPr>
            <p:ph type="ftr" sz="quarter" idx="11"/>
          </p:nvPr>
        </p:nvSpPr>
        <p:spPr/>
        <p:txBody>
          <a:bodyPr/>
          <a:lstStyle>
            <a:lvl1pPr>
              <a:defRPr/>
            </a:lvl1pPr>
          </a:lstStyle>
          <a:p>
            <a:r>
              <a:rPr lang="es-ES"/>
              <a:t>INGENIERÍA DE SOFTWARE II</a:t>
            </a:r>
          </a:p>
        </p:txBody>
      </p:sp>
      <p:sp>
        <p:nvSpPr>
          <p:cNvPr id="4" name="Slide Number Placeholder 6">
            <a:extLst>
              <a:ext uri="{FF2B5EF4-FFF2-40B4-BE49-F238E27FC236}">
                <a16:creationId xmlns:a16="http://schemas.microsoft.com/office/drawing/2014/main" id="{10B51C42-A391-1544-3436-71A158FED7C0}"/>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649026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E61E2B-B5B1-7F7D-0D0A-1FCE29963DE8}"/>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FDCC0592-B236-0A40-4DF8-83058D18AD54}"/>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B647C3DD-E721-F6DF-8CA8-2ADB4D58391C}"/>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775CD22F-EF76-47B4-8C73-A58225EDDDEB}"/>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4CFA23F6-E901-5071-E822-881230EEDDCE}"/>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r>
              <a:rPr lang="es-ES"/>
              <a:t>2026</a:t>
            </a:r>
          </a:p>
        </p:txBody>
      </p:sp>
      <p:sp>
        <p:nvSpPr>
          <p:cNvPr id="5" name="Footer Placeholder 4">
            <a:extLst>
              <a:ext uri="{FF2B5EF4-FFF2-40B4-BE49-F238E27FC236}">
                <a16:creationId xmlns:a16="http://schemas.microsoft.com/office/drawing/2014/main" id="{B61C70E9-85CA-0922-C7C1-3122664DEB8D}"/>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r>
              <a:rPr lang="es-ES"/>
              <a:t>INGENIERÍA DE SOFTWARE II</a:t>
            </a:r>
          </a:p>
        </p:txBody>
      </p:sp>
      <p:sp>
        <p:nvSpPr>
          <p:cNvPr id="6" name="Slide Number Placeholder 5">
            <a:extLst>
              <a:ext uri="{FF2B5EF4-FFF2-40B4-BE49-F238E27FC236}">
                <a16:creationId xmlns:a16="http://schemas.microsoft.com/office/drawing/2014/main" id="{B1DAD34A-E9DD-78A7-541C-2481B848E67A}"/>
              </a:ext>
            </a:extLst>
          </p:cNvPr>
          <p:cNvSpPr>
            <a:spLocks noGrp="1"/>
          </p:cNvSpPr>
          <p:nvPr>
            <p:ph type="sldNum" sz="quarter" idx="4"/>
          </p:nvPr>
        </p:nvSpPr>
        <p:spPr>
          <a:xfrm>
            <a:off x="9901238" y="6459538"/>
            <a:ext cx="1311275"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AR" smtClean="0"/>
              <a:t>‹Nº›</a:t>
            </a:fld>
            <a:endParaRPr lang="es-AR"/>
          </a:p>
        </p:txBody>
      </p:sp>
      <p:cxnSp>
        <p:nvCxnSpPr>
          <p:cNvPr id="10" name="Straight Connector 9">
            <a:extLst>
              <a:ext uri="{FF2B5EF4-FFF2-40B4-BE49-F238E27FC236}">
                <a16:creationId xmlns:a16="http://schemas.microsoft.com/office/drawing/2014/main" id="{0E8BFDF1-02D0-094B-6D80-2DF27F3AE38E}"/>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FABB4186-5EDD-22B8-DBAD-169B2B1DDC83}"/>
              </a:ext>
            </a:extLst>
          </p:cNvPr>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72699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hdr="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hyperlink" Target="https://www.cs.umd.edu/~basili/publications/technical/T78.pdf"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hyperlink" Target="https://planningpokeronline.com/"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hyperlink" Target="https://strs.grc.nasa.gov/repository/forms/cocomo-calculation" TargetMode="External"/><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hyperlink" Target="https://strs.grc.nasa.gov/repository/forms/cocomo-calculation/"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lvl="0">
              <a:spcBef>
                <a:spcPts val="0"/>
              </a:spcBef>
              <a:spcAft>
                <a:spcPts val="0"/>
              </a:spcAft>
              <a:buClr>
                <a:schemeClr val="dk2"/>
              </a:buClr>
              <a:buSzPts val="7200"/>
            </a:pPr>
            <a:r>
              <a:rPr lang="es-AR" dirty="0"/>
              <a:t>Ingeniería de Software II</a:t>
            </a:r>
            <a:endParaRPr b="1" dirty="0">
              <a:solidFill>
                <a:srgbClr val="4A6617"/>
              </a:solidFill>
            </a:endParaRPr>
          </a:p>
        </p:txBody>
      </p:sp>
      <p:sp>
        <p:nvSpPr>
          <p:cNvPr id="65" name="Google Shape;65;p2"/>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lvl="0">
              <a:spcBef>
                <a:spcPts val="0"/>
              </a:spcBef>
              <a:spcAft>
                <a:spcPts val="0"/>
              </a:spcAft>
              <a:buSzPts val="2300"/>
            </a:pPr>
            <a:r>
              <a:rPr lang="es-AR" dirty="0"/>
              <a:t>2026 – CLASE 7</a:t>
            </a:r>
          </a:p>
        </p:txBody>
      </p:sp>
      <p:sp>
        <p:nvSpPr>
          <p:cNvPr id="3" name="Marcador de pie de página 2">
            <a:extLst>
              <a:ext uri="{FF2B5EF4-FFF2-40B4-BE49-F238E27FC236}">
                <a16:creationId xmlns:a16="http://schemas.microsoft.com/office/drawing/2014/main" id="{0C52CB20-B78C-1990-D42A-63E20E8EF6BF}"/>
              </a:ext>
            </a:extLst>
          </p:cNvPr>
          <p:cNvSpPr>
            <a:spLocks noGrp="1"/>
          </p:cNvSpPr>
          <p:nvPr>
            <p:ph type="ftr" sz="quarter" idx="11"/>
          </p:nvPr>
        </p:nvSpPr>
        <p:spPr/>
        <p:txBody>
          <a:bodyPr/>
          <a:lstStyle/>
          <a:p>
            <a:r>
              <a:rPr lang="es-ES" dirty="0"/>
              <a:t>INGENIERÍA DE SOFTWARE II</a:t>
            </a:r>
          </a:p>
        </p:txBody>
      </p:sp>
      <p:sp>
        <p:nvSpPr>
          <p:cNvPr id="5" name="Google Shape;139;p2">
            <a:extLst>
              <a:ext uri="{FF2B5EF4-FFF2-40B4-BE49-F238E27FC236}">
                <a16:creationId xmlns:a16="http://schemas.microsoft.com/office/drawing/2014/main" id="{96B343B4-C220-21D8-663E-A95EB26AE944}"/>
              </a:ext>
            </a:extLst>
          </p:cNvPr>
          <p:cNvSpPr txBox="1">
            <a:spLocks/>
          </p:cNvSpPr>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defPPr>
              <a:defRPr lang="en-US"/>
            </a:defPPr>
            <a:lvl1pPr algn="r" defTabSz="457200" rtl="0" eaLnBrk="1" fontAlgn="auto" hangingPunct="1">
              <a:spcBef>
                <a:spcPts val="0"/>
              </a:spcBef>
              <a:spcAft>
                <a:spcPts val="0"/>
              </a:spcAft>
              <a:defRPr sz="1050" kern="1200" smtClean="0">
                <a:solidFill>
                  <a:srgbClr val="FFFFFF"/>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buSzPts val="1000"/>
            </a:pPr>
            <a:fld id="{00000000-1234-1234-1234-123412341234}" type="slidenum">
              <a:rPr lang="es-AR" smtClean="0"/>
              <a:pPr>
                <a:buSzPts val="1000"/>
              </a:pPr>
              <a:t>1</a:t>
            </a:fld>
            <a:endParaRPr lang="es-AR">
              <a:solidFill>
                <a:srgbClr val="000000"/>
              </a:solidFill>
              <a:latin typeface="Times New Roman"/>
              <a:ea typeface="Times New Roman"/>
              <a:cs typeface="Times New Roman"/>
              <a:sym typeface="Times New Roman"/>
            </a:endParaRPr>
          </a:p>
        </p:txBody>
      </p:sp>
      <p:sp>
        <p:nvSpPr>
          <p:cNvPr id="6" name="Google Shape;137;p2">
            <a:extLst>
              <a:ext uri="{FF2B5EF4-FFF2-40B4-BE49-F238E27FC236}">
                <a16:creationId xmlns:a16="http://schemas.microsoft.com/office/drawing/2014/main" id="{E76F2B96-E0E5-4767-88C2-D55D769E397B}"/>
              </a:ext>
            </a:extLst>
          </p:cNvPr>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96" tIns="44636" rIns="89296" bIns="44636" anchor="t" anchorCtr="0">
            <a:noAutofit/>
          </a:bodyPr>
          <a:lstStyle/>
          <a:p>
            <a:pPr>
              <a:spcBef>
                <a:spcPts val="0"/>
              </a:spcBef>
              <a:spcAft>
                <a:spcPts val="0"/>
              </a:spcAft>
              <a:buClr>
                <a:srgbClr val="000000"/>
              </a:buClr>
              <a:buSzPts val="1400"/>
            </a:pPr>
            <a:endParaRPr sz="1367">
              <a:solidFill>
                <a:srgbClr val="000000"/>
              </a:solidFill>
              <a:latin typeface="Arial"/>
              <a:ea typeface="Arial"/>
              <a:cs typeface="Arial"/>
              <a:sym typeface="Arial"/>
            </a:endParaRPr>
          </a:p>
        </p:txBody>
      </p:sp>
      <p:sp>
        <p:nvSpPr>
          <p:cNvPr id="135" name="Google Shape;135;p2"/>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nSpc>
                <a:spcPct val="85000"/>
              </a:lnSpc>
              <a:spcBef>
                <a:spcPts val="1642"/>
              </a:spcBef>
              <a:spcAft>
                <a:spcPts val="0"/>
              </a:spcAft>
              <a:buClr>
                <a:srgbClr val="C00000"/>
              </a:buClr>
              <a:buSzPts val="3600"/>
              <a:buFont typeface="Noto Sans Symbols"/>
              <a:buChar char="❖"/>
            </a:pPr>
            <a:r>
              <a:rPr lang="es-AR" sz="3516" dirty="0">
                <a:solidFill>
                  <a:srgbClr val="000000"/>
                </a:solidFill>
                <a:latin typeface="Calibri"/>
                <a:ea typeface="Calibri"/>
                <a:cs typeface="Calibri"/>
                <a:sym typeface="Calibri"/>
              </a:rPr>
              <a:t>Gestión de Proyectos</a:t>
            </a:r>
            <a:endParaRPr sz="3516" dirty="0">
              <a:solidFill>
                <a:srgbClr val="000000"/>
              </a:solidFill>
              <a:latin typeface="Arial"/>
              <a:ea typeface="Arial"/>
              <a:cs typeface="Arial"/>
              <a:sym typeface="Arial"/>
            </a:endParaRPr>
          </a:p>
          <a:p>
            <a:pPr marL="1451454" lvl="3" indent="-558360">
              <a:lnSpc>
                <a:spcPct val="85000"/>
              </a:lnSpc>
              <a:spcBef>
                <a:spcPts val="756"/>
              </a:spcBef>
              <a:spcAft>
                <a:spcPts val="0"/>
              </a:spcAft>
              <a:buClr>
                <a:srgbClr val="000000"/>
              </a:buClr>
              <a:buSzPts val="3600"/>
              <a:buFont typeface="Arial"/>
              <a:buChar char="•"/>
            </a:pPr>
            <a:r>
              <a:rPr lang="es-ES" sz="3516" dirty="0">
                <a:solidFill>
                  <a:srgbClr val="000000"/>
                </a:solidFill>
                <a:latin typeface="Calibri"/>
                <a:ea typeface="Calibri"/>
                <a:cs typeface="Calibri"/>
                <a:sym typeface="Calibri"/>
              </a:rPr>
              <a:t>Métricas</a:t>
            </a:r>
          </a:p>
          <a:p>
            <a:pPr marL="1451454" lvl="3" indent="-558360">
              <a:lnSpc>
                <a:spcPct val="85000"/>
              </a:lnSpc>
              <a:spcBef>
                <a:spcPts val="756"/>
              </a:spcBef>
              <a:spcAft>
                <a:spcPts val="0"/>
              </a:spcAft>
              <a:buClr>
                <a:srgbClr val="000000"/>
              </a:buClr>
              <a:buSzPts val="3600"/>
              <a:buFont typeface="Arial"/>
              <a:buChar char="•"/>
            </a:pPr>
            <a:r>
              <a:rPr lang="es-ES" sz="3516" dirty="0">
                <a:solidFill>
                  <a:srgbClr val="000000"/>
                </a:solidFill>
                <a:latin typeface="Calibri"/>
                <a:ea typeface="Arial"/>
                <a:cs typeface="Calibri"/>
                <a:sym typeface="Calibri"/>
              </a:rPr>
              <a:t>Estimaciones</a:t>
            </a:r>
            <a:endParaRPr sz="3516" dirty="0">
              <a:solidFill>
                <a:srgbClr val="000000"/>
              </a:solidFill>
              <a:latin typeface="Arial"/>
              <a:ea typeface="Arial"/>
              <a:cs typeface="Arial"/>
              <a:sym typeface="Arial"/>
            </a:endParaRPr>
          </a:p>
          <a:p>
            <a:pPr>
              <a:lnSpc>
                <a:spcPct val="85000"/>
              </a:lnSpc>
              <a:spcBef>
                <a:spcPts val="1642"/>
              </a:spcBef>
              <a:spcAft>
                <a:spcPts val="0"/>
              </a:spcAft>
              <a:buClr>
                <a:srgbClr val="000000"/>
              </a:buClr>
              <a:buSzPts val="3600"/>
            </a:pPr>
            <a:endParaRPr sz="3516" dirty="0">
              <a:solidFill>
                <a:srgbClr val="000000"/>
              </a:solidFill>
              <a:latin typeface="Arial"/>
              <a:ea typeface="Arial"/>
              <a:cs typeface="Arial"/>
              <a:sym typeface="Arial"/>
            </a:endParaRPr>
          </a:p>
        </p:txBody>
      </p:sp>
      <p:sp>
        <p:nvSpPr>
          <p:cNvPr id="136" name="Google Shape;136;p2"/>
          <p:cNvSpPr txBox="1">
            <a:spLocks noGrp="1"/>
          </p:cNvSpPr>
          <p:nvPr>
            <p:ph type="title"/>
          </p:nvPr>
        </p:nvSpPr>
        <p:spPr>
          <a:xfrm>
            <a:off x="1222279" y="287339"/>
            <a:ext cx="9806257" cy="1449387"/>
          </a:xfrm>
          <a:prstGeom prst="rect">
            <a:avLst/>
          </a:prstGeom>
          <a:noFill/>
          <a:ln>
            <a:noFill/>
          </a:ln>
        </p:spPr>
        <p:txBody>
          <a:bodyPr spcFirstLastPara="1" vert="horz" wrap="square" lIns="89296" tIns="44636" rIns="89296" bIns="44636" rtlCol="0" anchor="b" anchorCtr="0">
            <a:noAutofit/>
          </a:bodyPr>
          <a:lstStyle/>
          <a:p>
            <a:pPr>
              <a:spcBef>
                <a:spcPts val="0"/>
              </a:spcBef>
              <a:spcAft>
                <a:spcPts val="0"/>
              </a:spcAft>
            </a:pPr>
            <a:r>
              <a:rPr lang="es-AR"/>
              <a:t>Contenidos</a:t>
            </a:r>
            <a:endParaRPr/>
          </a:p>
        </p:txBody>
      </p:sp>
      <p:sp>
        <p:nvSpPr>
          <p:cNvPr id="137" name="Google Shape;137;p2"/>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
        <p:nvSpPr>
          <p:cNvPr id="138" name="Google Shape;138;p2"/>
          <p:cNvSpPr txBox="1">
            <a:spLocks noGrp="1"/>
          </p:cNvSpPr>
          <p:nvPr>
            <p:ph type="ftr" idx="11"/>
          </p:nvPr>
        </p:nvSpPr>
        <p:spPr>
          <a:xfrm>
            <a:off x="3746586" y="6459540"/>
            <a:ext cx="4701927" cy="365125"/>
          </a:xfrm>
          <a:prstGeom prst="rect">
            <a:avLst/>
          </a:prstGeom>
          <a:noFill/>
          <a:ln>
            <a:noFill/>
          </a:ln>
        </p:spPr>
        <p:txBody>
          <a:bodyPr spcFirstLastPara="1" vert="horz" wrap="square" lIns="89296" tIns="44636" rIns="89296" bIns="44636" rtlCol="0" anchor="ctr" anchorCtr="0">
            <a:noAutofit/>
          </a:bodyPr>
          <a:lstStyle/>
          <a:p>
            <a:r>
              <a:rPr lang="es-AR"/>
              <a:t>INGENIERÍA DE SOFTWARE II</a:t>
            </a:r>
            <a:endParaRPr/>
          </a:p>
        </p:txBody>
      </p:sp>
      <p:sp>
        <p:nvSpPr>
          <p:cNvPr id="139" name="Google Shape;139;p2"/>
          <p:cNvSpPr txBox="1">
            <a:spLocks noGrp="1"/>
          </p:cNvSpPr>
          <p:nvPr>
            <p:ph type="sldNum" idx="12"/>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p>
            <a:pPr>
              <a:buSzPts val="1000"/>
            </a:pPr>
            <a:fld id="{00000000-1234-1234-1234-123412341234}" type="slidenum">
              <a:rPr lang="es-AR"/>
              <a:pPr>
                <a:buSzPts val="1000"/>
              </a:pPr>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5"/>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a:t>Gestión de Proyectos	</a:t>
            </a:r>
            <a:endParaRPr/>
          </a:p>
        </p:txBody>
      </p:sp>
      <p:sp>
        <p:nvSpPr>
          <p:cNvPr id="150" name="Google Shape;150;p35"/>
          <p:cNvSpPr txBox="1">
            <a:spLocks noGrp="1"/>
          </p:cNvSpPr>
          <p:nvPr>
            <p:ph type="body" idx="1"/>
          </p:nvPr>
        </p:nvSpPr>
        <p:spPr>
          <a:xfrm>
            <a:off x="4800600" y="731520"/>
            <a:ext cx="6614652" cy="5257800"/>
          </a:xfrm>
          <a:prstGeom prst="rect">
            <a:avLst/>
          </a:prstGeom>
          <a:noFill/>
          <a:ln>
            <a:noFill/>
          </a:ln>
        </p:spPr>
        <p:txBody>
          <a:bodyPr spcFirstLastPara="1" wrap="square" lIns="0" tIns="45700" rIns="0" bIns="45700" anchor="t" anchorCtr="0">
            <a:noAutofit/>
          </a:bodyPr>
          <a:lstStyle/>
          <a:p>
            <a:pPr marL="530225" lvl="0" indent="-530225" algn="just" rtl="0">
              <a:lnSpc>
                <a:spcPct val="90000"/>
              </a:lnSpc>
              <a:spcBef>
                <a:spcPts val="0"/>
              </a:spcBef>
              <a:spcAft>
                <a:spcPts val="1200"/>
              </a:spcAft>
              <a:buClr>
                <a:srgbClr val="C00000"/>
              </a:buClr>
              <a:buSzPts val="3000"/>
              <a:buFont typeface="Wingdings" panose="05000000000000000000" pitchFamily="2" charset="2"/>
              <a:buChar char="v"/>
            </a:pPr>
            <a:r>
              <a:rPr lang="es-AR" sz="3000" dirty="0">
                <a:solidFill>
                  <a:schemeClr val="tx1"/>
                </a:solidFill>
              </a:rPr>
              <a:t>La</a:t>
            </a:r>
            <a:r>
              <a:rPr lang="es-ES" sz="3000" dirty="0">
                <a:solidFill>
                  <a:schemeClr val="tx1"/>
                </a:solidFill>
              </a:rPr>
              <a:t>s métricas son fundamentales para gestionar y mejorar procesos o sistemas. </a:t>
            </a:r>
          </a:p>
          <a:p>
            <a:pPr marL="530225" lvl="0" indent="-530225" algn="just" rtl="0">
              <a:lnSpc>
                <a:spcPct val="90000"/>
              </a:lnSpc>
              <a:spcBef>
                <a:spcPts val="0"/>
              </a:spcBef>
              <a:spcAft>
                <a:spcPts val="1200"/>
              </a:spcAft>
              <a:buClr>
                <a:srgbClr val="C00000"/>
              </a:buClr>
              <a:buSzPts val="3000"/>
              <a:buFont typeface="Wingdings" panose="05000000000000000000" pitchFamily="2" charset="2"/>
              <a:buChar char="v"/>
            </a:pPr>
            <a:r>
              <a:rPr lang="es-ES" sz="3000" dirty="0">
                <a:solidFill>
                  <a:schemeClr val="tx1"/>
                </a:solidFill>
              </a:rPr>
              <a:t>Se apoyan en cuatro objetivos principales:</a:t>
            </a:r>
          </a:p>
          <a:p>
            <a:pPr marL="811213" lvl="0" indent="-280988" algn="just" rtl="0">
              <a:lnSpc>
                <a:spcPct val="90000"/>
              </a:lnSpc>
              <a:spcBef>
                <a:spcPts val="0"/>
              </a:spcBef>
              <a:spcAft>
                <a:spcPts val="1200"/>
              </a:spcAft>
              <a:buClr>
                <a:srgbClr val="C00000"/>
              </a:buClr>
              <a:buSzPts val="3000"/>
              <a:buFont typeface="Arial" panose="020B0604020202020204" pitchFamily="34" charset="0"/>
              <a:buChar char="•"/>
            </a:pPr>
            <a:r>
              <a:rPr lang="es-ES" sz="2800" dirty="0">
                <a:solidFill>
                  <a:schemeClr val="tx1"/>
                </a:solidFill>
              </a:rPr>
              <a:t>Entender</a:t>
            </a:r>
          </a:p>
          <a:p>
            <a:pPr marL="811213" lvl="0" indent="-280988" algn="just" rtl="0">
              <a:lnSpc>
                <a:spcPct val="90000"/>
              </a:lnSpc>
              <a:spcBef>
                <a:spcPts val="0"/>
              </a:spcBef>
              <a:spcAft>
                <a:spcPts val="1200"/>
              </a:spcAft>
              <a:buClr>
                <a:srgbClr val="C00000"/>
              </a:buClr>
              <a:buSzPts val="3000"/>
              <a:buFont typeface="Arial" panose="020B0604020202020204" pitchFamily="34" charset="0"/>
              <a:buChar char="•"/>
            </a:pPr>
            <a:r>
              <a:rPr lang="es-ES" sz="2800" dirty="0">
                <a:solidFill>
                  <a:schemeClr val="tx1"/>
                </a:solidFill>
              </a:rPr>
              <a:t>Controlar </a:t>
            </a:r>
          </a:p>
          <a:p>
            <a:pPr marL="811213" lvl="0" indent="-280988" algn="just" rtl="0">
              <a:lnSpc>
                <a:spcPct val="90000"/>
              </a:lnSpc>
              <a:spcBef>
                <a:spcPts val="0"/>
              </a:spcBef>
              <a:spcAft>
                <a:spcPts val="1200"/>
              </a:spcAft>
              <a:buClr>
                <a:srgbClr val="C00000"/>
              </a:buClr>
              <a:buSzPts val="3000"/>
              <a:buFont typeface="Arial" panose="020B0604020202020204" pitchFamily="34" charset="0"/>
              <a:buChar char="•"/>
            </a:pPr>
            <a:r>
              <a:rPr lang="es-ES" sz="2800" dirty="0">
                <a:solidFill>
                  <a:schemeClr val="tx1"/>
                </a:solidFill>
              </a:rPr>
              <a:t>Mejorar </a:t>
            </a:r>
          </a:p>
          <a:p>
            <a:pPr marL="811213" lvl="0" indent="-280988" algn="just" rtl="0">
              <a:lnSpc>
                <a:spcPct val="90000"/>
              </a:lnSpc>
              <a:spcBef>
                <a:spcPts val="0"/>
              </a:spcBef>
              <a:spcAft>
                <a:spcPts val="1200"/>
              </a:spcAft>
              <a:buClr>
                <a:srgbClr val="C00000"/>
              </a:buClr>
              <a:buSzPts val="3000"/>
              <a:buFont typeface="Arial" panose="020B0604020202020204" pitchFamily="34" charset="0"/>
              <a:buChar char="•"/>
            </a:pPr>
            <a:r>
              <a:rPr lang="es-ES" sz="2800" dirty="0">
                <a:solidFill>
                  <a:schemeClr val="tx1"/>
                </a:solidFill>
              </a:rPr>
              <a:t>Evaluar</a:t>
            </a:r>
          </a:p>
          <a:p>
            <a:pPr lvl="0" algn="just" rtl="0">
              <a:lnSpc>
                <a:spcPct val="90000"/>
              </a:lnSpc>
              <a:spcBef>
                <a:spcPts val="0"/>
              </a:spcBef>
              <a:spcAft>
                <a:spcPts val="1200"/>
              </a:spcAft>
              <a:buClr>
                <a:srgbClr val="C00000"/>
              </a:buClr>
              <a:buSzPts val="3000"/>
              <a:buFont typeface="Arial" panose="020B0604020202020204" pitchFamily="34" charset="0"/>
              <a:buChar char="•"/>
            </a:pPr>
            <a:endParaRPr dirty="0">
              <a:solidFill>
                <a:schemeClr val="tx1"/>
              </a:solidFill>
            </a:endParaRPr>
          </a:p>
          <a:p>
            <a:pPr marL="90488" lvl="0" indent="0" algn="l" rtl="0">
              <a:lnSpc>
                <a:spcPct val="90000"/>
              </a:lnSpc>
              <a:spcBef>
                <a:spcPts val="1400"/>
              </a:spcBef>
              <a:spcAft>
                <a:spcPts val="0"/>
              </a:spcAft>
              <a:buSzPts val="2000"/>
              <a:buNone/>
            </a:pPr>
            <a:endParaRPr dirty="0">
              <a:solidFill>
                <a:schemeClr val="tx1"/>
              </a:solidFill>
            </a:endParaRPr>
          </a:p>
        </p:txBody>
      </p:sp>
      <p:sp>
        <p:nvSpPr>
          <p:cNvPr id="151" name="Google Shape;151;p35"/>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500"/>
              <a:buNone/>
            </a:pPr>
            <a:r>
              <a:rPr lang="es-AR" dirty="0"/>
              <a:t>Métricas</a:t>
            </a:r>
            <a:endParaRPr dirty="0"/>
          </a:p>
        </p:txBody>
      </p:sp>
      <p:sp>
        <p:nvSpPr>
          <p:cNvPr id="152" name="Google Shape;152;p35"/>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53" name="Google Shape;153;p35"/>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INGENIERÍA DE SOFTWARE II</a:t>
            </a:r>
            <a:endParaRPr/>
          </a:p>
        </p:txBody>
      </p:sp>
      <p:sp>
        <p:nvSpPr>
          <p:cNvPr id="154" name="Google Shape;154;p3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a:t>
            </a:fld>
            <a:endParaRPr/>
          </a:p>
        </p:txBody>
      </p:sp>
      <p:pic>
        <p:nvPicPr>
          <p:cNvPr id="2" name="Google Shape;81;p4" descr="Análisis Web E Información. Estrategia De Negocios. Optimización ...">
            <a:extLst>
              <a:ext uri="{FF2B5EF4-FFF2-40B4-BE49-F238E27FC236}">
                <a16:creationId xmlns:a16="http://schemas.microsoft.com/office/drawing/2014/main" id="{1C16DF94-BCF0-8EE7-CF83-6C7E4F2DC836}"/>
              </a:ext>
            </a:extLst>
          </p:cNvPr>
          <p:cNvPicPr preferRelativeResize="0"/>
          <p:nvPr/>
        </p:nvPicPr>
        <p:blipFill rotWithShape="1">
          <a:blip r:embed="rId3">
            <a:alphaModFix/>
          </a:blip>
          <a:srcRect/>
          <a:stretch/>
        </p:blipFill>
        <p:spPr>
          <a:xfrm>
            <a:off x="8219923" y="3657344"/>
            <a:ext cx="3873909" cy="280219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 Definiciones</a:t>
            </a:r>
            <a:endParaRPr dirty="0"/>
          </a:p>
        </p:txBody>
      </p:sp>
      <p:sp>
        <p:nvSpPr>
          <p:cNvPr id="160" name="Google Shape;160;p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a:t>
            </a:fld>
            <a:endParaRPr/>
          </a:p>
        </p:txBody>
      </p:sp>
      <p:sp>
        <p:nvSpPr>
          <p:cNvPr id="163" name="Google Shape;163;p4"/>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2800" dirty="0">
                <a:solidFill>
                  <a:schemeClr val="dk1"/>
                </a:solidFill>
              </a:rPr>
              <a:t>A diferencia de una simple medida, una métrica a menudo implica un cálculo o una fórmula que relaciona varias medidas para proporcionar una comprensión más profunda</a:t>
            </a:r>
            <a:r>
              <a:rPr lang="es-AR" sz="2800" dirty="0">
                <a:solidFill>
                  <a:schemeClr val="dk1"/>
                </a:solidFill>
              </a:rPr>
              <a:t>. </a:t>
            </a:r>
          </a:p>
          <a:p>
            <a:pPr marL="530225" lvl="0" indent="-530225" algn="just" rtl="0">
              <a:lnSpc>
                <a:spcPct val="85000"/>
              </a:lnSpc>
              <a:spcBef>
                <a:spcPts val="0"/>
              </a:spcBef>
              <a:spcAft>
                <a:spcPts val="0"/>
              </a:spcAft>
              <a:buClr>
                <a:srgbClr val="C00000"/>
              </a:buClr>
              <a:buFont typeface="Noto Sans Symbols"/>
              <a:buChar char="❖"/>
            </a:pPr>
            <a:r>
              <a:rPr lang="es-ES" sz="2800" dirty="0">
                <a:solidFill>
                  <a:schemeClr val="dk1"/>
                </a:solidFill>
              </a:rPr>
              <a:t>Suele involucrar datos organizados y analizados para aportar significado.</a:t>
            </a:r>
            <a:endParaRPr sz="28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92967878-961D-BC54-44D6-54CFDE39871A}"/>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6CD04657-F45A-7586-A789-E347C405E47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 Definiciones</a:t>
            </a:r>
            <a:endParaRPr dirty="0"/>
          </a:p>
        </p:txBody>
      </p:sp>
      <p:sp>
        <p:nvSpPr>
          <p:cNvPr id="160" name="Google Shape;160;p4">
            <a:extLst>
              <a:ext uri="{FF2B5EF4-FFF2-40B4-BE49-F238E27FC236}">
                <a16:creationId xmlns:a16="http://schemas.microsoft.com/office/drawing/2014/main" id="{0376A8E6-7EC9-9DD2-0C59-9F1BB8550BB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AF68FB2A-2C93-9921-62B0-FACC5A22849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B667D3E1-10D6-3916-8C89-495BC9C9CCF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a:t>
            </a:fld>
            <a:endParaRPr/>
          </a:p>
        </p:txBody>
      </p:sp>
      <p:pic>
        <p:nvPicPr>
          <p:cNvPr id="2" name="Google Shape;90;p5" descr="Resultado de imagen para medicion">
            <a:extLst>
              <a:ext uri="{FF2B5EF4-FFF2-40B4-BE49-F238E27FC236}">
                <a16:creationId xmlns:a16="http://schemas.microsoft.com/office/drawing/2014/main" id="{88CFBE88-E0DF-237D-050A-53BF4CA6611C}"/>
              </a:ext>
            </a:extLst>
          </p:cNvPr>
          <p:cNvPicPr preferRelativeResize="0"/>
          <p:nvPr/>
        </p:nvPicPr>
        <p:blipFill rotWithShape="1">
          <a:blip r:embed="rId3">
            <a:alphaModFix/>
          </a:blip>
          <a:srcRect t="4582" r="8647"/>
          <a:stretch/>
        </p:blipFill>
        <p:spPr>
          <a:xfrm>
            <a:off x="7371223" y="2472394"/>
            <a:ext cx="2088232" cy="1183853"/>
          </a:xfrm>
          <a:prstGeom prst="rect">
            <a:avLst/>
          </a:prstGeom>
          <a:noFill/>
          <a:ln>
            <a:noFill/>
          </a:ln>
        </p:spPr>
      </p:pic>
      <p:graphicFrame>
        <p:nvGraphicFramePr>
          <p:cNvPr id="3" name="Google Shape;91;p5">
            <a:extLst>
              <a:ext uri="{FF2B5EF4-FFF2-40B4-BE49-F238E27FC236}">
                <a16:creationId xmlns:a16="http://schemas.microsoft.com/office/drawing/2014/main" id="{1CAA936B-3BEA-C4F2-11E7-F8F1210666AD}"/>
              </a:ext>
            </a:extLst>
          </p:cNvPr>
          <p:cNvGraphicFramePr/>
          <p:nvPr>
            <p:extLst>
              <p:ext uri="{D42A27DB-BD31-4B8C-83A1-F6EECF244321}">
                <p14:modId xmlns:p14="http://schemas.microsoft.com/office/powerpoint/2010/main" val="2121088573"/>
              </p:ext>
            </p:extLst>
          </p:nvPr>
        </p:nvGraphicFramePr>
        <p:xfrm>
          <a:off x="1010611" y="1961529"/>
          <a:ext cx="9903600" cy="3318400"/>
        </p:xfrm>
        <a:graphic>
          <a:graphicData uri="http://schemas.openxmlformats.org/drawingml/2006/table">
            <a:tbl>
              <a:tblPr firstRow="1" bandRow="1">
                <a:noFill/>
                <a:tableStyleId>{EB94B972-DCD8-4A41-B254-406BE0F75871}</a:tableStyleId>
              </a:tblPr>
              <a:tblGrid>
                <a:gridCol w="4951800">
                  <a:extLst>
                    <a:ext uri="{9D8B030D-6E8A-4147-A177-3AD203B41FA5}">
                      <a16:colId xmlns:a16="http://schemas.microsoft.com/office/drawing/2014/main" val="20000"/>
                    </a:ext>
                  </a:extLst>
                </a:gridCol>
                <a:gridCol w="4951800">
                  <a:extLst>
                    <a:ext uri="{9D8B030D-6E8A-4147-A177-3AD203B41FA5}">
                      <a16:colId xmlns:a16="http://schemas.microsoft.com/office/drawing/2014/main" val="20001"/>
                    </a:ext>
                  </a:extLst>
                </a:gridCol>
              </a:tblGrid>
              <a:tr h="1659200">
                <a:tc>
                  <a:txBody>
                    <a:bodyPr/>
                    <a:lstStyle/>
                    <a:p>
                      <a:pPr marL="0" marR="0" lvl="0" indent="0" algn="ctr" rtl="0">
                        <a:lnSpc>
                          <a:spcPct val="100000"/>
                        </a:lnSpc>
                        <a:spcBef>
                          <a:spcPts val="0"/>
                        </a:spcBef>
                        <a:spcAft>
                          <a:spcPts val="0"/>
                        </a:spcAft>
                        <a:buClr>
                          <a:srgbClr val="000000"/>
                        </a:buClr>
                        <a:buSzPts val="2400"/>
                        <a:buFont typeface="Arial"/>
                        <a:buNone/>
                      </a:pPr>
                      <a:r>
                        <a:rPr lang="es-AR" sz="2800" u="none" strike="noStrike" cap="none" dirty="0">
                          <a:latin typeface="+mn-lt"/>
                          <a:ea typeface="Calibri"/>
                          <a:cs typeface="Calibri"/>
                          <a:sym typeface="Calibri"/>
                        </a:rPr>
                        <a:t>Medida </a:t>
                      </a:r>
                      <a:endParaRPr sz="1600" u="none" strike="noStrike" cap="none" dirty="0">
                        <a:latin typeface="+mn-lt"/>
                      </a:endParaRPr>
                    </a:p>
                    <a:p>
                      <a:pPr marL="0" marR="0" lvl="0" indent="0" algn="ctr" rtl="0">
                        <a:lnSpc>
                          <a:spcPct val="100000"/>
                        </a:lnSpc>
                        <a:spcBef>
                          <a:spcPts val="0"/>
                        </a:spcBef>
                        <a:spcAft>
                          <a:spcPts val="0"/>
                        </a:spcAft>
                        <a:buClr>
                          <a:schemeClr val="dk1"/>
                        </a:buClr>
                        <a:buSzPts val="2400"/>
                        <a:buFont typeface="Calibri"/>
                        <a:buNone/>
                      </a:pPr>
                      <a:endParaRPr sz="2800" u="none" strike="noStrike" cap="none" dirty="0">
                        <a:latin typeface="+mn-lt"/>
                        <a:ea typeface="Calibri"/>
                        <a:cs typeface="Calibri"/>
                        <a:sym typeface="Calibri"/>
                      </a:endParaRPr>
                    </a:p>
                  </a:txBody>
                  <a:tcPr marL="91450" marR="91450" marT="45725" marB="45725">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SzPts val="2400"/>
                        <a:buFont typeface="Arial"/>
                        <a:buNone/>
                      </a:pPr>
                      <a:r>
                        <a:rPr lang="es-AR" sz="2800" u="none" strike="noStrike" cap="none" dirty="0">
                          <a:latin typeface="+mn-lt"/>
                          <a:ea typeface="Calibri"/>
                          <a:cs typeface="Calibri"/>
                          <a:sym typeface="Calibri"/>
                        </a:rPr>
                        <a:t>Medición</a:t>
                      </a:r>
                      <a:endParaRPr sz="2800" u="none" strike="noStrike" cap="none" dirty="0">
                        <a:latin typeface="+mn-lt"/>
                        <a:ea typeface="Calibri"/>
                        <a:cs typeface="Calibri"/>
                        <a:sym typeface="Calibri"/>
                      </a:endParaRPr>
                    </a:p>
                    <a:p>
                      <a:pPr marL="0" marR="0" lvl="0" indent="0" algn="ctr" rtl="0">
                        <a:lnSpc>
                          <a:spcPct val="100000"/>
                        </a:lnSpc>
                        <a:spcBef>
                          <a:spcPts val="0"/>
                        </a:spcBef>
                        <a:spcAft>
                          <a:spcPts val="0"/>
                        </a:spcAft>
                        <a:buClr>
                          <a:schemeClr val="dk1"/>
                        </a:buClr>
                        <a:buSzPts val="2400"/>
                        <a:buFont typeface="Calibri"/>
                        <a:buNone/>
                      </a:pPr>
                      <a:endParaRPr sz="2800" u="none" strike="noStrike" cap="none" dirty="0">
                        <a:latin typeface="+mn-lt"/>
                        <a:ea typeface="Calibri"/>
                        <a:cs typeface="Calibri"/>
                        <a:sym typeface="Calibri"/>
                      </a:endParaRPr>
                    </a:p>
                  </a:txBody>
                  <a:tcPr marL="91450" marR="91450" marT="45725" marB="45725">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659200">
                <a:tc>
                  <a:txBody>
                    <a:bodyPr/>
                    <a:lstStyle/>
                    <a:p>
                      <a:pPr marL="0" marR="0" lvl="0" indent="0" algn="ctr" rtl="0">
                        <a:lnSpc>
                          <a:spcPct val="100000"/>
                        </a:lnSpc>
                        <a:spcBef>
                          <a:spcPts val="0"/>
                        </a:spcBef>
                        <a:spcAft>
                          <a:spcPts val="0"/>
                        </a:spcAft>
                        <a:buClr>
                          <a:schemeClr val="dk1"/>
                        </a:buClr>
                        <a:buSzPts val="2400"/>
                        <a:buFont typeface="Calibri"/>
                        <a:buNone/>
                      </a:pPr>
                      <a:endParaRPr lang="es-AR" sz="2800" b="0" i="0" u="none" strike="noStrike" cap="none" dirty="0">
                        <a:latin typeface="+mn-lt"/>
                        <a:ea typeface="Calibri"/>
                        <a:cs typeface="Calibri"/>
                        <a:sym typeface="Calibri"/>
                      </a:endParaRPr>
                    </a:p>
                    <a:p>
                      <a:pPr marL="0" marR="0" lvl="0" indent="0" algn="ctr" rtl="0">
                        <a:lnSpc>
                          <a:spcPct val="100000"/>
                        </a:lnSpc>
                        <a:spcBef>
                          <a:spcPts val="0"/>
                        </a:spcBef>
                        <a:spcAft>
                          <a:spcPts val="0"/>
                        </a:spcAft>
                        <a:buClr>
                          <a:schemeClr val="dk1"/>
                        </a:buClr>
                        <a:buSzPts val="2400"/>
                        <a:buFont typeface="Calibri"/>
                        <a:buNone/>
                      </a:pPr>
                      <a:r>
                        <a:rPr lang="es-AR" sz="2800" b="0" i="0" u="none" strike="noStrike" cap="none" dirty="0">
                          <a:latin typeface="+mn-lt"/>
                          <a:ea typeface="Calibri"/>
                          <a:cs typeface="Calibri"/>
                          <a:sym typeface="Calibri"/>
                        </a:rPr>
                        <a:t>Métrica</a:t>
                      </a:r>
                      <a:endParaRPr sz="1600" u="none" strike="noStrike" cap="none" dirty="0">
                        <a:latin typeface="+mn-lt"/>
                      </a:endParaRPr>
                    </a:p>
                    <a:p>
                      <a:pPr marL="0" marR="0" lvl="0" indent="0" algn="ctr" rtl="0">
                        <a:lnSpc>
                          <a:spcPct val="100000"/>
                        </a:lnSpc>
                        <a:spcBef>
                          <a:spcPts val="0"/>
                        </a:spcBef>
                        <a:spcAft>
                          <a:spcPts val="0"/>
                        </a:spcAft>
                        <a:buClr>
                          <a:schemeClr val="dk1"/>
                        </a:buClr>
                        <a:buSzPts val="2400"/>
                        <a:buFont typeface="Calibri"/>
                        <a:buNone/>
                      </a:pPr>
                      <a:endParaRPr sz="2800" b="0" i="0" u="none" strike="noStrike" cap="none" dirty="0">
                        <a:latin typeface="+mn-lt"/>
                        <a:ea typeface="Calibri"/>
                        <a:cs typeface="Calibri"/>
                        <a:sym typeface="Calibri"/>
                      </a:endParaRPr>
                    </a:p>
                  </a:txBody>
                  <a:tcPr marL="91450" marR="91450" marT="45725" marB="45725">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chemeClr val="dk1"/>
                        </a:buClr>
                        <a:buSzPts val="2400"/>
                        <a:buFont typeface="Calibri"/>
                        <a:buNone/>
                      </a:pPr>
                      <a:endParaRPr lang="es-AR" sz="2800" b="0" i="0" u="none" strike="noStrike" cap="none" dirty="0">
                        <a:latin typeface="+mn-lt"/>
                        <a:ea typeface="Calibri"/>
                        <a:cs typeface="Calibri"/>
                        <a:sym typeface="Calibri"/>
                      </a:endParaRPr>
                    </a:p>
                    <a:p>
                      <a:pPr marL="0" marR="0" lvl="0" indent="0" algn="ctr" rtl="0">
                        <a:lnSpc>
                          <a:spcPct val="100000"/>
                        </a:lnSpc>
                        <a:spcBef>
                          <a:spcPts val="0"/>
                        </a:spcBef>
                        <a:spcAft>
                          <a:spcPts val="0"/>
                        </a:spcAft>
                        <a:buClr>
                          <a:schemeClr val="dk1"/>
                        </a:buClr>
                        <a:buSzPts val="2400"/>
                        <a:buFont typeface="Calibri"/>
                        <a:buNone/>
                      </a:pPr>
                      <a:r>
                        <a:rPr lang="es-AR" sz="2800" b="0" i="0" u="none" strike="noStrike" cap="none" dirty="0">
                          <a:latin typeface="+mn-lt"/>
                          <a:ea typeface="Calibri"/>
                          <a:cs typeface="Calibri"/>
                          <a:sym typeface="Calibri"/>
                        </a:rPr>
                        <a:t>Indicador </a:t>
                      </a:r>
                      <a:endParaRPr sz="2800" b="0" i="0" u="none" strike="noStrike" cap="none" dirty="0">
                        <a:latin typeface="+mn-lt"/>
                        <a:ea typeface="Calibri"/>
                        <a:cs typeface="Calibri"/>
                        <a:sym typeface="Calibri"/>
                      </a:endParaRPr>
                    </a:p>
                    <a:p>
                      <a:pPr marL="0" marR="0" lvl="0" indent="0" algn="ctr" rtl="0">
                        <a:lnSpc>
                          <a:spcPct val="100000"/>
                        </a:lnSpc>
                        <a:spcBef>
                          <a:spcPts val="0"/>
                        </a:spcBef>
                        <a:spcAft>
                          <a:spcPts val="0"/>
                        </a:spcAft>
                        <a:buClr>
                          <a:schemeClr val="dk1"/>
                        </a:buClr>
                        <a:buSzPts val="2400"/>
                        <a:buFont typeface="Calibri"/>
                        <a:buNone/>
                      </a:pPr>
                      <a:endParaRPr sz="2800" u="none" strike="noStrike" cap="none" dirty="0">
                        <a:latin typeface="+mn-lt"/>
                        <a:ea typeface="Calibri"/>
                        <a:cs typeface="Calibri"/>
                        <a:sym typeface="Calibri"/>
                      </a:endParaRPr>
                    </a:p>
                  </a:txBody>
                  <a:tcPr marL="91450" marR="91450" marT="45725" marB="45725">
                    <a:lnL w="12700" cap="flat" cmpd="sng">
                      <a:noFill/>
                      <a:prstDash val="solid"/>
                      <a:round/>
                      <a:headEnd type="none" w="sm" len="sm"/>
                      <a:tailEnd type="none" w="sm" len="sm"/>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pic>
        <p:nvPicPr>
          <p:cNvPr id="4" name="Google Shape;92;p5">
            <a:extLst>
              <a:ext uri="{FF2B5EF4-FFF2-40B4-BE49-F238E27FC236}">
                <a16:creationId xmlns:a16="http://schemas.microsoft.com/office/drawing/2014/main" id="{F182BB15-CA76-0CD0-F750-73618589513A}"/>
              </a:ext>
            </a:extLst>
          </p:cNvPr>
          <p:cNvPicPr preferRelativeResize="0"/>
          <p:nvPr/>
        </p:nvPicPr>
        <p:blipFill rotWithShape="1">
          <a:blip r:embed="rId4">
            <a:alphaModFix/>
          </a:blip>
          <a:srcRect/>
          <a:stretch/>
        </p:blipFill>
        <p:spPr>
          <a:xfrm>
            <a:off x="2565400" y="2437047"/>
            <a:ext cx="2009775" cy="1219200"/>
          </a:xfrm>
          <a:prstGeom prst="rect">
            <a:avLst/>
          </a:prstGeom>
          <a:noFill/>
          <a:ln>
            <a:noFill/>
          </a:ln>
        </p:spPr>
      </p:pic>
      <p:pic>
        <p:nvPicPr>
          <p:cNvPr id="5" name="Google Shape;93;p5">
            <a:extLst>
              <a:ext uri="{FF2B5EF4-FFF2-40B4-BE49-F238E27FC236}">
                <a16:creationId xmlns:a16="http://schemas.microsoft.com/office/drawing/2014/main" id="{D4B38747-FE18-9AD8-9C09-567F34BE84FE}"/>
              </a:ext>
            </a:extLst>
          </p:cNvPr>
          <p:cNvPicPr preferRelativeResize="0"/>
          <p:nvPr/>
        </p:nvPicPr>
        <p:blipFill rotWithShape="1">
          <a:blip r:embed="rId5">
            <a:alphaModFix/>
          </a:blip>
          <a:srcRect/>
          <a:stretch/>
        </p:blipFill>
        <p:spPr>
          <a:xfrm>
            <a:off x="1945976" y="4358130"/>
            <a:ext cx="3480398" cy="1843597"/>
          </a:xfrm>
          <a:prstGeom prst="rect">
            <a:avLst/>
          </a:prstGeom>
          <a:noFill/>
          <a:ln>
            <a:noFill/>
          </a:ln>
        </p:spPr>
      </p:pic>
      <p:pic>
        <p:nvPicPr>
          <p:cNvPr id="6" name="Google Shape;94;p5">
            <a:extLst>
              <a:ext uri="{FF2B5EF4-FFF2-40B4-BE49-F238E27FC236}">
                <a16:creationId xmlns:a16="http://schemas.microsoft.com/office/drawing/2014/main" id="{5CE05963-7EE3-7784-94F5-61766325FF20}"/>
              </a:ext>
            </a:extLst>
          </p:cNvPr>
          <p:cNvPicPr preferRelativeResize="0"/>
          <p:nvPr/>
        </p:nvPicPr>
        <p:blipFill rotWithShape="1">
          <a:blip r:embed="rId6">
            <a:alphaModFix/>
          </a:blip>
          <a:srcRect/>
          <a:stretch/>
        </p:blipFill>
        <p:spPr>
          <a:xfrm>
            <a:off x="7371223" y="4478803"/>
            <a:ext cx="2275553" cy="1311991"/>
          </a:xfrm>
          <a:prstGeom prst="rect">
            <a:avLst/>
          </a:prstGeom>
          <a:noFill/>
          <a:ln>
            <a:noFill/>
          </a:ln>
        </p:spPr>
      </p:pic>
      <p:cxnSp>
        <p:nvCxnSpPr>
          <p:cNvPr id="8" name="Conector recto de flecha 7">
            <a:extLst>
              <a:ext uri="{FF2B5EF4-FFF2-40B4-BE49-F238E27FC236}">
                <a16:creationId xmlns:a16="http://schemas.microsoft.com/office/drawing/2014/main" id="{E09A4BF9-982E-80AA-F5B7-3B3F18571A7B}"/>
              </a:ext>
            </a:extLst>
          </p:cNvPr>
          <p:cNvCxnSpPr/>
          <p:nvPr/>
        </p:nvCxnSpPr>
        <p:spPr>
          <a:xfrm>
            <a:off x="5088194" y="3046647"/>
            <a:ext cx="2035277" cy="0"/>
          </a:xfrm>
          <a:prstGeom prst="straightConnector1">
            <a:avLst/>
          </a:prstGeom>
          <a:ln w="38100">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9" name="Conector recto de flecha 8">
            <a:extLst>
              <a:ext uri="{FF2B5EF4-FFF2-40B4-BE49-F238E27FC236}">
                <a16:creationId xmlns:a16="http://schemas.microsoft.com/office/drawing/2014/main" id="{FCBADD83-9AD8-7D63-428C-0176F6310DE0}"/>
              </a:ext>
            </a:extLst>
          </p:cNvPr>
          <p:cNvCxnSpPr/>
          <p:nvPr/>
        </p:nvCxnSpPr>
        <p:spPr>
          <a:xfrm>
            <a:off x="5108524" y="5118697"/>
            <a:ext cx="2035277" cy="0"/>
          </a:xfrm>
          <a:prstGeom prst="straightConnector1">
            <a:avLst/>
          </a:prstGeom>
          <a:ln w="38100">
            <a:solidFill>
              <a:srgbClr val="C0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61627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1BE0E582-7C56-6F8B-7FEB-95123B7D973A}"/>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E2A29162-0ABB-2ECA-2305-087B335EC0E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 Definiciones</a:t>
            </a:r>
            <a:endParaRPr dirty="0"/>
          </a:p>
        </p:txBody>
      </p:sp>
      <p:sp>
        <p:nvSpPr>
          <p:cNvPr id="160" name="Google Shape;160;p4">
            <a:extLst>
              <a:ext uri="{FF2B5EF4-FFF2-40B4-BE49-F238E27FC236}">
                <a16:creationId xmlns:a16="http://schemas.microsoft.com/office/drawing/2014/main" id="{D97EE8EF-3054-791B-A28A-0C6298EC4AD8}"/>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2D78BBE6-0763-3674-18D9-040FFA47F66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21BC9B1A-871E-B211-79EE-92D5725C7D2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a:t>
            </a:fld>
            <a:endParaRPr/>
          </a:p>
        </p:txBody>
      </p:sp>
      <p:sp>
        <p:nvSpPr>
          <p:cNvPr id="163" name="Google Shape;163;p4">
            <a:extLst>
              <a:ext uri="{FF2B5EF4-FFF2-40B4-BE49-F238E27FC236}">
                <a16:creationId xmlns:a16="http://schemas.microsoft.com/office/drawing/2014/main" id="{24CBA81C-B342-95DB-E41C-5B794D013619}"/>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1200"/>
              </a:spcAft>
              <a:buClr>
                <a:srgbClr val="C00000"/>
              </a:buClr>
              <a:buFont typeface="Noto Sans Symbols"/>
              <a:buChar char="❖"/>
            </a:pPr>
            <a:r>
              <a:rPr lang="es-ES" sz="2800" dirty="0">
                <a:solidFill>
                  <a:schemeClr val="dk1"/>
                </a:solidFill>
              </a:rPr>
              <a:t>Las métricas pueden ser utilizadas para que los profesionales e investigadores puedan tomar las mejores decisiones.</a:t>
            </a:r>
          </a:p>
          <a:p>
            <a:pPr marL="530225" lvl="0" indent="-530225" algn="just" rtl="0">
              <a:lnSpc>
                <a:spcPct val="85000"/>
              </a:lnSpc>
              <a:spcBef>
                <a:spcPts val="0"/>
              </a:spcBef>
              <a:spcAft>
                <a:spcPts val="600"/>
              </a:spcAft>
              <a:buClr>
                <a:srgbClr val="C00000"/>
              </a:buClr>
              <a:buFont typeface="Noto Sans Symbols"/>
              <a:buChar char="❖"/>
            </a:pPr>
            <a:r>
              <a:rPr lang="es-ES" sz="2800" dirty="0">
                <a:solidFill>
                  <a:schemeClr val="dk1"/>
                </a:solidFill>
              </a:rPr>
              <a:t>Se utilizan para asegurar la </a:t>
            </a:r>
            <a:r>
              <a:rPr lang="es-ES" sz="2800" u="sng" dirty="0">
                <a:solidFill>
                  <a:schemeClr val="dk1"/>
                </a:solidFill>
              </a:rPr>
              <a:t>calidad</a:t>
            </a:r>
            <a:r>
              <a:rPr lang="es-ES" sz="2800" dirty="0">
                <a:solidFill>
                  <a:schemeClr val="dk1"/>
                </a:solidFill>
              </a:rPr>
              <a:t> en:</a:t>
            </a:r>
          </a:p>
          <a:p>
            <a:pPr marL="722313" lvl="0" indent="-279400" algn="just" rtl="0">
              <a:lnSpc>
                <a:spcPct val="100000"/>
              </a:lnSpc>
              <a:spcBef>
                <a:spcPts val="0"/>
              </a:spcBef>
              <a:spcAft>
                <a:spcPts val="600"/>
              </a:spcAft>
              <a:buClr>
                <a:srgbClr val="C00000"/>
              </a:buClr>
              <a:buSzPts val="3200"/>
              <a:buFont typeface="Arial" panose="020B0604020202020204" pitchFamily="34" charset="0"/>
              <a:buChar char="•"/>
              <a:tabLst>
                <a:tab pos="442913" algn="l"/>
              </a:tabLst>
            </a:pPr>
            <a:r>
              <a:rPr lang="es-ES" sz="2800" dirty="0">
                <a:solidFill>
                  <a:schemeClr val="dk1"/>
                </a:solidFill>
              </a:rPr>
              <a:t>Proyectos Software</a:t>
            </a:r>
          </a:p>
          <a:p>
            <a:pPr marL="722313" indent="-279400" algn="just">
              <a:lnSpc>
                <a:spcPct val="100000"/>
              </a:lnSpc>
              <a:spcBef>
                <a:spcPts val="0"/>
              </a:spcBef>
              <a:spcAft>
                <a:spcPts val="600"/>
              </a:spcAft>
              <a:buClr>
                <a:srgbClr val="C00000"/>
              </a:buClr>
              <a:buSzPts val="3200"/>
              <a:buFont typeface="Arial" panose="020B0604020202020204" pitchFamily="34" charset="0"/>
              <a:buChar char="•"/>
              <a:tabLst>
                <a:tab pos="442913" algn="l"/>
              </a:tabLst>
            </a:pPr>
            <a:r>
              <a:rPr lang="es-ES" sz="2800" dirty="0">
                <a:solidFill>
                  <a:schemeClr val="dk1"/>
                </a:solidFill>
              </a:rPr>
              <a:t>Procesos</a:t>
            </a:r>
          </a:p>
          <a:p>
            <a:pPr marL="722313" lvl="0" indent="-279400" algn="just" rtl="0">
              <a:lnSpc>
                <a:spcPct val="100000"/>
              </a:lnSpc>
              <a:spcBef>
                <a:spcPts val="0"/>
              </a:spcBef>
              <a:spcAft>
                <a:spcPts val="600"/>
              </a:spcAft>
              <a:buClr>
                <a:srgbClr val="C00000"/>
              </a:buClr>
              <a:buSzPts val="3200"/>
              <a:buFont typeface="Arial" panose="020B0604020202020204" pitchFamily="34" charset="0"/>
              <a:buChar char="•"/>
              <a:tabLst>
                <a:tab pos="442913" algn="l"/>
              </a:tabLst>
            </a:pPr>
            <a:r>
              <a:rPr lang="es-ES" sz="2800" dirty="0">
                <a:solidFill>
                  <a:schemeClr val="dk1"/>
                </a:solidFill>
              </a:rPr>
              <a:t>Productos</a:t>
            </a:r>
            <a:endParaRPr sz="2800" dirty="0">
              <a:solidFill>
                <a:schemeClr val="dk1"/>
              </a:solidFill>
            </a:endParaRPr>
          </a:p>
        </p:txBody>
      </p:sp>
    </p:spTree>
    <p:extLst>
      <p:ext uri="{BB962C8B-B14F-4D97-AF65-F5344CB8AC3E}">
        <p14:creationId xmlns:p14="http://schemas.microsoft.com/office/powerpoint/2010/main" val="399497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Effect transition="in" filter="fade">
                                      <p:cBhvr>
                                        <p:cTn id="7" dur="500"/>
                                        <p:tgtEl>
                                          <p:spTgt spid="16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
                                            <p:txEl>
                                              <p:pRg st="2" end="2"/>
                                            </p:txEl>
                                          </p:spTgt>
                                        </p:tgtEl>
                                        <p:attrNameLst>
                                          <p:attrName>style.visibility</p:attrName>
                                        </p:attrNameLst>
                                      </p:cBhvr>
                                      <p:to>
                                        <p:strVal val="visible"/>
                                      </p:to>
                                    </p:set>
                                    <p:animEffect transition="in" filter="fade">
                                      <p:cBhvr>
                                        <p:cTn id="10" dur="500"/>
                                        <p:tgtEl>
                                          <p:spTgt spid="16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3">
                                            <p:txEl>
                                              <p:pRg st="3" end="3"/>
                                            </p:txEl>
                                          </p:spTgt>
                                        </p:tgtEl>
                                        <p:attrNameLst>
                                          <p:attrName>style.visibility</p:attrName>
                                        </p:attrNameLst>
                                      </p:cBhvr>
                                      <p:to>
                                        <p:strVal val="visible"/>
                                      </p:to>
                                    </p:set>
                                    <p:animEffect transition="in" filter="fade">
                                      <p:cBhvr>
                                        <p:cTn id="13" dur="500"/>
                                        <p:tgtEl>
                                          <p:spTgt spid="16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63">
                                            <p:txEl>
                                              <p:pRg st="4" end="4"/>
                                            </p:txEl>
                                          </p:spTgt>
                                        </p:tgtEl>
                                        <p:attrNameLst>
                                          <p:attrName>style.visibility</p:attrName>
                                        </p:attrNameLst>
                                      </p:cBhvr>
                                      <p:to>
                                        <p:strVal val="visible"/>
                                      </p:to>
                                    </p:set>
                                    <p:animEffect transition="in" filter="fade">
                                      <p:cBhvr>
                                        <p:cTn id="16" dur="500"/>
                                        <p:tgtEl>
                                          <p:spTgt spid="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ECA2941D-6DF6-ABF4-FE7A-97584DD5ED55}"/>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A6422A9-1B42-2F67-E905-92CDAB9EEA1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proyecto</a:t>
            </a:r>
            <a:endParaRPr dirty="0"/>
          </a:p>
        </p:txBody>
      </p:sp>
      <p:sp>
        <p:nvSpPr>
          <p:cNvPr id="160" name="Google Shape;160;p4">
            <a:extLst>
              <a:ext uri="{FF2B5EF4-FFF2-40B4-BE49-F238E27FC236}">
                <a16:creationId xmlns:a16="http://schemas.microsoft.com/office/drawing/2014/main" id="{1030B316-7402-D7C2-8137-D26E136719A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E06F5165-27B5-3847-1ADF-024AB6039BB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4A4F1A56-6ACC-3C0F-C628-8B015BD7F01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7</a:t>
            </a:fld>
            <a:endParaRPr/>
          </a:p>
        </p:txBody>
      </p:sp>
      <p:sp>
        <p:nvSpPr>
          <p:cNvPr id="163" name="Google Shape;163;p4">
            <a:extLst>
              <a:ext uri="{FF2B5EF4-FFF2-40B4-BE49-F238E27FC236}">
                <a16:creationId xmlns:a16="http://schemas.microsoft.com/office/drawing/2014/main" id="{2FF901CC-1A3A-79E7-5CEA-6D42C30F9D77}"/>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1200"/>
              </a:spcAft>
              <a:buClr>
                <a:srgbClr val="C00000"/>
              </a:buClr>
              <a:buFont typeface="Noto Sans Symbols"/>
              <a:buChar char="❖"/>
            </a:pPr>
            <a:r>
              <a:rPr lang="es-ES" sz="2800" dirty="0">
                <a:solidFill>
                  <a:schemeClr val="dk1"/>
                </a:solidFill>
              </a:rPr>
              <a:t>Sirven para cumplir propósitos </a:t>
            </a:r>
            <a:r>
              <a:rPr lang="es-ES" sz="2800" u="sng" dirty="0">
                <a:solidFill>
                  <a:schemeClr val="dk1"/>
                </a:solidFill>
              </a:rPr>
              <a:t>tácticos</a:t>
            </a:r>
            <a:r>
              <a:rPr lang="es-ES" sz="2800" dirty="0">
                <a:solidFill>
                  <a:schemeClr val="dk1"/>
                </a:solidFill>
              </a:rPr>
              <a:t>.</a:t>
            </a:r>
          </a:p>
          <a:p>
            <a:pPr marL="530225" lvl="0" indent="-530225" algn="just" rtl="0">
              <a:lnSpc>
                <a:spcPct val="85000"/>
              </a:lnSpc>
              <a:spcBef>
                <a:spcPts val="0"/>
              </a:spcBef>
              <a:spcAft>
                <a:spcPts val="1200"/>
              </a:spcAft>
              <a:buClr>
                <a:srgbClr val="C00000"/>
              </a:buClr>
              <a:buFont typeface="Noto Sans Symbols"/>
              <a:buChar char="❖"/>
            </a:pPr>
            <a:r>
              <a:rPr lang="es-ES" sz="2800" dirty="0">
                <a:solidFill>
                  <a:schemeClr val="dk1"/>
                </a:solidFill>
              </a:rPr>
              <a:t>Uso:</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Ajustes en el calendario y evitar demoras</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Valorar el estado de un proyecto en marcha</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Rastrear riesgos</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Descubrir áreas de problemas</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Ajustar flujo de trabajo/tareas</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Evaluar habilidad del equipo</a:t>
            </a:r>
          </a:p>
          <a:p>
            <a:pPr marL="530225" lvl="0" indent="-530225" algn="just" rtl="0">
              <a:lnSpc>
                <a:spcPct val="85000"/>
              </a:lnSpc>
              <a:spcBef>
                <a:spcPts val="0"/>
              </a:spcBef>
              <a:spcAft>
                <a:spcPts val="1200"/>
              </a:spcAft>
              <a:buClr>
                <a:srgbClr val="C00000"/>
              </a:buClr>
              <a:buFont typeface="Noto Sans Symbols"/>
              <a:buChar char="❖"/>
            </a:pPr>
            <a:endParaRPr sz="2800" dirty="0">
              <a:solidFill>
                <a:schemeClr val="dk1"/>
              </a:solidFill>
            </a:endParaRPr>
          </a:p>
        </p:txBody>
      </p:sp>
      <p:pic>
        <p:nvPicPr>
          <p:cNvPr id="3" name="Imagen 2">
            <a:extLst>
              <a:ext uri="{FF2B5EF4-FFF2-40B4-BE49-F238E27FC236}">
                <a16:creationId xmlns:a16="http://schemas.microsoft.com/office/drawing/2014/main" id="{BB971527-2F0F-BB72-E9E3-8AC120579B19}"/>
              </a:ext>
            </a:extLst>
          </p:cNvPr>
          <p:cNvPicPr>
            <a:picLocks noChangeAspect="1"/>
          </p:cNvPicPr>
          <p:nvPr/>
        </p:nvPicPr>
        <p:blipFill>
          <a:blip r:embed="rId3"/>
          <a:stretch>
            <a:fillRect/>
          </a:stretch>
        </p:blipFill>
        <p:spPr>
          <a:xfrm>
            <a:off x="7795932" y="2883258"/>
            <a:ext cx="3840545" cy="3394232"/>
          </a:xfrm>
          <a:prstGeom prst="rect">
            <a:avLst/>
          </a:prstGeom>
        </p:spPr>
      </p:pic>
    </p:spTree>
    <p:extLst>
      <p:ext uri="{BB962C8B-B14F-4D97-AF65-F5344CB8AC3E}">
        <p14:creationId xmlns:p14="http://schemas.microsoft.com/office/powerpoint/2010/main" val="3074410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0432C75-1E51-3641-F0FB-CED9007D4D9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5E4D1CD-85B7-68D2-27DF-78E560C3137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proceso</a:t>
            </a:r>
            <a:endParaRPr dirty="0"/>
          </a:p>
        </p:txBody>
      </p:sp>
      <p:sp>
        <p:nvSpPr>
          <p:cNvPr id="160" name="Google Shape;160;p4">
            <a:extLst>
              <a:ext uri="{FF2B5EF4-FFF2-40B4-BE49-F238E27FC236}">
                <a16:creationId xmlns:a16="http://schemas.microsoft.com/office/drawing/2014/main" id="{455C9F89-DFC7-38A4-AEFD-01C8E375CDA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4804BE18-F4B8-06D4-0171-3582D92090C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F15BD571-55C6-6BCC-E069-6733FE0D01A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8</a:t>
            </a:fld>
            <a:endParaRPr/>
          </a:p>
        </p:txBody>
      </p:sp>
      <p:sp>
        <p:nvSpPr>
          <p:cNvPr id="163" name="Google Shape;163;p4">
            <a:extLst>
              <a:ext uri="{FF2B5EF4-FFF2-40B4-BE49-F238E27FC236}">
                <a16:creationId xmlns:a16="http://schemas.microsoft.com/office/drawing/2014/main" id="{7B485966-670C-9E7D-23C5-EA98FEA74E4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1200"/>
              </a:spcAft>
              <a:buClr>
                <a:srgbClr val="C00000"/>
              </a:buClr>
              <a:buFont typeface="Noto Sans Symbols"/>
              <a:buChar char="❖"/>
            </a:pPr>
            <a:r>
              <a:rPr lang="es-ES" sz="2800" dirty="0">
                <a:solidFill>
                  <a:schemeClr val="dk1"/>
                </a:solidFill>
              </a:rPr>
              <a:t>Propósitos estratégicos</a:t>
            </a:r>
          </a:p>
          <a:p>
            <a:pPr marL="530225" lvl="0" indent="-530225" algn="just" rtl="0">
              <a:lnSpc>
                <a:spcPct val="85000"/>
              </a:lnSpc>
              <a:spcBef>
                <a:spcPts val="0"/>
              </a:spcBef>
              <a:spcAft>
                <a:spcPts val="1200"/>
              </a:spcAft>
              <a:buClr>
                <a:srgbClr val="C00000"/>
              </a:buClr>
              <a:buFont typeface="Noto Sans Symbols"/>
              <a:buChar char="❖"/>
            </a:pPr>
            <a:endParaRPr sz="2800" dirty="0">
              <a:solidFill>
                <a:schemeClr val="dk1"/>
              </a:solidFill>
            </a:endParaRPr>
          </a:p>
        </p:txBody>
      </p:sp>
      <p:pic>
        <p:nvPicPr>
          <p:cNvPr id="2" name="Google Shape;126;p36">
            <a:extLst>
              <a:ext uri="{FF2B5EF4-FFF2-40B4-BE49-F238E27FC236}">
                <a16:creationId xmlns:a16="http://schemas.microsoft.com/office/drawing/2014/main" id="{DA8C2AD0-44E1-DF8D-88DF-3336ABB881B4}"/>
              </a:ext>
            </a:extLst>
          </p:cNvPr>
          <p:cNvPicPr preferRelativeResize="0"/>
          <p:nvPr/>
        </p:nvPicPr>
        <p:blipFill rotWithShape="1">
          <a:blip r:embed="rId3">
            <a:alphaModFix/>
          </a:blip>
          <a:srcRect/>
          <a:stretch/>
        </p:blipFill>
        <p:spPr>
          <a:xfrm>
            <a:off x="1865395" y="2616383"/>
            <a:ext cx="1450380" cy="1377897"/>
          </a:xfrm>
          <a:prstGeom prst="rect">
            <a:avLst/>
          </a:prstGeom>
          <a:noFill/>
          <a:ln>
            <a:noFill/>
          </a:ln>
        </p:spPr>
      </p:pic>
      <p:pic>
        <p:nvPicPr>
          <p:cNvPr id="4" name="Google Shape;127;p36">
            <a:extLst>
              <a:ext uri="{FF2B5EF4-FFF2-40B4-BE49-F238E27FC236}">
                <a16:creationId xmlns:a16="http://schemas.microsoft.com/office/drawing/2014/main" id="{03AFABC0-0E36-7788-2A48-A1513314F6A7}"/>
              </a:ext>
            </a:extLst>
          </p:cNvPr>
          <p:cNvPicPr preferRelativeResize="0"/>
          <p:nvPr/>
        </p:nvPicPr>
        <p:blipFill rotWithShape="1">
          <a:blip r:embed="rId4">
            <a:alphaModFix/>
          </a:blip>
          <a:srcRect l="28700" t="10400" r="31390" b="9299"/>
          <a:stretch/>
        </p:blipFill>
        <p:spPr>
          <a:xfrm>
            <a:off x="1899588" y="4440139"/>
            <a:ext cx="1291474" cy="1405629"/>
          </a:xfrm>
          <a:prstGeom prst="rect">
            <a:avLst/>
          </a:prstGeom>
          <a:noFill/>
          <a:ln>
            <a:noFill/>
          </a:ln>
        </p:spPr>
      </p:pic>
      <p:sp>
        <p:nvSpPr>
          <p:cNvPr id="5" name="CuadroTexto 4">
            <a:extLst>
              <a:ext uri="{FF2B5EF4-FFF2-40B4-BE49-F238E27FC236}">
                <a16:creationId xmlns:a16="http://schemas.microsoft.com/office/drawing/2014/main" id="{E103CFA0-D018-7B82-6F9B-1A722FF9B6DD}"/>
              </a:ext>
            </a:extLst>
          </p:cNvPr>
          <p:cNvSpPr txBox="1"/>
          <p:nvPr/>
        </p:nvSpPr>
        <p:spPr>
          <a:xfrm>
            <a:off x="3797290" y="3206623"/>
            <a:ext cx="6965946" cy="430887"/>
          </a:xfrm>
          <a:prstGeom prst="rect">
            <a:avLst/>
          </a:prstGeom>
          <a:noFill/>
        </p:spPr>
        <p:txBody>
          <a:bodyPr wrap="none" rtlCol="0">
            <a:spAutoFit/>
          </a:bodyPr>
          <a:lstStyle/>
          <a:p>
            <a:r>
              <a:rPr lang="es-ES" sz="2200" dirty="0">
                <a:latin typeface="Calibri"/>
                <a:ea typeface="Calibri"/>
                <a:cs typeface="Calibri"/>
                <a:sym typeface="Calibri"/>
              </a:rPr>
              <a:t>a través de todos los proyectos y por un espacio de tiempo.​</a:t>
            </a:r>
          </a:p>
        </p:txBody>
      </p:sp>
      <p:sp>
        <p:nvSpPr>
          <p:cNvPr id="6" name="CuadroTexto 5">
            <a:extLst>
              <a:ext uri="{FF2B5EF4-FFF2-40B4-BE49-F238E27FC236}">
                <a16:creationId xmlns:a16="http://schemas.microsoft.com/office/drawing/2014/main" id="{CE875073-B574-1BEE-49EE-0B27A0E9F04F}"/>
              </a:ext>
            </a:extLst>
          </p:cNvPr>
          <p:cNvSpPr txBox="1"/>
          <p:nvPr/>
        </p:nvSpPr>
        <p:spPr>
          <a:xfrm>
            <a:off x="1663481" y="3954645"/>
            <a:ext cx="1763688" cy="461665"/>
          </a:xfrm>
          <a:prstGeom prst="rect">
            <a:avLst/>
          </a:prstGeom>
          <a:noFill/>
        </p:spPr>
        <p:txBody>
          <a:bodyPr wrap="none" rtlCol="0">
            <a:spAutoFit/>
          </a:bodyPr>
          <a:lstStyle/>
          <a:p>
            <a:r>
              <a:rPr lang="es-ES" sz="2400" dirty="0"/>
              <a:t>Recopilación</a:t>
            </a:r>
          </a:p>
        </p:txBody>
      </p:sp>
      <p:sp>
        <p:nvSpPr>
          <p:cNvPr id="7" name="CuadroTexto 6">
            <a:extLst>
              <a:ext uri="{FF2B5EF4-FFF2-40B4-BE49-F238E27FC236}">
                <a16:creationId xmlns:a16="http://schemas.microsoft.com/office/drawing/2014/main" id="{FFF142A3-E61B-2F2E-E1D7-EC5C1FF0E8AF}"/>
              </a:ext>
            </a:extLst>
          </p:cNvPr>
          <p:cNvSpPr txBox="1"/>
          <p:nvPr/>
        </p:nvSpPr>
        <p:spPr>
          <a:xfrm>
            <a:off x="3793867" y="5097909"/>
            <a:ext cx="7704225" cy="430887"/>
          </a:xfrm>
          <a:prstGeom prst="rect">
            <a:avLst/>
          </a:prstGeom>
          <a:noFill/>
        </p:spPr>
        <p:txBody>
          <a:bodyPr wrap="none" rtlCol="0">
            <a:spAutoFit/>
          </a:bodyPr>
          <a:lstStyle/>
          <a:p>
            <a:r>
              <a:rPr lang="es-ES" sz="2200" dirty="0">
                <a:latin typeface="Calibri"/>
                <a:ea typeface="Calibri"/>
                <a:cs typeface="Calibri"/>
                <a:sym typeface="Calibri"/>
              </a:rPr>
              <a:t>proporcionar un conjunto de indicadores para mejorar el proceso.​​</a:t>
            </a:r>
          </a:p>
        </p:txBody>
      </p:sp>
      <p:sp>
        <p:nvSpPr>
          <p:cNvPr id="8" name="CuadroTexto 7">
            <a:extLst>
              <a:ext uri="{FF2B5EF4-FFF2-40B4-BE49-F238E27FC236}">
                <a16:creationId xmlns:a16="http://schemas.microsoft.com/office/drawing/2014/main" id="{4A4C5BE2-8FD5-F8D6-3E10-9033B3BCD376}"/>
              </a:ext>
            </a:extLst>
          </p:cNvPr>
          <p:cNvSpPr txBox="1"/>
          <p:nvPr/>
        </p:nvSpPr>
        <p:spPr>
          <a:xfrm>
            <a:off x="1865395" y="5567135"/>
            <a:ext cx="1359859" cy="461665"/>
          </a:xfrm>
          <a:prstGeom prst="rect">
            <a:avLst/>
          </a:prstGeom>
          <a:noFill/>
        </p:spPr>
        <p:txBody>
          <a:bodyPr wrap="none" rtlCol="0">
            <a:spAutoFit/>
          </a:bodyPr>
          <a:lstStyle/>
          <a:p>
            <a:r>
              <a:rPr lang="es-ES" sz="2400" dirty="0"/>
              <a:t>Intención</a:t>
            </a:r>
          </a:p>
        </p:txBody>
      </p:sp>
    </p:spTree>
    <p:extLst>
      <p:ext uri="{BB962C8B-B14F-4D97-AF65-F5344CB8AC3E}">
        <p14:creationId xmlns:p14="http://schemas.microsoft.com/office/powerpoint/2010/main" val="1548755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800DC92-EE55-CFDD-001C-ACE8D1178606}"/>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A3A6E874-31AF-79A7-5BFE-EF79EEA801B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proceso</a:t>
            </a:r>
            <a:endParaRPr dirty="0"/>
          </a:p>
        </p:txBody>
      </p:sp>
      <p:sp>
        <p:nvSpPr>
          <p:cNvPr id="160" name="Google Shape;160;p4">
            <a:extLst>
              <a:ext uri="{FF2B5EF4-FFF2-40B4-BE49-F238E27FC236}">
                <a16:creationId xmlns:a16="http://schemas.microsoft.com/office/drawing/2014/main" id="{7E10AD93-642D-A3AD-6823-39F6180CA21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A74A8762-110C-B527-C64C-71A062FCE8F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51DAD3B9-861E-F8B6-E99D-4A6439D78F1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9</a:t>
            </a:fld>
            <a:endParaRPr/>
          </a:p>
        </p:txBody>
      </p:sp>
      <p:sp>
        <p:nvSpPr>
          <p:cNvPr id="163" name="Google Shape;163;p4">
            <a:extLst>
              <a:ext uri="{FF2B5EF4-FFF2-40B4-BE49-F238E27FC236}">
                <a16:creationId xmlns:a16="http://schemas.microsoft.com/office/drawing/2014/main" id="{87CB3401-9F26-BC43-3130-620401F560B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1200"/>
              </a:spcAft>
              <a:buClr>
                <a:srgbClr val="C00000"/>
              </a:buClr>
              <a:buFont typeface="Noto Sans Symbols"/>
              <a:buChar char="❖"/>
            </a:pPr>
            <a:r>
              <a:rPr lang="es-ES" sz="2800" dirty="0">
                <a:solidFill>
                  <a:schemeClr val="dk1"/>
                </a:solidFill>
              </a:rPr>
              <a:t>Uso:</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Sentido común y sensibilidad organizacional</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Retroalimentación</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No usar métricas para valorar a los individuos</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Establecer metas y métricas claras</a:t>
            </a:r>
          </a:p>
          <a:p>
            <a:pPr marL="633413" lvl="0" indent="-368300" algn="just">
              <a:lnSpc>
                <a:spcPct val="85000"/>
              </a:lnSpc>
              <a:spcBef>
                <a:spcPts val="0"/>
              </a:spcBef>
              <a:spcAft>
                <a:spcPts val="1200"/>
              </a:spcAft>
              <a:buClr>
                <a:srgbClr val="C00000"/>
              </a:buClr>
              <a:buFont typeface="Arial" panose="020B0604020202020204" pitchFamily="34" charset="0"/>
              <a:buChar char="•"/>
              <a:tabLst>
                <a:tab pos="530225" algn="l"/>
              </a:tabLst>
            </a:pPr>
            <a:r>
              <a:rPr lang="es-ES" sz="2400" dirty="0">
                <a:solidFill>
                  <a:schemeClr val="dk1"/>
                </a:solidFill>
              </a:rPr>
              <a:t>No excluir métricas</a:t>
            </a:r>
          </a:p>
        </p:txBody>
      </p:sp>
      <p:pic>
        <p:nvPicPr>
          <p:cNvPr id="139" name="Google Shape;139;p9"/>
          <p:cNvPicPr preferRelativeResize="0"/>
          <p:nvPr/>
        </p:nvPicPr>
        <p:blipFill rotWithShape="1">
          <a:blip r:embed="rId3">
            <a:alphaModFix/>
          </a:blip>
          <a:srcRect l="11259" r="17989" b="-1"/>
          <a:stretch/>
        </p:blipFill>
        <p:spPr>
          <a:xfrm>
            <a:off x="8126361" y="3429000"/>
            <a:ext cx="3298133" cy="2805446"/>
          </a:xfrm>
          <a:prstGeom prst="rect">
            <a:avLst/>
          </a:prstGeom>
          <a:noFill/>
          <a:ln>
            <a:noFill/>
          </a:ln>
        </p:spPr>
      </p:pic>
    </p:spTree>
    <p:extLst>
      <p:ext uri="{BB962C8B-B14F-4D97-AF65-F5344CB8AC3E}">
        <p14:creationId xmlns:p14="http://schemas.microsoft.com/office/powerpoint/2010/main" val="3883751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F8B5C6D-1C2B-3CAA-6432-7B3B294EBC6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4831448-2D93-B738-8443-E56ED4C43B2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8D2CEF62-0004-87F4-DBD7-10F8480AE26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06D11384-4320-9D77-1165-8BC78DF0E21E}"/>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A32BF57E-F80D-0296-AA8D-FC7ACE058C4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10</a:t>
            </a:fld>
            <a:endParaRPr/>
          </a:p>
        </p:txBody>
      </p:sp>
      <p:sp>
        <p:nvSpPr>
          <p:cNvPr id="163" name="Google Shape;163;p4">
            <a:extLst>
              <a:ext uri="{FF2B5EF4-FFF2-40B4-BE49-F238E27FC236}">
                <a16:creationId xmlns:a16="http://schemas.microsoft.com/office/drawing/2014/main" id="{A765F99E-E12F-2E5E-C9B2-89B2F042A9D3}"/>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rtl="0">
              <a:lnSpc>
                <a:spcPct val="85000"/>
              </a:lnSpc>
              <a:spcBef>
                <a:spcPts val="0"/>
              </a:spcBef>
              <a:spcAft>
                <a:spcPts val="600"/>
              </a:spcAft>
              <a:buClr>
                <a:srgbClr val="C00000"/>
              </a:buClr>
              <a:buFont typeface="Noto Sans Symbols"/>
              <a:buChar char="❖"/>
            </a:pPr>
            <a:r>
              <a:rPr lang="es-ES" sz="2800" dirty="0">
                <a:solidFill>
                  <a:schemeClr val="tx1"/>
                </a:solidFill>
              </a:rPr>
              <a:t>Dinámicas</a:t>
            </a:r>
          </a:p>
          <a:p>
            <a:pPr marL="722313" lvl="0" indent="-192088" algn="just" rtl="0">
              <a:lnSpc>
                <a:spcPct val="85000"/>
              </a:lnSpc>
              <a:spcBef>
                <a:spcPts val="0"/>
              </a:spcBef>
              <a:spcAft>
                <a:spcPts val="600"/>
              </a:spcAft>
              <a:buClr>
                <a:srgbClr val="C00000"/>
              </a:buClr>
              <a:buFont typeface="Arial" panose="020B0604020202020204" pitchFamily="34" charset="0"/>
              <a:buChar char="•"/>
            </a:pPr>
            <a:r>
              <a:rPr lang="es-ES" sz="2400" dirty="0">
                <a:solidFill>
                  <a:schemeClr val="tx1"/>
                </a:solidFill>
              </a:rPr>
              <a:t>Hechas en un programa en ejecución.</a:t>
            </a:r>
          </a:p>
          <a:p>
            <a:pPr marL="722313" lvl="0" indent="-192088" algn="just" rtl="0">
              <a:lnSpc>
                <a:spcPct val="85000"/>
              </a:lnSpc>
              <a:spcBef>
                <a:spcPts val="0"/>
              </a:spcBef>
              <a:spcAft>
                <a:spcPts val="600"/>
              </a:spcAft>
              <a:buClr>
                <a:srgbClr val="C00000"/>
              </a:buClr>
              <a:buFont typeface="Arial" panose="020B0604020202020204" pitchFamily="34" charset="0"/>
              <a:buChar char="•"/>
            </a:pPr>
            <a:r>
              <a:rPr lang="es-ES" sz="2400" dirty="0">
                <a:solidFill>
                  <a:schemeClr val="tx1"/>
                </a:solidFill>
              </a:rPr>
              <a:t>Ayudan a valorar la eficiencia y fiabilidad de un programa.</a:t>
            </a:r>
          </a:p>
          <a:p>
            <a:pPr marL="0" indent="0" algn="ctr">
              <a:lnSpc>
                <a:spcPct val="85000"/>
              </a:lnSpc>
              <a:spcBef>
                <a:spcPts val="0"/>
              </a:spcBef>
              <a:spcAft>
                <a:spcPts val="1200"/>
              </a:spcAft>
              <a:buClr>
                <a:srgbClr val="C00000"/>
              </a:buClr>
              <a:buNone/>
            </a:pPr>
            <a:r>
              <a:rPr lang="es-ES" sz="2400" i="1" dirty="0">
                <a:solidFill>
                  <a:srgbClr val="C00000"/>
                </a:solidFill>
                <a:ea typeface="Calibri"/>
                <a:cs typeface="Calibri"/>
                <a:sym typeface="Calibri"/>
              </a:rPr>
              <a:t>Se relacionan con las características de calidad del software</a:t>
            </a:r>
            <a:r>
              <a:rPr lang="es-ES" sz="2400" i="1" dirty="0">
                <a:solidFill>
                  <a:srgbClr val="C00000"/>
                </a:solidFill>
              </a:rPr>
              <a:t> </a:t>
            </a:r>
          </a:p>
          <a:p>
            <a:pPr marL="0" indent="0" algn="ctr">
              <a:lnSpc>
                <a:spcPct val="85000"/>
              </a:lnSpc>
              <a:spcBef>
                <a:spcPts val="0"/>
              </a:spcBef>
              <a:spcAft>
                <a:spcPts val="1200"/>
              </a:spcAft>
              <a:buClr>
                <a:srgbClr val="C00000"/>
              </a:buClr>
              <a:buNone/>
            </a:pPr>
            <a:endParaRPr lang="es-ES" sz="2400" i="1" dirty="0">
              <a:solidFill>
                <a:schemeClr val="tx1"/>
              </a:solidFill>
            </a:endParaRPr>
          </a:p>
          <a:p>
            <a:pPr marL="530225" lvl="0" indent="-530225" algn="just" rtl="0">
              <a:lnSpc>
                <a:spcPct val="85000"/>
              </a:lnSpc>
              <a:spcBef>
                <a:spcPts val="0"/>
              </a:spcBef>
              <a:spcAft>
                <a:spcPts val="600"/>
              </a:spcAft>
              <a:buClr>
                <a:srgbClr val="C00000"/>
              </a:buClr>
              <a:buFont typeface="Noto Sans Symbols"/>
              <a:buChar char="❖"/>
            </a:pPr>
            <a:r>
              <a:rPr lang="es-ES" sz="2800" dirty="0">
                <a:solidFill>
                  <a:schemeClr val="tx1"/>
                </a:solidFill>
              </a:rPr>
              <a:t>Estáticas</a:t>
            </a:r>
          </a:p>
          <a:p>
            <a:pPr marL="722313" indent="-192088" algn="just">
              <a:lnSpc>
                <a:spcPct val="85000"/>
              </a:lnSpc>
              <a:spcBef>
                <a:spcPts val="0"/>
              </a:spcBef>
              <a:spcAft>
                <a:spcPts val="600"/>
              </a:spcAft>
              <a:buClr>
                <a:srgbClr val="C00000"/>
              </a:buClr>
              <a:buFont typeface="Arial" panose="020B0604020202020204" pitchFamily="34" charset="0"/>
              <a:buChar char="•"/>
            </a:pPr>
            <a:r>
              <a:rPr lang="es-ES" sz="2400" dirty="0">
                <a:solidFill>
                  <a:schemeClr val="tx1"/>
                </a:solidFill>
              </a:rPr>
              <a:t>Hechas de representaciones del sistema.</a:t>
            </a:r>
          </a:p>
          <a:p>
            <a:pPr marL="722313" indent="-192088" algn="just">
              <a:lnSpc>
                <a:spcPct val="85000"/>
              </a:lnSpc>
              <a:spcBef>
                <a:spcPts val="0"/>
              </a:spcBef>
              <a:spcAft>
                <a:spcPts val="600"/>
              </a:spcAft>
              <a:buClr>
                <a:srgbClr val="C00000"/>
              </a:buClr>
              <a:buFont typeface="Arial" panose="020B0604020202020204" pitchFamily="34" charset="0"/>
              <a:buChar char="•"/>
            </a:pPr>
            <a:r>
              <a:rPr lang="es-ES" sz="2400" dirty="0">
                <a:solidFill>
                  <a:schemeClr val="tx1"/>
                </a:solidFill>
              </a:rPr>
              <a:t>Ayudan a valorar la complejidad, comprensibilidad y mantenibilidad.</a:t>
            </a:r>
          </a:p>
          <a:p>
            <a:pPr marL="0" indent="0" algn="ctr">
              <a:lnSpc>
                <a:spcPct val="85000"/>
              </a:lnSpc>
              <a:spcBef>
                <a:spcPts val="0"/>
              </a:spcBef>
              <a:spcAft>
                <a:spcPts val="1200"/>
              </a:spcAft>
              <a:buClr>
                <a:srgbClr val="C00000"/>
              </a:buClr>
              <a:buNone/>
            </a:pPr>
            <a:r>
              <a:rPr lang="es-ES" sz="2400" i="1" dirty="0">
                <a:solidFill>
                  <a:srgbClr val="C00000"/>
                </a:solidFill>
                <a:ea typeface="Calibri"/>
                <a:cs typeface="Calibri"/>
                <a:sym typeface="Calibri"/>
              </a:rPr>
              <a:t>Se relacionan, de manera indirecta, con los atributos de calidad del software</a:t>
            </a:r>
          </a:p>
          <a:p>
            <a:pPr marL="722313" indent="-192088" algn="just">
              <a:lnSpc>
                <a:spcPct val="85000"/>
              </a:lnSpc>
              <a:spcBef>
                <a:spcPts val="0"/>
              </a:spcBef>
              <a:spcAft>
                <a:spcPts val="600"/>
              </a:spcAft>
              <a:buClr>
                <a:srgbClr val="C00000"/>
              </a:buClr>
              <a:buFont typeface="Arial" panose="020B0604020202020204" pitchFamily="34" charset="0"/>
              <a:buChar char="•"/>
            </a:pPr>
            <a:endParaRPr lang="es-ES" sz="2400" dirty="0">
              <a:solidFill>
                <a:srgbClr val="C00000"/>
              </a:solidFill>
            </a:endParaRPr>
          </a:p>
          <a:p>
            <a:pPr marL="530225" lvl="0" indent="-530225" algn="just" rtl="0">
              <a:lnSpc>
                <a:spcPct val="85000"/>
              </a:lnSpc>
              <a:spcBef>
                <a:spcPts val="0"/>
              </a:spcBef>
              <a:spcAft>
                <a:spcPts val="600"/>
              </a:spcAft>
              <a:buClr>
                <a:srgbClr val="C00000"/>
              </a:buClr>
              <a:buFont typeface="Noto Sans Symbols"/>
              <a:buChar char="❖"/>
            </a:pPr>
            <a:endParaRPr lang="es-ES" sz="2800" dirty="0">
              <a:solidFill>
                <a:schemeClr val="tx1"/>
              </a:solidFill>
            </a:endParaRPr>
          </a:p>
        </p:txBody>
      </p:sp>
      <p:pic>
        <p:nvPicPr>
          <p:cNvPr id="2" name="Google Shape;157;p12">
            <a:extLst>
              <a:ext uri="{FF2B5EF4-FFF2-40B4-BE49-F238E27FC236}">
                <a16:creationId xmlns:a16="http://schemas.microsoft.com/office/drawing/2014/main" id="{D45BA7BD-FC9E-4B25-EB9F-C81BBBBEB485}"/>
              </a:ext>
            </a:extLst>
          </p:cNvPr>
          <p:cNvPicPr preferRelativeResize="0"/>
          <p:nvPr/>
        </p:nvPicPr>
        <p:blipFill rotWithShape="1">
          <a:blip r:embed="rId3">
            <a:alphaModFix/>
          </a:blip>
          <a:srcRect r="29148" b="-2435"/>
          <a:stretch/>
        </p:blipFill>
        <p:spPr>
          <a:xfrm>
            <a:off x="10378224" y="1958360"/>
            <a:ext cx="1668577" cy="1239995"/>
          </a:xfrm>
          <a:prstGeom prst="rect">
            <a:avLst/>
          </a:prstGeom>
          <a:noFill/>
          <a:ln>
            <a:noFill/>
          </a:ln>
        </p:spPr>
      </p:pic>
      <p:pic>
        <p:nvPicPr>
          <p:cNvPr id="3" name="Google Shape;156;p12">
            <a:extLst>
              <a:ext uri="{FF2B5EF4-FFF2-40B4-BE49-F238E27FC236}">
                <a16:creationId xmlns:a16="http://schemas.microsoft.com/office/drawing/2014/main" id="{910B528E-3CF2-1488-8641-5352462E983F}"/>
              </a:ext>
            </a:extLst>
          </p:cNvPr>
          <p:cNvPicPr preferRelativeResize="0"/>
          <p:nvPr/>
        </p:nvPicPr>
        <p:blipFill rotWithShape="1">
          <a:blip r:embed="rId4">
            <a:alphaModFix/>
          </a:blip>
          <a:srcRect/>
          <a:stretch/>
        </p:blipFill>
        <p:spPr>
          <a:xfrm>
            <a:off x="10378224" y="4102916"/>
            <a:ext cx="1668577" cy="1239995"/>
          </a:xfrm>
          <a:prstGeom prst="rect">
            <a:avLst/>
          </a:prstGeom>
          <a:noFill/>
          <a:ln>
            <a:noFill/>
          </a:ln>
        </p:spPr>
      </p:pic>
      <p:sp>
        <p:nvSpPr>
          <p:cNvPr id="4" name="Google Shape;158;p12">
            <a:extLst>
              <a:ext uri="{FF2B5EF4-FFF2-40B4-BE49-F238E27FC236}">
                <a16:creationId xmlns:a16="http://schemas.microsoft.com/office/drawing/2014/main" id="{C017CC1C-776B-03A9-DD83-07E8FECC41EF}"/>
              </a:ext>
            </a:extLst>
          </p:cNvPr>
          <p:cNvSpPr/>
          <p:nvPr/>
        </p:nvSpPr>
        <p:spPr>
          <a:xfrm>
            <a:off x="4140117" y="3198355"/>
            <a:ext cx="3962566" cy="1461718"/>
          </a:xfrm>
          <a:prstGeom prst="roundRect">
            <a:avLst/>
          </a:prstGeom>
          <a:solidFill>
            <a:srgbClr val="FFBFBF"/>
          </a:solidFill>
          <a:ln w="254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s-AR" sz="2800" b="0" i="0" u="none" strike="noStrike" cap="none" dirty="0">
                <a:solidFill>
                  <a:srgbClr val="C00000"/>
                </a:solidFill>
                <a:latin typeface="Calibri"/>
                <a:ea typeface="Calibri"/>
                <a:cs typeface="Calibri"/>
                <a:sym typeface="Calibri"/>
              </a:rPr>
              <a:t>¿Cómo las medimos?</a:t>
            </a:r>
            <a:endParaRPr sz="2800" b="0" i="0" u="none" strike="noStrike" cap="none" dirty="0">
              <a:solidFill>
                <a:srgbClr val="C00000"/>
              </a:solidFill>
              <a:latin typeface="Calibri"/>
              <a:ea typeface="Calibri"/>
              <a:cs typeface="Calibri"/>
              <a:sym typeface="Calibri"/>
            </a:endParaRPr>
          </a:p>
        </p:txBody>
      </p:sp>
    </p:spTree>
    <p:extLst>
      <p:ext uri="{BB962C8B-B14F-4D97-AF65-F5344CB8AC3E}">
        <p14:creationId xmlns:p14="http://schemas.microsoft.com/office/powerpoint/2010/main" val="184913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3" end="3"/>
                                            </p:txEl>
                                          </p:spTgt>
                                        </p:tgtEl>
                                        <p:attrNameLst>
                                          <p:attrName>style.visibility</p:attrName>
                                        </p:attrNameLst>
                                      </p:cBhvr>
                                      <p:to>
                                        <p:strVal val="visible"/>
                                      </p:to>
                                    </p:set>
                                    <p:animEffect transition="in" filter="fade">
                                      <p:cBhvr>
                                        <p:cTn id="7" dur="500"/>
                                        <p:tgtEl>
                                          <p:spTgt spid="16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163">
                                            <p:txEl>
                                              <p:pRg st="5" end="5"/>
                                            </p:txEl>
                                          </p:spTgt>
                                        </p:tgtEl>
                                        <p:attrNameLst>
                                          <p:attrName>style.visibility</p:attrName>
                                        </p:attrNameLst>
                                      </p:cBhvr>
                                      <p:to>
                                        <p:strVal val="visible"/>
                                      </p:to>
                                    </p:set>
                                    <p:animEffect transition="in" filter="fade">
                                      <p:cBhvr>
                                        <p:cTn id="15" dur="500"/>
                                        <p:tgtEl>
                                          <p:spTgt spid="16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3">
                                            <p:txEl>
                                              <p:pRg st="6" end="6"/>
                                            </p:txEl>
                                          </p:spTgt>
                                        </p:tgtEl>
                                        <p:attrNameLst>
                                          <p:attrName>style.visibility</p:attrName>
                                        </p:attrNameLst>
                                      </p:cBhvr>
                                      <p:to>
                                        <p:strVal val="visible"/>
                                      </p:to>
                                    </p:set>
                                    <p:animEffect transition="in" filter="fade">
                                      <p:cBhvr>
                                        <p:cTn id="18" dur="500"/>
                                        <p:tgtEl>
                                          <p:spTgt spid="16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63">
                                            <p:txEl>
                                              <p:pRg st="7" end="7"/>
                                            </p:txEl>
                                          </p:spTgt>
                                        </p:tgtEl>
                                        <p:attrNameLst>
                                          <p:attrName>style.visibility</p:attrName>
                                        </p:attrNameLst>
                                      </p:cBhvr>
                                      <p:to>
                                        <p:strVal val="visible"/>
                                      </p:to>
                                    </p:set>
                                    <p:animEffect transition="in" filter="fade">
                                      <p:cBhvr>
                                        <p:cTn id="21" dur="500"/>
                                        <p:tgtEl>
                                          <p:spTgt spid="16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3">
                                            <p:txEl>
                                              <p:pRg st="8" end="8"/>
                                            </p:txEl>
                                          </p:spTgt>
                                        </p:tgtEl>
                                        <p:attrNameLst>
                                          <p:attrName>style.visibility</p:attrName>
                                        </p:attrNameLst>
                                      </p:cBhvr>
                                      <p:to>
                                        <p:strVal val="visible"/>
                                      </p:to>
                                    </p:set>
                                    <p:animEffect transition="in" filter="fade">
                                      <p:cBhvr>
                                        <p:cTn id="26" dur="500"/>
                                        <p:tgtEl>
                                          <p:spTgt spid="16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fill="hold"/>
                                        <p:tgtEl>
                                          <p:spTgt spid="4"/>
                                        </p:tgtEl>
                                        <p:attrNameLst>
                                          <p:attrName>ppt_w</p:attrName>
                                        </p:attrNameLst>
                                      </p:cBhvr>
                                      <p:tavLst>
                                        <p:tav tm="0">
                                          <p:val>
                                            <p:fltVal val="0"/>
                                          </p:val>
                                        </p:tav>
                                        <p:tav tm="100000">
                                          <p:val>
                                            <p:strVal val="#ppt_w"/>
                                          </p:val>
                                        </p:tav>
                                      </p:tavLst>
                                    </p:anim>
                                    <p:anim calcmode="lin" valueType="num">
                                      <p:cBhvr>
                                        <p:cTn id="32" dur="500" fill="hold"/>
                                        <p:tgtEl>
                                          <p:spTgt spid="4"/>
                                        </p:tgtEl>
                                        <p:attrNameLst>
                                          <p:attrName>ppt_h</p:attrName>
                                        </p:attrNameLst>
                                      </p:cBhvr>
                                      <p:tavLst>
                                        <p:tav tm="0">
                                          <p:val>
                                            <p:fltVal val="0"/>
                                          </p:val>
                                        </p:tav>
                                        <p:tav tm="100000">
                                          <p:val>
                                            <p:strVal val="#ppt_h"/>
                                          </p:val>
                                        </p:tav>
                                      </p:tavLst>
                                    </p:anim>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F0DD509F-17A9-FFC1-42E0-66E79AF2D45A}"/>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18BC773-A357-8588-DA41-37154732FF4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6386D10A-8200-DE62-DC59-12632077534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D4BC65AF-1450-C756-1DE3-7B240FB63D2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1627CDE8-3846-05F6-E3B1-B86E24EC79B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11</a:t>
            </a:fld>
            <a:endParaRPr/>
          </a:p>
        </p:txBody>
      </p:sp>
      <p:sp>
        <p:nvSpPr>
          <p:cNvPr id="163" name="Google Shape;163;p4">
            <a:extLst>
              <a:ext uri="{FF2B5EF4-FFF2-40B4-BE49-F238E27FC236}">
                <a16:creationId xmlns:a16="http://schemas.microsoft.com/office/drawing/2014/main" id="{1A51E2F2-4C41-6F8F-A51F-E1927F0F1AAF}"/>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Noto Sans Symbols"/>
              <a:buChar char="❖"/>
            </a:pPr>
            <a:r>
              <a:rPr lang="es-ES" sz="2800" dirty="0">
                <a:solidFill>
                  <a:schemeClr val="tx1"/>
                </a:solidFill>
              </a:rPr>
              <a:t>Atributos de calidad externos vs Atributos internos</a:t>
            </a:r>
            <a:endParaRPr lang="es-ES" sz="2400" dirty="0">
              <a:solidFill>
                <a:srgbClr val="C00000"/>
              </a:solidFill>
            </a:endParaRPr>
          </a:p>
          <a:p>
            <a:pPr marL="530225" lvl="0" indent="-530225" algn="just" rtl="0">
              <a:lnSpc>
                <a:spcPct val="85000"/>
              </a:lnSpc>
              <a:spcBef>
                <a:spcPts val="0"/>
              </a:spcBef>
              <a:spcAft>
                <a:spcPts val="600"/>
              </a:spcAft>
              <a:buClr>
                <a:srgbClr val="C00000"/>
              </a:buClr>
              <a:buFont typeface="Noto Sans Symbols"/>
              <a:buChar char="❖"/>
            </a:pPr>
            <a:endParaRPr lang="es-ES" sz="2800" dirty="0">
              <a:solidFill>
                <a:schemeClr val="tx1"/>
              </a:solidFill>
            </a:endParaRPr>
          </a:p>
        </p:txBody>
      </p:sp>
      <p:pic>
        <p:nvPicPr>
          <p:cNvPr id="167" name="Google Shape;167;p11"/>
          <p:cNvPicPr preferRelativeResize="0"/>
          <p:nvPr/>
        </p:nvPicPr>
        <p:blipFill rotWithShape="1">
          <a:blip r:embed="rId3">
            <a:alphaModFix/>
          </a:blip>
          <a:srcRect t="6477" b="4417"/>
          <a:stretch/>
        </p:blipFill>
        <p:spPr>
          <a:xfrm>
            <a:off x="2977964" y="2514592"/>
            <a:ext cx="6236071" cy="3456384"/>
          </a:xfrm>
          <a:prstGeom prst="rect">
            <a:avLst/>
          </a:prstGeom>
          <a:noFill/>
          <a:ln>
            <a:noFill/>
          </a:ln>
          <a:effectLst>
            <a:outerShdw blurRad="292100" dist="139700" dir="2700000" algn="tl" rotWithShape="0">
              <a:srgbClr val="333333">
                <a:alpha val="62745"/>
              </a:srgbClr>
            </a:outerShdw>
          </a:effectLst>
        </p:spPr>
      </p:pic>
    </p:spTree>
    <p:extLst>
      <p:ext uri="{BB962C8B-B14F-4D97-AF65-F5344CB8AC3E}">
        <p14:creationId xmlns:p14="http://schemas.microsoft.com/office/powerpoint/2010/main" val="169156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9712A8F-C216-C386-D623-70CADD7B8DAE}"/>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C12C2983-716E-9C70-C07E-33791724699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estáticas del producto</a:t>
            </a:r>
            <a:endParaRPr dirty="0"/>
          </a:p>
        </p:txBody>
      </p:sp>
      <p:sp>
        <p:nvSpPr>
          <p:cNvPr id="160" name="Google Shape;160;p4">
            <a:extLst>
              <a:ext uri="{FF2B5EF4-FFF2-40B4-BE49-F238E27FC236}">
                <a16:creationId xmlns:a16="http://schemas.microsoft.com/office/drawing/2014/main" id="{AD081E4A-4DF1-94A6-1ABF-0EE12B12EB7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FC14D656-3F47-EC90-AB19-5CA1229F8FA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EE45380D-B785-1FA4-DABF-0C2D0A1DEC5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12</a:t>
            </a:fld>
            <a:endParaRPr/>
          </a:p>
        </p:txBody>
      </p:sp>
      <p:pic>
        <p:nvPicPr>
          <p:cNvPr id="2" name="Google Shape;174;p13">
            <a:extLst>
              <a:ext uri="{FF2B5EF4-FFF2-40B4-BE49-F238E27FC236}">
                <a16:creationId xmlns:a16="http://schemas.microsoft.com/office/drawing/2014/main" id="{09DBF229-AFB3-51A0-3100-06D6EA255DD7}"/>
              </a:ext>
            </a:extLst>
          </p:cNvPr>
          <p:cNvPicPr preferRelativeResize="0"/>
          <p:nvPr/>
        </p:nvPicPr>
        <p:blipFill rotWithShape="1">
          <a:blip r:embed="rId3">
            <a:alphaModFix/>
          </a:blip>
          <a:srcRect t="2412"/>
          <a:stretch>
            <a:fillRect/>
          </a:stretch>
        </p:blipFill>
        <p:spPr>
          <a:xfrm>
            <a:off x="2011754" y="1854709"/>
            <a:ext cx="8168491" cy="4321359"/>
          </a:xfrm>
          <a:prstGeom prst="rect">
            <a:avLst/>
          </a:prstGeom>
          <a:solidFill>
            <a:srgbClr val="ECECEC"/>
          </a:solidFill>
          <a:ln w="190500" cap="rnd" cmpd="sng">
            <a:noFill/>
            <a:prstDash val="solid"/>
            <a:round/>
            <a:headEnd type="none" w="sm" len="sm"/>
            <a:tailEnd type="none" w="sm" len="sm"/>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3273847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8FCF89D-8CE1-A968-D6FE-9CE3D5B9B38F}"/>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234321B9-73EC-19BA-810B-F9FA03984D0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estáticas del producto</a:t>
            </a:r>
            <a:endParaRPr dirty="0"/>
          </a:p>
        </p:txBody>
      </p:sp>
      <p:sp>
        <p:nvSpPr>
          <p:cNvPr id="160" name="Google Shape;160;p4">
            <a:extLst>
              <a:ext uri="{FF2B5EF4-FFF2-40B4-BE49-F238E27FC236}">
                <a16:creationId xmlns:a16="http://schemas.microsoft.com/office/drawing/2014/main" id="{A4CFA6C5-3732-BBF7-BBEF-1576047E149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E9C63ABA-B18F-4126-2056-03B659F7932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BC64DCBD-EF4A-8C7A-9BDD-095CD423EA5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13</a:t>
            </a:fld>
            <a:endParaRPr/>
          </a:p>
        </p:txBody>
      </p:sp>
      <p:pic>
        <p:nvPicPr>
          <p:cNvPr id="3" name="Google Shape;184;p14">
            <a:extLst>
              <a:ext uri="{FF2B5EF4-FFF2-40B4-BE49-F238E27FC236}">
                <a16:creationId xmlns:a16="http://schemas.microsoft.com/office/drawing/2014/main" id="{D842A839-57DE-DBB8-B2FA-D5EBB03921BC}"/>
              </a:ext>
            </a:extLst>
          </p:cNvPr>
          <p:cNvPicPr preferRelativeResize="0"/>
          <p:nvPr/>
        </p:nvPicPr>
        <p:blipFill rotWithShape="1">
          <a:blip r:embed="rId3">
            <a:alphaModFix/>
          </a:blip>
          <a:srcRect l="39182" t="23509" r="10161" b="42954"/>
          <a:stretch>
            <a:fillRect/>
          </a:stretch>
        </p:blipFill>
        <p:spPr>
          <a:xfrm>
            <a:off x="284134" y="1969565"/>
            <a:ext cx="5811866" cy="3151711"/>
          </a:xfrm>
          <a:prstGeom prst="rect">
            <a:avLst/>
          </a:prstGeom>
          <a:solidFill>
            <a:srgbClr val="ECECEC"/>
          </a:solidFill>
          <a:ln w="190500" cap="rnd" cmpd="sng">
            <a:noFill/>
            <a:prstDash val="solid"/>
            <a:round/>
            <a:headEnd type="none" w="sm" len="sm"/>
            <a:tailEnd type="none" w="sm" len="sm"/>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4" name="Google Shape;184;p14">
            <a:extLst>
              <a:ext uri="{FF2B5EF4-FFF2-40B4-BE49-F238E27FC236}">
                <a16:creationId xmlns:a16="http://schemas.microsoft.com/office/drawing/2014/main" id="{791D3D1D-E548-BE86-A899-572C23A879A2}"/>
              </a:ext>
            </a:extLst>
          </p:cNvPr>
          <p:cNvPicPr preferRelativeResize="0"/>
          <p:nvPr/>
        </p:nvPicPr>
        <p:blipFill rotWithShape="1">
          <a:blip r:embed="rId3">
            <a:alphaModFix/>
          </a:blip>
          <a:srcRect l="39182" t="57046" r="10161" b="12632"/>
          <a:stretch>
            <a:fillRect/>
          </a:stretch>
        </p:blipFill>
        <p:spPr>
          <a:xfrm>
            <a:off x="6380134" y="3074987"/>
            <a:ext cx="5811866" cy="2849529"/>
          </a:xfrm>
          <a:prstGeom prst="rect">
            <a:avLst/>
          </a:prstGeom>
          <a:solidFill>
            <a:srgbClr val="ECECEC"/>
          </a:solidFill>
          <a:ln w="190500" cap="rnd" cmpd="sng">
            <a:noFill/>
            <a:prstDash val="solid"/>
            <a:round/>
            <a:headEnd type="none" w="sm" len="sm"/>
            <a:tailEnd type="none" w="sm" len="sm"/>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extLst>
      <p:ext uri="{BB962C8B-B14F-4D97-AF65-F5344CB8AC3E}">
        <p14:creationId xmlns:p14="http://schemas.microsoft.com/office/powerpoint/2010/main" val="1887942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6414222-6F2B-A6AF-CEDC-868FB430AEE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202D81B-BD22-228B-55B7-A7B33AFCA69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BD9FADD3-9400-72B9-0186-E12FD078406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1A294403-18BE-BFD9-9C8E-6F2C71B8CA6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9B558E42-AEC4-666E-51F7-2247EEF9247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14</a:t>
            </a:fld>
            <a:endParaRPr/>
          </a:p>
        </p:txBody>
      </p:sp>
      <p:sp>
        <p:nvSpPr>
          <p:cNvPr id="163" name="Google Shape;163;p4">
            <a:extLst>
              <a:ext uri="{FF2B5EF4-FFF2-40B4-BE49-F238E27FC236}">
                <a16:creationId xmlns:a16="http://schemas.microsoft.com/office/drawing/2014/main" id="{39BE5B49-9F2D-0E46-A63E-98884BB26C40}"/>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Noto Sans Symbols"/>
              <a:buChar char="❖"/>
            </a:pPr>
            <a:r>
              <a:rPr lang="es-ES" sz="2800" dirty="0">
                <a:solidFill>
                  <a:schemeClr val="tx1"/>
                </a:solidFill>
              </a:rPr>
              <a:t>LDC – Líneas de código</a:t>
            </a:r>
          </a:p>
          <a:p>
            <a:pPr marL="811213" lvl="0" indent="-368300" algn="just">
              <a:lnSpc>
                <a:spcPct val="100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Es la métrica más común para medir el tamaño de un producto </a:t>
            </a:r>
          </a:p>
          <a:p>
            <a:pPr marL="811213" lvl="0" indent="-368300" algn="just">
              <a:lnSpc>
                <a:spcPct val="100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Es una medida discutida</a:t>
            </a:r>
          </a:p>
          <a:p>
            <a:pPr marL="811213" lvl="0" indent="-368300" algn="just">
              <a:lnSpc>
                <a:spcPct val="100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Permite obtener resultados:</a:t>
            </a:r>
          </a:p>
          <a:p>
            <a:pPr marL="1103313" lvl="1" indent="-368300" algn="just">
              <a:lnSpc>
                <a:spcPct val="100000"/>
              </a:lnSpc>
              <a:spcBef>
                <a:spcPts val="0"/>
              </a:spcBef>
              <a:spcAft>
                <a:spcPts val="600"/>
              </a:spcAft>
              <a:buClr>
                <a:srgbClr val="C00000"/>
              </a:buClr>
              <a:buFont typeface="Noto Sans Symbols2" panose="020B0502040504020204" pitchFamily="34" charset="0"/>
              <a:buChar char="»"/>
            </a:pPr>
            <a:r>
              <a:rPr lang="es-ES" sz="2200" dirty="0">
                <a:solidFill>
                  <a:schemeClr val="tx1"/>
                </a:solidFill>
              </a:rPr>
              <a:t>Tiempo estimado</a:t>
            </a:r>
          </a:p>
          <a:p>
            <a:pPr marL="1103313" lvl="1" indent="-368300" algn="just">
              <a:lnSpc>
                <a:spcPct val="100000"/>
              </a:lnSpc>
              <a:spcBef>
                <a:spcPts val="0"/>
              </a:spcBef>
              <a:spcAft>
                <a:spcPts val="600"/>
              </a:spcAft>
              <a:buClr>
                <a:srgbClr val="C00000"/>
              </a:buClr>
              <a:buFont typeface="Noto Sans Symbols2" panose="020B0502040504020204" pitchFamily="34" charset="0"/>
              <a:buChar char="»"/>
            </a:pPr>
            <a:r>
              <a:rPr lang="es-ES" sz="2200" dirty="0">
                <a:solidFill>
                  <a:schemeClr val="tx1"/>
                </a:solidFill>
              </a:rPr>
              <a:t>Cantidad de desarrolladores necesarios</a:t>
            </a:r>
          </a:p>
          <a:p>
            <a:pPr marL="811213" indent="-368300" algn="just">
              <a:lnSpc>
                <a:spcPct val="100000"/>
              </a:lnSpc>
              <a:spcBef>
                <a:spcPts val="0"/>
              </a:spcBef>
              <a:spcAft>
                <a:spcPts val="600"/>
              </a:spcAft>
              <a:buClr>
                <a:srgbClr val="C00000"/>
              </a:buClr>
              <a:buFont typeface="Noto Sans Symbols2" panose="020B0502040504020204" pitchFamily="34" charset="0"/>
              <a:buChar char="»"/>
            </a:pPr>
            <a:r>
              <a:rPr lang="es-ES" sz="2400" dirty="0">
                <a:solidFill>
                  <a:schemeClr val="dk1"/>
                </a:solidFill>
                <a:ea typeface="Calibri"/>
                <a:cs typeface="Calibri"/>
                <a:sym typeface="Calibri"/>
              </a:rPr>
              <a:t>Si una organización de software mantiene registros sencillos, se puede crear una tabla de datos orientados al tamaño​</a:t>
            </a:r>
          </a:p>
          <a:p>
            <a:pPr marL="811213" indent="-368300" algn="just">
              <a:lnSpc>
                <a:spcPct val="100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Se realiza post mortem</a:t>
            </a:r>
          </a:p>
          <a:p>
            <a:pPr marL="811213" indent="-368300" algn="just">
              <a:lnSpc>
                <a:spcPct val="100000"/>
              </a:lnSpc>
              <a:spcBef>
                <a:spcPts val="0"/>
              </a:spcBef>
              <a:spcAft>
                <a:spcPts val="600"/>
              </a:spcAft>
              <a:buClr>
                <a:srgbClr val="C00000"/>
              </a:buClr>
              <a:buFont typeface="Noto Sans Symbols2" panose="020B0502040504020204" pitchFamily="34" charset="0"/>
              <a:buChar char="»"/>
            </a:pPr>
            <a:endParaRPr lang="es-ES" sz="2400" dirty="0">
              <a:solidFill>
                <a:schemeClr val="dk1"/>
              </a:solidFill>
              <a:ea typeface="Calibri"/>
              <a:cs typeface="Calibri"/>
              <a:sym typeface="Calibri"/>
            </a:endParaRPr>
          </a:p>
          <a:p>
            <a:pPr marL="633413" lvl="0" indent="-190500" algn="just">
              <a:lnSpc>
                <a:spcPct val="85000"/>
              </a:lnSpc>
              <a:spcBef>
                <a:spcPts val="0"/>
              </a:spcBef>
              <a:spcAft>
                <a:spcPts val="600"/>
              </a:spcAft>
              <a:buClr>
                <a:srgbClr val="C00000"/>
              </a:buClr>
              <a:buFont typeface="Noto Sans Symbols2" panose="020B0502040504020204" pitchFamily="34" charset="0"/>
              <a:buChar char="»"/>
            </a:pPr>
            <a:endParaRPr lang="es-ES" sz="2400" dirty="0">
              <a:solidFill>
                <a:srgbClr val="C00000"/>
              </a:solidFill>
            </a:endParaRPr>
          </a:p>
          <a:p>
            <a:pPr marL="530225" lvl="0" indent="-530225" algn="just" rtl="0">
              <a:lnSpc>
                <a:spcPct val="85000"/>
              </a:lnSpc>
              <a:spcBef>
                <a:spcPts val="0"/>
              </a:spcBef>
              <a:spcAft>
                <a:spcPts val="600"/>
              </a:spcAft>
              <a:buClr>
                <a:srgbClr val="C00000"/>
              </a:buClr>
              <a:buFont typeface="Noto Sans Symbols"/>
              <a:buChar char="❖"/>
            </a:pPr>
            <a:endParaRPr lang="es-ES" sz="2800" dirty="0">
              <a:solidFill>
                <a:schemeClr val="tx1"/>
              </a:solidFill>
            </a:endParaRPr>
          </a:p>
        </p:txBody>
      </p:sp>
      <p:pic>
        <p:nvPicPr>
          <p:cNvPr id="2" name="Google Shape;199;p15" descr="Sala de juntas">
            <a:extLst>
              <a:ext uri="{FF2B5EF4-FFF2-40B4-BE49-F238E27FC236}">
                <a16:creationId xmlns:a16="http://schemas.microsoft.com/office/drawing/2014/main" id="{C632822C-A76F-93FF-6C9D-2477EFF6A992}"/>
              </a:ext>
            </a:extLst>
          </p:cNvPr>
          <p:cNvPicPr preferRelativeResize="0"/>
          <p:nvPr/>
        </p:nvPicPr>
        <p:blipFill rotWithShape="1">
          <a:blip r:embed="rId3">
            <a:alphaModFix/>
          </a:blip>
          <a:srcRect/>
          <a:stretch/>
        </p:blipFill>
        <p:spPr>
          <a:xfrm>
            <a:off x="5010765" y="2590438"/>
            <a:ext cx="914400" cy="914400"/>
          </a:xfrm>
          <a:prstGeom prst="rect">
            <a:avLst/>
          </a:prstGeom>
          <a:noFill/>
          <a:ln>
            <a:noFill/>
          </a:ln>
        </p:spPr>
      </p:pic>
      <p:pic>
        <p:nvPicPr>
          <p:cNvPr id="3" name="Google Shape;200;p15" descr="Cronómetro">
            <a:extLst>
              <a:ext uri="{FF2B5EF4-FFF2-40B4-BE49-F238E27FC236}">
                <a16:creationId xmlns:a16="http://schemas.microsoft.com/office/drawing/2014/main" id="{27A2341E-47D6-9950-8D58-721E89CCE2CA}"/>
              </a:ext>
            </a:extLst>
          </p:cNvPr>
          <p:cNvPicPr preferRelativeResize="0"/>
          <p:nvPr/>
        </p:nvPicPr>
        <p:blipFill rotWithShape="1">
          <a:blip r:embed="rId4">
            <a:alphaModFix/>
          </a:blip>
          <a:srcRect/>
          <a:stretch/>
        </p:blipFill>
        <p:spPr>
          <a:xfrm>
            <a:off x="4302843" y="3603223"/>
            <a:ext cx="707922" cy="709833"/>
          </a:xfrm>
          <a:prstGeom prst="rect">
            <a:avLst/>
          </a:prstGeom>
          <a:noFill/>
          <a:ln>
            <a:noFill/>
          </a:ln>
        </p:spPr>
      </p:pic>
      <p:pic>
        <p:nvPicPr>
          <p:cNvPr id="4" name="Google Shape;203;p15" descr="Grupo de hombres">
            <a:extLst>
              <a:ext uri="{FF2B5EF4-FFF2-40B4-BE49-F238E27FC236}">
                <a16:creationId xmlns:a16="http://schemas.microsoft.com/office/drawing/2014/main" id="{3C9D3B91-8D50-5416-D9AF-B1F11F5F7367}"/>
              </a:ext>
            </a:extLst>
          </p:cNvPr>
          <p:cNvPicPr preferRelativeResize="0"/>
          <p:nvPr/>
        </p:nvPicPr>
        <p:blipFill rotWithShape="1">
          <a:blip r:embed="rId5">
            <a:alphaModFix/>
          </a:blip>
          <a:srcRect/>
          <a:stretch/>
        </p:blipFill>
        <p:spPr>
          <a:xfrm>
            <a:off x="6827276" y="3944181"/>
            <a:ext cx="707922" cy="737750"/>
          </a:xfrm>
          <a:prstGeom prst="rect">
            <a:avLst/>
          </a:prstGeom>
          <a:noFill/>
          <a:ln>
            <a:noFill/>
          </a:ln>
        </p:spPr>
      </p:pic>
    </p:spTree>
    <p:extLst>
      <p:ext uri="{BB962C8B-B14F-4D97-AF65-F5344CB8AC3E}">
        <p14:creationId xmlns:p14="http://schemas.microsoft.com/office/powerpoint/2010/main" val="248761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3">
                                            <p:txEl>
                                              <p:pRg st="3" end="3"/>
                                            </p:txEl>
                                          </p:spTgt>
                                        </p:tgtEl>
                                        <p:attrNameLst>
                                          <p:attrName>style.visibility</p:attrName>
                                        </p:attrNameLst>
                                      </p:cBhvr>
                                      <p:to>
                                        <p:strVal val="visible"/>
                                      </p:to>
                                    </p:set>
                                    <p:animEffect transition="in" filter="fade">
                                      <p:cBhvr>
                                        <p:cTn id="15" dur="500"/>
                                        <p:tgtEl>
                                          <p:spTgt spid="16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3">
                                            <p:txEl>
                                              <p:pRg st="4" end="4"/>
                                            </p:txEl>
                                          </p:spTgt>
                                        </p:tgtEl>
                                        <p:attrNameLst>
                                          <p:attrName>style.visibility</p:attrName>
                                        </p:attrNameLst>
                                      </p:cBhvr>
                                      <p:to>
                                        <p:strVal val="visible"/>
                                      </p:to>
                                    </p:set>
                                    <p:animEffect transition="in" filter="fade">
                                      <p:cBhvr>
                                        <p:cTn id="18" dur="500"/>
                                        <p:tgtEl>
                                          <p:spTgt spid="16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63">
                                            <p:txEl>
                                              <p:pRg st="5" end="5"/>
                                            </p:txEl>
                                          </p:spTgt>
                                        </p:tgtEl>
                                        <p:attrNameLst>
                                          <p:attrName>style.visibility</p:attrName>
                                        </p:attrNameLst>
                                      </p:cBhvr>
                                      <p:to>
                                        <p:strVal val="visible"/>
                                      </p:to>
                                    </p:set>
                                    <p:animEffect transition="in" filter="fade">
                                      <p:cBhvr>
                                        <p:cTn id="21" dur="500"/>
                                        <p:tgtEl>
                                          <p:spTgt spid="163">
                                            <p:txEl>
                                              <p:pRg st="5" end="5"/>
                                            </p:txEl>
                                          </p:spTgt>
                                        </p:tgtEl>
                                      </p:cBhvr>
                                    </p:animEffect>
                                  </p:childTnLst>
                                </p:cTn>
                              </p:par>
                              <p:par>
                                <p:cTn id="22" presetID="1" presetClass="exit" presetSubtype="0" fill="hold" nodeType="withEffect">
                                  <p:stCondLst>
                                    <p:cond delay="0"/>
                                  </p:stCondLst>
                                  <p:childTnLst>
                                    <p:set>
                                      <p:cBhvr>
                                        <p:cTn id="23" dur="1" fill="hold">
                                          <p:stCondLst>
                                            <p:cond delay="0"/>
                                          </p:stCondLst>
                                        </p:cTn>
                                        <p:tgtEl>
                                          <p:spTgt spid="2"/>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par>
                                <p:cTn id="27" presetID="10"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63">
                                            <p:txEl>
                                              <p:pRg st="6" end="6"/>
                                            </p:txEl>
                                          </p:spTgt>
                                        </p:tgtEl>
                                        <p:attrNameLst>
                                          <p:attrName>style.visibility</p:attrName>
                                        </p:attrNameLst>
                                      </p:cBhvr>
                                      <p:to>
                                        <p:strVal val="visible"/>
                                      </p:to>
                                    </p:set>
                                    <p:animEffect transition="in" filter="fade">
                                      <p:cBhvr>
                                        <p:cTn id="34" dur="500"/>
                                        <p:tgtEl>
                                          <p:spTgt spid="163">
                                            <p:txEl>
                                              <p:pRg st="6" end="6"/>
                                            </p:txEl>
                                          </p:spTgt>
                                        </p:tgtEl>
                                      </p:cBhvr>
                                    </p:animEffect>
                                  </p:childTnLst>
                                </p:cTn>
                              </p:par>
                              <p:par>
                                <p:cTn id="35" presetID="1" presetClass="exit" presetSubtype="0" fill="hold" nodeType="withEffect">
                                  <p:stCondLst>
                                    <p:cond delay="0"/>
                                  </p:stCondLst>
                                  <p:childTnLst>
                                    <p:set>
                                      <p:cBhvr>
                                        <p:cTn id="36" dur="1" fill="hold">
                                          <p:stCondLst>
                                            <p:cond delay="0"/>
                                          </p:stCondLst>
                                        </p:cTn>
                                        <p:tgtEl>
                                          <p:spTgt spid="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63">
                                            <p:txEl>
                                              <p:pRg st="7" end="7"/>
                                            </p:txEl>
                                          </p:spTgt>
                                        </p:tgtEl>
                                        <p:attrNameLst>
                                          <p:attrName>style.visibility</p:attrName>
                                        </p:attrNameLst>
                                      </p:cBhvr>
                                      <p:to>
                                        <p:strVal val="visible"/>
                                      </p:to>
                                    </p:set>
                                    <p:animEffect transition="in" filter="fade">
                                      <p:cBhvr>
                                        <p:cTn id="43" dur="500"/>
                                        <p:tgtEl>
                                          <p:spTgt spid="1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3FEC592-EB49-0B00-DD91-80DFF57A467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C8B1FDC7-C699-D450-2DFB-54BB6B22C64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6B85F607-5BFF-9DC0-6C74-282D5F31225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9794EC27-6A5D-BD8B-6E7B-777AA2316DC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0F2AB3DD-3BA9-0A59-B4C1-6BD6C8E5CCB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15</a:t>
            </a:fld>
            <a:endParaRPr/>
          </a:p>
        </p:txBody>
      </p:sp>
      <p:sp>
        <p:nvSpPr>
          <p:cNvPr id="163" name="Google Shape;163;p4">
            <a:extLst>
              <a:ext uri="{FF2B5EF4-FFF2-40B4-BE49-F238E27FC236}">
                <a16:creationId xmlns:a16="http://schemas.microsoft.com/office/drawing/2014/main" id="{83B98D50-E2C7-4359-A757-2FC5DF3BB886}"/>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Utilidad de las métricas post mortem:</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Conformar una línea base para futuras métricas.</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Ayudar al mantenimiento conociendo la complejidad lógica, tamaño, flujo de información, identificando módulos críticos.</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Ayudar en los procesos de reingeniería.</a:t>
            </a:r>
            <a:endParaRPr lang="es-ES" sz="2800" dirty="0">
              <a:solidFill>
                <a:schemeClr val="tx1"/>
              </a:solidFill>
            </a:endParaRPr>
          </a:p>
        </p:txBody>
      </p:sp>
      <p:pic>
        <p:nvPicPr>
          <p:cNvPr id="211" name="Google Shape;211;p16"/>
          <p:cNvPicPr preferRelativeResize="0"/>
          <p:nvPr/>
        </p:nvPicPr>
        <p:blipFill rotWithShape="1">
          <a:blip r:embed="rId3">
            <a:alphaModFix/>
          </a:blip>
          <a:srcRect l="30169" r="19456" b="-2"/>
          <a:stretch/>
        </p:blipFill>
        <p:spPr>
          <a:xfrm>
            <a:off x="8509000" y="3429000"/>
            <a:ext cx="3496187" cy="2687757"/>
          </a:xfrm>
          <a:prstGeom prst="rect">
            <a:avLst/>
          </a:prstGeom>
          <a:noFill/>
          <a:ln>
            <a:noFill/>
          </a:ln>
        </p:spPr>
      </p:pic>
    </p:spTree>
    <p:extLst>
      <p:ext uri="{BB962C8B-B14F-4D97-AF65-F5344CB8AC3E}">
        <p14:creationId xmlns:p14="http://schemas.microsoft.com/office/powerpoint/2010/main" val="165517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Effect transition="in" filter="fade">
                                      <p:cBhvr>
                                        <p:cTn id="7" dur="500"/>
                                        <p:tgtEl>
                                          <p:spTgt spid="1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2" end="2"/>
                                            </p:txEl>
                                          </p:spTgt>
                                        </p:tgtEl>
                                        <p:attrNameLst>
                                          <p:attrName>style.visibility</p:attrName>
                                        </p:attrNameLst>
                                      </p:cBhvr>
                                      <p:to>
                                        <p:strVal val="visible"/>
                                      </p:to>
                                    </p:set>
                                    <p:animEffect transition="in" filter="fade">
                                      <p:cBhvr>
                                        <p:cTn id="12" dur="500"/>
                                        <p:tgtEl>
                                          <p:spTgt spid="1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xEl>
                                              <p:pRg st="3" end="3"/>
                                            </p:txEl>
                                          </p:spTgt>
                                        </p:tgtEl>
                                        <p:attrNameLst>
                                          <p:attrName>style.visibility</p:attrName>
                                        </p:attrNameLst>
                                      </p:cBhvr>
                                      <p:to>
                                        <p:strVal val="visible"/>
                                      </p:to>
                                    </p:set>
                                    <p:animEffect transition="in" filter="fade">
                                      <p:cBhvr>
                                        <p:cTn id="17" dur="500"/>
                                        <p:tgtEl>
                                          <p:spTgt spid="1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6A9C571-0B39-B128-BBDA-B2E578E300BC}"/>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D78C4A61-1169-012E-8772-767BF284C3B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30428F8C-89A2-47D7-B0C1-867B85E63E6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1FA923C3-1FA7-2A1E-FF2D-4CC2D9D30AF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F5CE7828-5F66-C4E2-AE67-592289F3527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16</a:t>
            </a:fld>
            <a:endParaRPr/>
          </a:p>
        </p:txBody>
      </p:sp>
      <p:sp>
        <p:nvSpPr>
          <p:cNvPr id="163" name="Google Shape;163;p4">
            <a:extLst>
              <a:ext uri="{FF2B5EF4-FFF2-40B4-BE49-F238E27FC236}">
                <a16:creationId xmlns:a16="http://schemas.microsoft.com/office/drawing/2014/main" id="{322710FF-8F5E-CEEE-2BEB-38B5C86B6614}"/>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Métricas orientadas al tamaño, como </a:t>
            </a:r>
            <a:r>
              <a:rPr lang="es-ES" sz="2800" b="1" dirty="0">
                <a:solidFill>
                  <a:schemeClr val="tx1"/>
                </a:solidFill>
              </a:rPr>
              <a:t>KLDC</a:t>
            </a:r>
            <a:r>
              <a:rPr lang="es-ES" sz="2800" dirty="0">
                <a:solidFill>
                  <a:schemeClr val="tx1"/>
                </a:solidFill>
              </a:rPr>
              <a:t> (miles de líneas de código), permiten obtener:</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i="1" dirty="0">
                <a:solidFill>
                  <a:schemeClr val="tx1"/>
                </a:solidFill>
              </a:rPr>
              <a:t>Productividad</a:t>
            </a:r>
            <a:r>
              <a:rPr lang="es-ES" sz="2400" dirty="0">
                <a:solidFill>
                  <a:schemeClr val="tx1"/>
                </a:solidFill>
              </a:rPr>
              <a:t>: relación entre KLDC / Persona mes</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i="1" dirty="0">
                <a:solidFill>
                  <a:schemeClr val="tx1"/>
                </a:solidFill>
              </a:rPr>
              <a:t>Calidad</a:t>
            </a:r>
            <a:r>
              <a:rPr lang="es-ES" sz="2400" dirty="0">
                <a:solidFill>
                  <a:schemeClr val="tx1"/>
                </a:solidFill>
              </a:rPr>
              <a:t>: relación entre Errores / KLDC</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i="1" dirty="0">
                <a:solidFill>
                  <a:schemeClr val="tx1"/>
                </a:solidFill>
              </a:rPr>
              <a:t>Costo</a:t>
            </a:r>
            <a:r>
              <a:rPr lang="es-ES" sz="2400" dirty="0">
                <a:solidFill>
                  <a:schemeClr val="tx1"/>
                </a:solidFill>
              </a:rPr>
              <a:t>: relación entre $ / KLDC</a:t>
            </a:r>
          </a:p>
          <a:p>
            <a:pPr marL="442913" lvl="0" indent="0" algn="just">
              <a:lnSpc>
                <a:spcPct val="85000"/>
              </a:lnSpc>
              <a:spcBef>
                <a:spcPts val="0"/>
              </a:spcBef>
              <a:spcAft>
                <a:spcPts val="1200"/>
              </a:spcAft>
              <a:buClr>
                <a:srgbClr val="C00000"/>
              </a:buClr>
              <a:buNone/>
            </a:pPr>
            <a:endParaRPr lang="es-ES" sz="1200" dirty="0">
              <a:solidFill>
                <a:schemeClr val="tx1"/>
              </a:solidFill>
            </a:endParaRPr>
          </a:p>
          <a:p>
            <a:pPr marL="442913" lvl="0" indent="0" algn="ctr">
              <a:lnSpc>
                <a:spcPct val="85000"/>
              </a:lnSpc>
              <a:spcBef>
                <a:spcPts val="0"/>
              </a:spcBef>
              <a:spcAft>
                <a:spcPts val="1200"/>
              </a:spcAft>
              <a:buClr>
                <a:srgbClr val="C00000"/>
              </a:buClr>
              <a:buNone/>
            </a:pPr>
            <a:r>
              <a:rPr lang="es-ES" sz="2400" dirty="0">
                <a:solidFill>
                  <a:srgbClr val="C00000"/>
                </a:solidFill>
              </a:rPr>
              <a:t>¿Cómo manejo las líneas en blanco, comentarios, etc.?</a:t>
            </a:r>
          </a:p>
        </p:txBody>
      </p:sp>
      <p:sp>
        <p:nvSpPr>
          <p:cNvPr id="2" name="Google Shape;158;p12">
            <a:extLst>
              <a:ext uri="{FF2B5EF4-FFF2-40B4-BE49-F238E27FC236}">
                <a16:creationId xmlns:a16="http://schemas.microsoft.com/office/drawing/2014/main" id="{F0427D12-8A5F-D4FB-3AB1-65E6B42E591F}"/>
              </a:ext>
            </a:extLst>
          </p:cNvPr>
          <p:cNvSpPr/>
          <p:nvPr/>
        </p:nvSpPr>
        <p:spPr>
          <a:xfrm>
            <a:off x="3153235" y="4956100"/>
            <a:ext cx="6534457" cy="1341461"/>
          </a:xfrm>
          <a:prstGeom prst="roundRect">
            <a:avLst/>
          </a:prstGeom>
          <a:solidFill>
            <a:srgbClr val="FFBFBF"/>
          </a:solidFill>
          <a:ln w="254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lvl="0" algn="ctr">
              <a:spcBef>
                <a:spcPts val="1200"/>
              </a:spcBef>
              <a:spcAft>
                <a:spcPts val="0"/>
              </a:spcAft>
              <a:buClr>
                <a:srgbClr val="000000"/>
              </a:buClr>
              <a:buSzPts val="1600"/>
            </a:pPr>
            <a:r>
              <a:rPr lang="es-AR" sz="1600" b="1" dirty="0">
                <a:solidFill>
                  <a:srgbClr val="C00000"/>
                </a:solidFill>
                <a:latin typeface="Calibri"/>
                <a:ea typeface="Calibri"/>
                <a:cs typeface="Calibri"/>
                <a:sym typeface="Calibri"/>
              </a:rPr>
              <a:t>Propuesta Fenton/</a:t>
            </a:r>
            <a:r>
              <a:rPr lang="es-AR" sz="1600" b="1" dirty="0" err="1">
                <a:solidFill>
                  <a:srgbClr val="C00000"/>
                </a:solidFill>
                <a:latin typeface="Calibri"/>
                <a:ea typeface="Calibri"/>
                <a:cs typeface="Calibri"/>
                <a:sym typeface="Calibri"/>
              </a:rPr>
              <a:t>Pfleeger</a:t>
            </a:r>
            <a:endParaRPr lang="es-AR" sz="1600" b="1" dirty="0">
              <a:solidFill>
                <a:srgbClr val="C00000"/>
              </a:solidFill>
              <a:latin typeface="Calibri"/>
              <a:ea typeface="Calibri"/>
              <a:cs typeface="Calibri"/>
              <a:sym typeface="Calibri"/>
            </a:endParaRPr>
          </a:p>
          <a:p>
            <a:pPr lvl="0" algn="ctr">
              <a:spcBef>
                <a:spcPts val="0"/>
              </a:spcBef>
              <a:spcAft>
                <a:spcPts val="0"/>
              </a:spcAft>
              <a:buClr>
                <a:srgbClr val="000000"/>
              </a:buClr>
              <a:buSzPts val="1600"/>
            </a:pPr>
            <a:endParaRPr lang="es-AR" sz="700" dirty="0">
              <a:solidFill>
                <a:srgbClr val="C00000"/>
              </a:solidFill>
              <a:latin typeface="Calibri"/>
              <a:ea typeface="Calibri"/>
              <a:cs typeface="Calibri"/>
              <a:sym typeface="Calibri"/>
            </a:endParaRPr>
          </a:p>
          <a:p>
            <a:pPr marL="285750" lvl="0" indent="-285750">
              <a:spcBef>
                <a:spcPts val="0"/>
              </a:spcBef>
              <a:spcAft>
                <a:spcPts val="0"/>
              </a:spcAft>
              <a:buClr>
                <a:srgbClr val="000000"/>
              </a:buClr>
              <a:buSzPts val="1600"/>
              <a:buFont typeface="Arial" panose="020B0604020202020204" pitchFamily="34" charset="0"/>
              <a:buChar char="•"/>
            </a:pPr>
            <a:r>
              <a:rPr lang="es-ES" sz="1600" dirty="0">
                <a:latin typeface="Calibri"/>
                <a:ea typeface="Calibri"/>
                <a:cs typeface="Calibri"/>
                <a:sym typeface="Calibri"/>
              </a:rPr>
              <a:t>Medir:​ CLOC = Cantidad de líneas de comentarios​</a:t>
            </a:r>
          </a:p>
          <a:p>
            <a:pPr marL="285750" lvl="0" indent="-285750">
              <a:spcBef>
                <a:spcPts val="0"/>
              </a:spcBef>
              <a:spcAft>
                <a:spcPts val="0"/>
              </a:spcAft>
              <a:buClr>
                <a:srgbClr val="000000"/>
              </a:buClr>
              <a:buSzPts val="1600"/>
              <a:buFont typeface="Arial" panose="020B0604020202020204" pitchFamily="34" charset="0"/>
              <a:buChar char="•"/>
            </a:pPr>
            <a:r>
              <a:rPr lang="es-ES" sz="1600" dirty="0">
                <a:latin typeface="Calibri"/>
                <a:ea typeface="Calibri"/>
                <a:cs typeface="Calibri"/>
                <a:sym typeface="Calibri"/>
              </a:rPr>
              <a:t>Luego:​ </a:t>
            </a:r>
            <a:r>
              <a:rPr lang="es-ES" sz="1600" dirty="0" err="1">
                <a:latin typeface="Calibri"/>
                <a:ea typeface="Calibri"/>
                <a:cs typeface="Calibri"/>
                <a:sym typeface="Calibri"/>
              </a:rPr>
              <a:t>long</a:t>
            </a:r>
            <a:r>
              <a:rPr lang="es-ES" sz="1600" dirty="0">
                <a:latin typeface="Calibri"/>
                <a:ea typeface="Calibri"/>
                <a:cs typeface="Calibri"/>
                <a:sym typeface="Calibri"/>
              </a:rPr>
              <a:t> total (LOC) = NCLOC + CLOC​</a:t>
            </a:r>
          </a:p>
          <a:p>
            <a:pPr marL="285750" lvl="0" indent="-285750">
              <a:spcBef>
                <a:spcPts val="0"/>
              </a:spcBef>
              <a:spcAft>
                <a:spcPts val="0"/>
              </a:spcAft>
              <a:buClr>
                <a:srgbClr val="000000"/>
              </a:buClr>
              <a:buSzPts val="1600"/>
              <a:buFont typeface="Arial" panose="020B0604020202020204" pitchFamily="34" charset="0"/>
              <a:buChar char="•"/>
            </a:pPr>
            <a:r>
              <a:rPr lang="es-ES" sz="1600" dirty="0">
                <a:latin typeface="Calibri"/>
                <a:ea typeface="Calibri"/>
                <a:cs typeface="Calibri"/>
                <a:sym typeface="Calibri"/>
              </a:rPr>
              <a:t>Surgen medidas indirectas:​ CLOC/LOC mide la densidad de comentarios​</a:t>
            </a:r>
          </a:p>
          <a:p>
            <a:pPr lvl="0">
              <a:spcBef>
                <a:spcPts val="0"/>
              </a:spcBef>
              <a:spcAft>
                <a:spcPts val="0"/>
              </a:spcAft>
              <a:buClr>
                <a:srgbClr val="000000"/>
              </a:buClr>
              <a:buSzPts val="1600"/>
            </a:pPr>
            <a:endParaRPr lang="es-AR" sz="1600" dirty="0">
              <a:solidFill>
                <a:srgbClr val="C00000"/>
              </a:solidFill>
              <a:latin typeface="Calibri"/>
              <a:ea typeface="Calibri"/>
              <a:cs typeface="Calibri"/>
              <a:sym typeface="Calibri"/>
            </a:endParaRPr>
          </a:p>
        </p:txBody>
      </p:sp>
    </p:spTree>
    <p:extLst>
      <p:ext uri="{BB962C8B-B14F-4D97-AF65-F5344CB8AC3E}">
        <p14:creationId xmlns:p14="http://schemas.microsoft.com/office/powerpoint/2010/main" val="399895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5" end="5"/>
                                            </p:txEl>
                                          </p:spTgt>
                                        </p:tgtEl>
                                        <p:attrNameLst>
                                          <p:attrName>style.visibility</p:attrName>
                                        </p:attrNameLst>
                                      </p:cBhvr>
                                      <p:to>
                                        <p:strVal val="visible"/>
                                      </p:to>
                                    </p:set>
                                    <p:animEffect transition="in" filter="fade">
                                      <p:cBhvr>
                                        <p:cTn id="7" dur="500"/>
                                        <p:tgtEl>
                                          <p:spTgt spid="16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FECA155-0BD0-BFB3-4DF3-A3B56E6EB17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7A4FAA1B-2EF5-78C2-6D60-68431BAEBDC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 - Ejemplo</a:t>
            </a:r>
            <a:endParaRPr dirty="0"/>
          </a:p>
        </p:txBody>
      </p:sp>
      <p:sp>
        <p:nvSpPr>
          <p:cNvPr id="160" name="Google Shape;160;p4">
            <a:extLst>
              <a:ext uri="{FF2B5EF4-FFF2-40B4-BE49-F238E27FC236}">
                <a16:creationId xmlns:a16="http://schemas.microsoft.com/office/drawing/2014/main" id="{270BA5C9-84E9-ED6C-BB4D-AF88F5AEA91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07AF2805-EF48-7FBD-B207-AE609E42A52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5A4E3B9-BDD9-09DC-4928-400B6AFBDB4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17</a:t>
            </a:fld>
            <a:endParaRPr/>
          </a:p>
        </p:txBody>
      </p:sp>
      <p:sp>
        <p:nvSpPr>
          <p:cNvPr id="163" name="Google Shape;163;p4">
            <a:extLst>
              <a:ext uri="{FF2B5EF4-FFF2-40B4-BE49-F238E27FC236}">
                <a16:creationId xmlns:a16="http://schemas.microsoft.com/office/drawing/2014/main" id="{C01B8AA0-D444-43DF-FDFC-8A886B23CE42}"/>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400" dirty="0">
                <a:solidFill>
                  <a:schemeClr val="tx1"/>
                </a:solidFill>
              </a:rPr>
              <a:t>Calcular, usando LDC, la productividad, calidad y costo para los cuatro proyectos de los cuales se proporcionan los datos:</a:t>
            </a:r>
          </a:p>
          <a:p>
            <a:pPr marL="530225" lvl="0"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lvl="0"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lvl="0"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lvl="0"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0" lvl="0" indent="0" algn="just">
              <a:lnSpc>
                <a:spcPct val="85000"/>
              </a:lnSpc>
              <a:spcBef>
                <a:spcPts val="0"/>
              </a:spcBef>
              <a:spcAft>
                <a:spcPts val="2400"/>
              </a:spcAft>
              <a:buClr>
                <a:srgbClr val="C00000"/>
              </a:buClr>
              <a:buNone/>
            </a:pPr>
            <a:endParaRPr lang="es-ES" dirty="0">
              <a:solidFill>
                <a:schemeClr val="tx1"/>
              </a:solidFill>
            </a:endParaRPr>
          </a:p>
          <a:p>
            <a:pPr marL="722313" lvl="0" indent="-279400" algn="just">
              <a:lnSpc>
                <a:spcPct val="85000"/>
              </a:lnSpc>
              <a:spcBef>
                <a:spcPts val="0"/>
              </a:spcBef>
              <a:spcAft>
                <a:spcPts val="600"/>
              </a:spcAft>
              <a:buClr>
                <a:srgbClr val="C00000"/>
              </a:buClr>
              <a:buFont typeface="Noto Sans Symbols2" panose="020B0502040504020204" pitchFamily="34" charset="0"/>
              <a:buChar char="»"/>
            </a:pPr>
            <a:r>
              <a:rPr lang="es-ES" sz="1600" i="1" dirty="0">
                <a:solidFill>
                  <a:schemeClr val="tx1"/>
                </a:solidFill>
              </a:rPr>
              <a:t>Productividad</a:t>
            </a:r>
            <a:r>
              <a:rPr lang="es-ES" sz="1600" dirty="0">
                <a:solidFill>
                  <a:schemeClr val="tx1"/>
                </a:solidFill>
              </a:rPr>
              <a:t>: KLDC / Persona mes</a:t>
            </a:r>
          </a:p>
          <a:p>
            <a:pPr marL="722313" lvl="0" indent="-279400" algn="just">
              <a:lnSpc>
                <a:spcPct val="85000"/>
              </a:lnSpc>
              <a:spcBef>
                <a:spcPts val="0"/>
              </a:spcBef>
              <a:spcAft>
                <a:spcPts val="600"/>
              </a:spcAft>
              <a:buClr>
                <a:srgbClr val="C00000"/>
              </a:buClr>
              <a:buFont typeface="Noto Sans Symbols2" panose="020B0502040504020204" pitchFamily="34" charset="0"/>
              <a:buChar char="»"/>
            </a:pPr>
            <a:r>
              <a:rPr lang="es-ES" sz="1600" i="1" dirty="0">
                <a:solidFill>
                  <a:schemeClr val="tx1"/>
                </a:solidFill>
              </a:rPr>
              <a:t>Calidad</a:t>
            </a:r>
            <a:r>
              <a:rPr lang="es-ES" sz="1600" dirty="0">
                <a:solidFill>
                  <a:schemeClr val="tx1"/>
                </a:solidFill>
              </a:rPr>
              <a:t>: errores/ KLDC</a:t>
            </a:r>
          </a:p>
          <a:p>
            <a:pPr marL="722313" lvl="0" indent="-279400" algn="just">
              <a:lnSpc>
                <a:spcPct val="85000"/>
              </a:lnSpc>
              <a:spcBef>
                <a:spcPts val="0"/>
              </a:spcBef>
              <a:spcAft>
                <a:spcPts val="600"/>
              </a:spcAft>
              <a:buClr>
                <a:srgbClr val="C00000"/>
              </a:buClr>
              <a:buFont typeface="Noto Sans Symbols2" panose="020B0502040504020204" pitchFamily="34" charset="0"/>
              <a:buChar char="»"/>
            </a:pPr>
            <a:r>
              <a:rPr lang="es-ES" sz="1600" i="1" dirty="0">
                <a:solidFill>
                  <a:schemeClr val="tx1"/>
                </a:solidFill>
              </a:rPr>
              <a:t>Documentación</a:t>
            </a:r>
            <a:r>
              <a:rPr lang="es-ES" sz="1600" dirty="0">
                <a:solidFill>
                  <a:schemeClr val="tx1"/>
                </a:solidFill>
              </a:rPr>
              <a:t>: págs. Doc./ KLDC</a:t>
            </a:r>
          </a:p>
          <a:p>
            <a:pPr marL="722313" lvl="0" indent="-279400" algn="just">
              <a:lnSpc>
                <a:spcPct val="85000"/>
              </a:lnSpc>
              <a:spcBef>
                <a:spcPts val="0"/>
              </a:spcBef>
              <a:spcAft>
                <a:spcPts val="600"/>
              </a:spcAft>
              <a:buClr>
                <a:srgbClr val="C00000"/>
              </a:buClr>
              <a:buFont typeface="Noto Sans Symbols2" panose="020B0502040504020204" pitchFamily="34" charset="0"/>
              <a:buChar char="»"/>
            </a:pPr>
            <a:r>
              <a:rPr lang="es-ES" sz="1600" i="1" dirty="0">
                <a:solidFill>
                  <a:schemeClr val="tx1"/>
                </a:solidFill>
              </a:rPr>
              <a:t>Costo</a:t>
            </a:r>
            <a:r>
              <a:rPr lang="es-ES" sz="1600" dirty="0">
                <a:solidFill>
                  <a:schemeClr val="tx1"/>
                </a:solidFill>
              </a:rPr>
              <a:t>: $ / KLDC</a:t>
            </a:r>
          </a:p>
          <a:p>
            <a:pPr marL="442913" lvl="0" indent="0" algn="just">
              <a:lnSpc>
                <a:spcPct val="85000"/>
              </a:lnSpc>
              <a:spcBef>
                <a:spcPts val="0"/>
              </a:spcBef>
              <a:spcAft>
                <a:spcPts val="1200"/>
              </a:spcAft>
              <a:buClr>
                <a:srgbClr val="C00000"/>
              </a:buClr>
              <a:buNone/>
            </a:pPr>
            <a:endParaRPr lang="es-ES" sz="12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4" name="Imagen 3">
            <a:extLst>
              <a:ext uri="{FF2B5EF4-FFF2-40B4-BE49-F238E27FC236}">
                <a16:creationId xmlns:a16="http://schemas.microsoft.com/office/drawing/2014/main" id="{ACDEFC42-326A-00C9-D164-22150774FD95}"/>
              </a:ext>
            </a:extLst>
          </p:cNvPr>
          <p:cNvPicPr>
            <a:picLocks noChangeAspect="1"/>
          </p:cNvPicPr>
          <p:nvPr/>
        </p:nvPicPr>
        <p:blipFill>
          <a:blip r:embed="rId3"/>
          <a:stretch>
            <a:fillRect/>
          </a:stretch>
        </p:blipFill>
        <p:spPr>
          <a:xfrm>
            <a:off x="2246042" y="2664923"/>
            <a:ext cx="7699915" cy="2456353"/>
          </a:xfrm>
          <a:prstGeom prst="rect">
            <a:avLst/>
          </a:prstGeom>
        </p:spPr>
      </p:pic>
      <p:sp>
        <p:nvSpPr>
          <p:cNvPr id="5" name="Google Shape;158;p12">
            <a:extLst>
              <a:ext uri="{FF2B5EF4-FFF2-40B4-BE49-F238E27FC236}">
                <a16:creationId xmlns:a16="http://schemas.microsoft.com/office/drawing/2014/main" id="{DFD36744-6FE2-E935-5CE3-57ED911CF8B2}"/>
              </a:ext>
            </a:extLst>
          </p:cNvPr>
          <p:cNvSpPr/>
          <p:nvPr/>
        </p:nvSpPr>
        <p:spPr>
          <a:xfrm>
            <a:off x="4790306" y="4999703"/>
            <a:ext cx="7401694" cy="1327355"/>
          </a:xfrm>
          <a:prstGeom prst="roundRect">
            <a:avLst/>
          </a:prstGeom>
          <a:solidFill>
            <a:schemeClr val="accent2">
              <a:lumMod val="40000"/>
              <a:lumOff val="60000"/>
            </a:schemeClr>
          </a:solidFill>
          <a:ln w="254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lvl="0" algn="ctr">
              <a:spcBef>
                <a:spcPts val="0"/>
              </a:spcBef>
              <a:spcAft>
                <a:spcPts val="0"/>
              </a:spcAft>
              <a:buClr>
                <a:srgbClr val="000000"/>
              </a:buClr>
              <a:buSzPts val="1600"/>
            </a:pPr>
            <a:endParaRPr lang="es-AR" sz="700" dirty="0">
              <a:solidFill>
                <a:srgbClr val="C00000"/>
              </a:solidFill>
              <a:latin typeface="Calibri"/>
              <a:ea typeface="Calibri"/>
              <a:cs typeface="Calibri"/>
              <a:sym typeface="Calibri"/>
            </a:endParaRPr>
          </a:p>
          <a:p>
            <a:pPr marL="285750" lvl="0" indent="-285750">
              <a:lnSpc>
                <a:spcPct val="150000"/>
              </a:lnSpc>
              <a:spcBef>
                <a:spcPts val="0"/>
              </a:spcBef>
              <a:spcAft>
                <a:spcPts val="0"/>
              </a:spcAft>
              <a:buClr>
                <a:srgbClr val="000000"/>
              </a:buClr>
              <a:buSzPts val="1600"/>
              <a:buFont typeface="Arial" panose="020B0604020202020204" pitchFamily="34" charset="0"/>
              <a:buChar char="•"/>
            </a:pPr>
            <a:r>
              <a:rPr lang="es-ES" sz="1600" dirty="0">
                <a:latin typeface="Calibri"/>
                <a:ea typeface="Calibri"/>
                <a:cs typeface="Calibri"/>
                <a:sym typeface="Calibri"/>
              </a:rPr>
              <a:t>¿Cuál es el proyecto de </a:t>
            </a:r>
            <a:r>
              <a:rPr lang="es-ES" sz="1600" b="1" dirty="0">
                <a:latin typeface="Calibri"/>
                <a:ea typeface="Calibri"/>
                <a:cs typeface="Calibri"/>
                <a:sym typeface="Calibri"/>
              </a:rPr>
              <a:t>mayor calidad </a:t>
            </a:r>
            <a:r>
              <a:rPr lang="es-ES" sz="1600" dirty="0">
                <a:latin typeface="Calibri"/>
                <a:ea typeface="Calibri"/>
                <a:cs typeface="Calibri"/>
                <a:sym typeface="Calibri"/>
              </a:rPr>
              <a:t>(errores/KLDC)?​</a:t>
            </a:r>
          </a:p>
          <a:p>
            <a:pPr marL="285750" lvl="0" indent="-285750">
              <a:lnSpc>
                <a:spcPct val="150000"/>
              </a:lnSpc>
              <a:spcBef>
                <a:spcPts val="0"/>
              </a:spcBef>
              <a:spcAft>
                <a:spcPts val="0"/>
              </a:spcAft>
              <a:buClr>
                <a:srgbClr val="000000"/>
              </a:buClr>
              <a:buSzPts val="1600"/>
              <a:buFont typeface="Arial" panose="020B0604020202020204" pitchFamily="34" charset="0"/>
              <a:buChar char="•"/>
            </a:pPr>
            <a:r>
              <a:rPr lang="es-ES" sz="1600" dirty="0">
                <a:latin typeface="Calibri"/>
                <a:ea typeface="Calibri"/>
                <a:cs typeface="Calibri"/>
                <a:sym typeface="Calibri"/>
              </a:rPr>
              <a:t>¿Cuál es el proyecto de </a:t>
            </a:r>
            <a:r>
              <a:rPr lang="es-ES" sz="1600" b="1" dirty="0">
                <a:latin typeface="Calibri"/>
                <a:ea typeface="Calibri"/>
                <a:cs typeface="Calibri"/>
                <a:sym typeface="Calibri"/>
              </a:rPr>
              <a:t>mayor costo por línea </a:t>
            </a:r>
            <a:r>
              <a:rPr lang="es-ES" sz="1600" dirty="0">
                <a:latin typeface="Calibri"/>
                <a:ea typeface="Calibri"/>
                <a:cs typeface="Calibri"/>
                <a:sym typeface="Calibri"/>
              </a:rPr>
              <a:t>($/KLDC)?​</a:t>
            </a:r>
          </a:p>
          <a:p>
            <a:pPr marL="285750" lvl="0" indent="-285750">
              <a:lnSpc>
                <a:spcPct val="150000"/>
              </a:lnSpc>
              <a:spcBef>
                <a:spcPts val="0"/>
              </a:spcBef>
              <a:spcAft>
                <a:spcPts val="0"/>
              </a:spcAft>
              <a:buClr>
                <a:srgbClr val="000000"/>
              </a:buClr>
              <a:buSzPts val="1600"/>
              <a:buFont typeface="Arial" panose="020B0604020202020204" pitchFamily="34" charset="0"/>
              <a:buChar char="•"/>
            </a:pPr>
            <a:r>
              <a:rPr lang="es-ES" sz="1600" dirty="0">
                <a:latin typeface="Calibri"/>
                <a:ea typeface="Calibri"/>
                <a:cs typeface="Calibri"/>
                <a:sym typeface="Calibri"/>
              </a:rPr>
              <a:t>¿Cuál es el proyecto de </a:t>
            </a:r>
            <a:r>
              <a:rPr lang="es-ES" sz="1600" b="1" dirty="0">
                <a:latin typeface="Calibri"/>
                <a:ea typeface="Calibri"/>
                <a:cs typeface="Calibri"/>
                <a:sym typeface="Calibri"/>
              </a:rPr>
              <a:t>menor productividad por persona </a:t>
            </a:r>
            <a:r>
              <a:rPr lang="es-ES" sz="1600" dirty="0">
                <a:latin typeface="Calibri"/>
                <a:ea typeface="Calibri"/>
                <a:cs typeface="Calibri"/>
                <a:sym typeface="Calibri"/>
              </a:rPr>
              <a:t>(KLDC/personas-mes)?​</a:t>
            </a:r>
          </a:p>
          <a:p>
            <a:pPr lvl="0">
              <a:spcBef>
                <a:spcPts val="0"/>
              </a:spcBef>
              <a:spcAft>
                <a:spcPts val="0"/>
              </a:spcAft>
              <a:buClr>
                <a:srgbClr val="000000"/>
              </a:buClr>
              <a:buSzPts val="1600"/>
            </a:pPr>
            <a:endParaRPr lang="es-AR" sz="1600" dirty="0">
              <a:solidFill>
                <a:srgbClr val="C00000"/>
              </a:solidFill>
              <a:latin typeface="Calibri"/>
              <a:ea typeface="Calibri"/>
              <a:cs typeface="Calibri"/>
              <a:sym typeface="Calibri"/>
            </a:endParaRPr>
          </a:p>
        </p:txBody>
      </p:sp>
    </p:spTree>
    <p:extLst>
      <p:ext uri="{BB962C8B-B14F-4D97-AF65-F5344CB8AC3E}">
        <p14:creationId xmlns:p14="http://schemas.microsoft.com/office/powerpoint/2010/main" val="1273799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6" end="6"/>
                                            </p:txEl>
                                          </p:spTgt>
                                        </p:tgtEl>
                                        <p:attrNameLst>
                                          <p:attrName>style.visibility</p:attrName>
                                        </p:attrNameLst>
                                      </p:cBhvr>
                                      <p:to>
                                        <p:strVal val="visible"/>
                                      </p:to>
                                    </p:set>
                                    <p:animEffect transition="in" filter="fade">
                                      <p:cBhvr>
                                        <p:cTn id="7" dur="500"/>
                                        <p:tgtEl>
                                          <p:spTgt spid="16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
                                            <p:txEl>
                                              <p:pRg st="7" end="7"/>
                                            </p:txEl>
                                          </p:spTgt>
                                        </p:tgtEl>
                                        <p:attrNameLst>
                                          <p:attrName>style.visibility</p:attrName>
                                        </p:attrNameLst>
                                      </p:cBhvr>
                                      <p:to>
                                        <p:strVal val="visible"/>
                                      </p:to>
                                    </p:set>
                                    <p:animEffect transition="in" filter="fade">
                                      <p:cBhvr>
                                        <p:cTn id="10" dur="500"/>
                                        <p:tgtEl>
                                          <p:spTgt spid="163">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3">
                                            <p:txEl>
                                              <p:pRg st="8" end="8"/>
                                            </p:txEl>
                                          </p:spTgt>
                                        </p:tgtEl>
                                        <p:attrNameLst>
                                          <p:attrName>style.visibility</p:attrName>
                                        </p:attrNameLst>
                                      </p:cBhvr>
                                      <p:to>
                                        <p:strVal val="visible"/>
                                      </p:to>
                                    </p:set>
                                    <p:animEffect transition="in" filter="fade">
                                      <p:cBhvr>
                                        <p:cTn id="13" dur="500"/>
                                        <p:tgtEl>
                                          <p:spTgt spid="163">
                                            <p:txEl>
                                              <p:pRg st="8" end="8"/>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63">
                                            <p:txEl>
                                              <p:pRg st="9" end="9"/>
                                            </p:txEl>
                                          </p:spTgt>
                                        </p:tgtEl>
                                        <p:attrNameLst>
                                          <p:attrName>style.visibility</p:attrName>
                                        </p:attrNameLst>
                                      </p:cBhvr>
                                      <p:to>
                                        <p:strVal val="visible"/>
                                      </p:to>
                                    </p:set>
                                    <p:animEffect transition="in" filter="fade">
                                      <p:cBhvr>
                                        <p:cTn id="16" dur="500"/>
                                        <p:tgtEl>
                                          <p:spTgt spid="163">
                                            <p:txEl>
                                              <p:pRg st="9" end="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4FBF187-2638-1C41-FA33-619197925E3A}"/>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6057FF3-724C-1369-2AFA-17D948519D5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AE684133-C40F-7C94-4A86-9D302BC3B7B7}"/>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6843D934-5EEE-47D2-E5B2-60BE26315B9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07558CD0-D3EE-EB77-553A-D556108A2CE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18</a:t>
            </a:fld>
            <a:endParaRPr/>
          </a:p>
        </p:txBody>
      </p:sp>
      <p:sp>
        <p:nvSpPr>
          <p:cNvPr id="163" name="Google Shape;163;p4">
            <a:extLst>
              <a:ext uri="{FF2B5EF4-FFF2-40B4-BE49-F238E27FC236}">
                <a16:creationId xmlns:a16="http://schemas.microsoft.com/office/drawing/2014/main" id="{4555B8AC-AD8A-9B4B-3BA4-F83E2323FD77}"/>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Métricas de funcionalidad de un sistema, como </a:t>
            </a:r>
            <a:r>
              <a:rPr lang="es-ES" sz="2800" b="1" dirty="0">
                <a:solidFill>
                  <a:schemeClr val="tx1"/>
                </a:solidFill>
              </a:rPr>
              <a:t>Punto Función (PF)</a:t>
            </a:r>
            <a:r>
              <a:rPr lang="es-ES" sz="2800" dirty="0">
                <a:solidFill>
                  <a:schemeClr val="tx1"/>
                </a:solidFill>
              </a:rPr>
              <a:t>, permiten obtener:</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i="1" dirty="0">
                <a:solidFill>
                  <a:schemeClr val="tx1"/>
                </a:solidFill>
              </a:rPr>
              <a:t>Productividad</a:t>
            </a:r>
            <a:r>
              <a:rPr lang="es-ES" sz="2400" dirty="0">
                <a:solidFill>
                  <a:schemeClr val="tx1"/>
                </a:solidFill>
              </a:rPr>
              <a:t>: relación entre PF / Persona mes</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i="1" dirty="0">
                <a:solidFill>
                  <a:schemeClr val="tx1"/>
                </a:solidFill>
              </a:rPr>
              <a:t>Calidad</a:t>
            </a:r>
            <a:r>
              <a:rPr lang="es-ES" sz="2400" dirty="0">
                <a:solidFill>
                  <a:schemeClr val="tx1"/>
                </a:solidFill>
              </a:rPr>
              <a:t>: relación entre Errores / PF</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i="1" dirty="0">
                <a:solidFill>
                  <a:schemeClr val="tx1"/>
                </a:solidFill>
              </a:rPr>
              <a:t>Costo</a:t>
            </a:r>
            <a:r>
              <a:rPr lang="es-ES" sz="2400" dirty="0">
                <a:solidFill>
                  <a:schemeClr val="tx1"/>
                </a:solidFill>
              </a:rPr>
              <a:t>: relación entre $ / PF</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endParaRPr lang="es-ES" dirty="0">
              <a:solidFill>
                <a:srgbClr val="C00000"/>
              </a:solidFill>
            </a:endParaRPr>
          </a:p>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sym typeface="Calibri"/>
              </a:rPr>
              <a:t>Es una </a:t>
            </a:r>
            <a:r>
              <a:rPr lang="es-ES" sz="2800" u="sng" dirty="0">
                <a:solidFill>
                  <a:schemeClr val="tx1"/>
                </a:solidFill>
                <a:sym typeface="Calibri"/>
              </a:rPr>
              <a:t>Métrica temprana</a:t>
            </a:r>
          </a:p>
          <a:p>
            <a:pPr marL="0" indent="0" algn="just">
              <a:lnSpc>
                <a:spcPct val="85000"/>
              </a:lnSpc>
              <a:spcBef>
                <a:spcPts val="0"/>
              </a:spcBef>
              <a:spcAft>
                <a:spcPts val="1200"/>
              </a:spcAft>
              <a:buClr>
                <a:srgbClr val="C00000"/>
              </a:buClr>
              <a:buNone/>
            </a:pPr>
            <a:endParaRPr lang="es-ES" sz="1000" u="sng" dirty="0">
              <a:solidFill>
                <a:schemeClr val="tx1"/>
              </a:solidFill>
              <a:sym typeface="Calibri"/>
            </a:endParaRPr>
          </a:p>
          <a:p>
            <a:pPr marL="0" indent="0" algn="ctr">
              <a:lnSpc>
                <a:spcPct val="85000"/>
              </a:lnSpc>
              <a:spcBef>
                <a:spcPts val="0"/>
              </a:spcBef>
              <a:spcAft>
                <a:spcPts val="1200"/>
              </a:spcAft>
              <a:buClr>
                <a:srgbClr val="C00000"/>
              </a:buClr>
              <a:buNone/>
            </a:pPr>
            <a:r>
              <a:rPr lang="es-ES" sz="2400" dirty="0">
                <a:solidFill>
                  <a:srgbClr val="C00000"/>
                </a:solidFill>
                <a:sym typeface="Calibri"/>
              </a:rPr>
              <a:t> </a:t>
            </a:r>
            <a:r>
              <a:rPr lang="es-ES" sz="2400" i="1" dirty="0">
                <a:solidFill>
                  <a:srgbClr val="C00000"/>
                </a:solidFill>
                <a:sym typeface="Calibri"/>
              </a:rPr>
              <a:t>Medida subjetiva </a:t>
            </a:r>
            <a:r>
              <a:rPr lang="es-ES" sz="2400" b="1" i="1" dirty="0">
                <a:solidFill>
                  <a:srgbClr val="C00000"/>
                </a:solidFill>
                <a:sym typeface="Calibri"/>
              </a:rPr>
              <a:t>independiente del lenguaje</a:t>
            </a:r>
            <a:r>
              <a:rPr lang="es-ES" sz="2400" i="1" dirty="0">
                <a:solidFill>
                  <a:srgbClr val="C00000"/>
                </a:solidFill>
                <a:sym typeface="Calibri"/>
              </a:rPr>
              <a:t>, de estimación más fácil</a:t>
            </a: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294599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5" end="5"/>
                                            </p:txEl>
                                          </p:spTgt>
                                        </p:tgtEl>
                                        <p:attrNameLst>
                                          <p:attrName>style.visibility</p:attrName>
                                        </p:attrNameLst>
                                      </p:cBhvr>
                                      <p:to>
                                        <p:strVal val="visible"/>
                                      </p:to>
                                    </p:set>
                                    <p:animEffect transition="in" filter="fade">
                                      <p:cBhvr>
                                        <p:cTn id="7" dur="500"/>
                                        <p:tgtEl>
                                          <p:spTgt spid="16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7" end="7"/>
                                            </p:txEl>
                                          </p:spTgt>
                                        </p:tgtEl>
                                        <p:attrNameLst>
                                          <p:attrName>style.visibility</p:attrName>
                                        </p:attrNameLst>
                                      </p:cBhvr>
                                      <p:to>
                                        <p:strVal val="visible"/>
                                      </p:to>
                                    </p:set>
                                    <p:animEffect transition="in" filter="fade">
                                      <p:cBhvr>
                                        <p:cTn id="12" dur="500"/>
                                        <p:tgtEl>
                                          <p:spTgt spid="1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10293ADF-8C37-AA94-DBAD-14125BA880E5}"/>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7552FC80-FED2-E97A-8444-897CE9AE1488}"/>
              </a:ext>
            </a:extLst>
          </p:cNvPr>
          <p:cNvSpPr/>
          <p:nvPr/>
        </p:nvSpPr>
        <p:spPr>
          <a:xfrm>
            <a:off x="5893985" y="2966966"/>
            <a:ext cx="403576" cy="369332"/>
          </a:xfrm>
          <a:prstGeom prst="roundRect">
            <a:avLst/>
          </a:prstGeom>
          <a:solidFill>
            <a:schemeClr val="accent1">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esquinas redondeadas 11">
            <a:extLst>
              <a:ext uri="{FF2B5EF4-FFF2-40B4-BE49-F238E27FC236}">
                <a16:creationId xmlns:a16="http://schemas.microsoft.com/office/drawing/2014/main" id="{F7B76533-784B-A966-98B3-E2ACACED4D8F}"/>
              </a:ext>
            </a:extLst>
          </p:cNvPr>
          <p:cNvSpPr/>
          <p:nvPr/>
        </p:nvSpPr>
        <p:spPr>
          <a:xfrm>
            <a:off x="5610411" y="3546961"/>
            <a:ext cx="2486221" cy="369332"/>
          </a:xfrm>
          <a:prstGeom prst="roundRect">
            <a:avLst/>
          </a:prstGeom>
          <a:solidFill>
            <a:schemeClr val="accent1">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esquinas redondeadas 5">
            <a:extLst>
              <a:ext uri="{FF2B5EF4-FFF2-40B4-BE49-F238E27FC236}">
                <a16:creationId xmlns:a16="http://schemas.microsoft.com/office/drawing/2014/main" id="{466EFC9C-0AEA-D75D-5B0F-6870022554D2}"/>
              </a:ext>
            </a:extLst>
          </p:cNvPr>
          <p:cNvSpPr/>
          <p:nvPr/>
        </p:nvSpPr>
        <p:spPr>
          <a:xfrm>
            <a:off x="3288632" y="2975265"/>
            <a:ext cx="737936" cy="369332"/>
          </a:xfrm>
          <a:prstGeom prst="roundRect">
            <a:avLst/>
          </a:prstGeom>
          <a:solidFill>
            <a:schemeClr val="accent1">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Rectángulo: esquinas redondeadas 3">
            <a:extLst>
              <a:ext uri="{FF2B5EF4-FFF2-40B4-BE49-F238E27FC236}">
                <a16:creationId xmlns:a16="http://schemas.microsoft.com/office/drawing/2014/main" id="{08DD3581-7AF5-15D1-BFE7-6B9F66817477}"/>
              </a:ext>
            </a:extLst>
          </p:cNvPr>
          <p:cNvSpPr/>
          <p:nvPr/>
        </p:nvSpPr>
        <p:spPr>
          <a:xfrm>
            <a:off x="2695074" y="3882189"/>
            <a:ext cx="3080084" cy="1684422"/>
          </a:xfrm>
          <a:prstGeom prst="roundRect">
            <a:avLst/>
          </a:prstGeom>
          <a:solidFill>
            <a:schemeClr val="accent1">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9" name="Google Shape;159;p4">
            <a:extLst>
              <a:ext uri="{FF2B5EF4-FFF2-40B4-BE49-F238E27FC236}">
                <a16:creationId xmlns:a16="http://schemas.microsoft.com/office/drawing/2014/main" id="{273C8A0D-B4F2-D172-6EB1-AF747513FFD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C59798FE-4F3F-1C96-9656-C9F5CCC3610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333D3453-BF68-7757-F891-FAC7B046713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618BDEDD-1F02-3179-B0C3-520086FA7B9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19</a:t>
            </a:fld>
            <a:endParaRPr/>
          </a:p>
        </p:txBody>
      </p:sp>
      <p:sp>
        <p:nvSpPr>
          <p:cNvPr id="163" name="Google Shape;163;p4">
            <a:extLst>
              <a:ext uri="{FF2B5EF4-FFF2-40B4-BE49-F238E27FC236}">
                <a16:creationId xmlns:a16="http://schemas.microsoft.com/office/drawing/2014/main" id="{0E886C3B-FDFB-F00A-6A23-594CDCAB1019}"/>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PF – Punto Función, mide cuánta funcionalidad ofrece un sistema según su especificación, no cuántas líneas de código tiene.</a:t>
            </a: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
        <p:nvSpPr>
          <p:cNvPr id="2" name="Google Shape;240;p19">
            <a:extLst>
              <a:ext uri="{FF2B5EF4-FFF2-40B4-BE49-F238E27FC236}">
                <a16:creationId xmlns:a16="http://schemas.microsoft.com/office/drawing/2014/main" id="{46F5EA26-AEFE-F7E9-8C47-9BF051EC692C}"/>
              </a:ext>
            </a:extLst>
          </p:cNvPr>
          <p:cNvSpPr txBox="1"/>
          <p:nvPr/>
        </p:nvSpPr>
        <p:spPr>
          <a:xfrm>
            <a:off x="2820322" y="2609850"/>
            <a:ext cx="7416800" cy="4032250"/>
          </a:xfrm>
          <a:prstGeom prst="rect">
            <a:avLst/>
          </a:prstGeom>
          <a:noFill/>
          <a:ln>
            <a:noFill/>
          </a:ln>
        </p:spPr>
        <p:txBody>
          <a:bodyPr spcFirstLastPara="1" wrap="square" lIns="92075" tIns="46025" rIns="92075" bIns="46025" anchor="t" anchorCtr="0">
            <a:noAutofit/>
          </a:bodyPr>
          <a:lstStyle/>
          <a:p>
            <a:pPr marL="319088" marR="0" lvl="0" indent="-319088" algn="l" rtl="0">
              <a:lnSpc>
                <a:spcPct val="80000"/>
              </a:lnSpc>
              <a:spcBef>
                <a:spcPts val="700"/>
              </a:spcBef>
              <a:spcAft>
                <a:spcPts val="0"/>
              </a:spcAft>
              <a:buClr>
                <a:srgbClr val="000000"/>
              </a:buClr>
              <a:buSzPts val="1800"/>
              <a:buFont typeface="Arial"/>
              <a:buNone/>
            </a:pPr>
            <a:endParaRPr sz="1800" b="1" i="0" u="none" strike="noStrike" cap="none" dirty="0">
              <a:latin typeface="Twentieth Century"/>
              <a:ea typeface="Twentieth Century"/>
              <a:cs typeface="Twentieth Century"/>
              <a:sym typeface="Twentieth Century"/>
            </a:endParaRPr>
          </a:p>
          <a:p>
            <a:pPr marL="319088" marR="0" lvl="0" indent="-319088" algn="l" rtl="0">
              <a:lnSpc>
                <a:spcPct val="80000"/>
              </a:lnSpc>
              <a:spcBef>
                <a:spcPts val="700"/>
              </a:spcBef>
              <a:spcAft>
                <a:spcPts val="0"/>
              </a:spcAft>
              <a:buClr>
                <a:srgbClr val="000000"/>
              </a:buClr>
              <a:buSzPts val="1800"/>
              <a:buFont typeface="Arial"/>
              <a:buNone/>
            </a:pPr>
            <a:r>
              <a:rPr lang="es-AR" sz="1800" b="1" i="0" u="none" strike="noStrike" cap="none" dirty="0">
                <a:latin typeface="Twentieth Century"/>
                <a:ea typeface="Twentieth Century"/>
                <a:cs typeface="Twentieth Century"/>
                <a:sym typeface="Twentieth Century"/>
              </a:rPr>
              <a:t>PF = TOTAL * [0.65 + 0.01 * SUM(Fi)]       i=1 a 14    0 &lt;= Fi&lt;=5</a:t>
            </a:r>
            <a:endParaRPr sz="1400" b="0" i="0" u="none" strike="noStrike" cap="none" dirty="0">
              <a:latin typeface="Arial"/>
              <a:ea typeface="Arial"/>
              <a:cs typeface="Arial"/>
              <a:sym typeface="Arial"/>
            </a:endParaRPr>
          </a:p>
          <a:p>
            <a:pPr marL="319088" marR="0" lvl="0" indent="-319088" algn="l" rtl="0">
              <a:lnSpc>
                <a:spcPct val="80000"/>
              </a:lnSpc>
              <a:spcBef>
                <a:spcPts val="700"/>
              </a:spcBef>
              <a:spcAft>
                <a:spcPts val="0"/>
              </a:spcAft>
              <a:buClr>
                <a:srgbClr val="000000"/>
              </a:buClr>
              <a:buSzPts val="1800"/>
              <a:buFont typeface="Arial"/>
              <a:buNone/>
            </a:pPr>
            <a:endParaRPr sz="1800" b="1" i="0" u="none" strike="noStrike" cap="none" dirty="0">
              <a:latin typeface="Twentieth Century"/>
              <a:ea typeface="Twentieth Century"/>
              <a:cs typeface="Twentieth Century"/>
              <a:sym typeface="Twentieth Century"/>
            </a:endParaRPr>
          </a:p>
          <a:p>
            <a:pPr marL="319088" marR="0" lvl="0" indent="-319088" algn="l" rtl="0">
              <a:lnSpc>
                <a:spcPct val="80000"/>
              </a:lnSpc>
              <a:spcBef>
                <a:spcPts val="700"/>
              </a:spcBef>
              <a:spcAft>
                <a:spcPts val="0"/>
              </a:spcAft>
              <a:buClr>
                <a:srgbClr val="000000"/>
              </a:buClr>
              <a:buSzPts val="1800"/>
              <a:buFont typeface="Arial"/>
              <a:buNone/>
            </a:pPr>
            <a:r>
              <a:rPr lang="es-AR" sz="1800" b="1" i="0" u="none" strike="noStrike" cap="none" dirty="0">
                <a:latin typeface="Twentieth Century"/>
                <a:ea typeface="Twentieth Century"/>
                <a:cs typeface="Twentieth Century"/>
                <a:sym typeface="Twentieth Century"/>
              </a:rPr>
              <a:t>                                                     </a:t>
            </a:r>
            <a:r>
              <a:rPr lang="es-AR" sz="1800" b="1" i="0" u="none" strike="noStrike" cap="none" dirty="0" err="1">
                <a:latin typeface="Twentieth Century"/>
                <a:ea typeface="Twentieth Century"/>
                <a:cs typeface="Twentieth Century"/>
                <a:sym typeface="Twentieth Century"/>
              </a:rPr>
              <a:t>simple|medio|complejo</a:t>
            </a:r>
            <a:endParaRPr sz="1800" b="1" i="0" u="none" strike="noStrike" cap="none" dirty="0">
              <a:latin typeface="Twentieth Century"/>
              <a:ea typeface="Twentieth Century"/>
              <a:cs typeface="Twentieth Century"/>
              <a:sym typeface="Twentieth Century"/>
            </a:endParaRPr>
          </a:p>
          <a:p>
            <a:pPr marL="319088" marR="0" lvl="0" indent="-319088" algn="l" rtl="0">
              <a:lnSpc>
                <a:spcPct val="80000"/>
              </a:lnSpc>
              <a:spcBef>
                <a:spcPts val="700"/>
              </a:spcBef>
              <a:spcAft>
                <a:spcPts val="0"/>
              </a:spcAft>
              <a:buClr>
                <a:srgbClr val="000000"/>
              </a:buClr>
              <a:buSzPts val="1800"/>
              <a:buFont typeface="Arial"/>
              <a:buNone/>
            </a:pPr>
            <a:r>
              <a:rPr lang="es-AR" sz="1800" b="1" i="0" u="none" strike="noStrike" cap="none" dirty="0">
                <a:latin typeface="Twentieth Century"/>
                <a:ea typeface="Twentieth Century"/>
                <a:cs typeface="Twentieth Century"/>
                <a:sym typeface="Twentieth Century"/>
              </a:rPr>
              <a:t># Entradas                                     *    [  3 |  4  |  6   ]    =      ......</a:t>
            </a:r>
            <a:endParaRPr sz="1400" b="0" i="0" u="none" strike="noStrike" cap="none" dirty="0">
              <a:latin typeface="Arial"/>
              <a:ea typeface="Arial"/>
              <a:cs typeface="Arial"/>
              <a:sym typeface="Arial"/>
            </a:endParaRPr>
          </a:p>
          <a:p>
            <a:pPr marL="319088" marR="0" lvl="0" indent="-319088" algn="l" rtl="0">
              <a:lnSpc>
                <a:spcPct val="80000"/>
              </a:lnSpc>
              <a:spcBef>
                <a:spcPts val="700"/>
              </a:spcBef>
              <a:spcAft>
                <a:spcPts val="0"/>
              </a:spcAft>
              <a:buClr>
                <a:srgbClr val="000000"/>
              </a:buClr>
              <a:buSzPts val="1800"/>
              <a:buFont typeface="Arial"/>
              <a:buNone/>
            </a:pPr>
            <a:r>
              <a:rPr lang="es-AR" sz="1800" b="1" i="0" u="none" strike="noStrike" cap="none" dirty="0">
                <a:latin typeface="Twentieth Century"/>
                <a:ea typeface="Twentieth Century"/>
                <a:cs typeface="Twentieth Century"/>
                <a:sym typeface="Twentieth Century"/>
              </a:rPr>
              <a:t># Salidas                                        *    [  4 |  5  |  7   ]    =      ......</a:t>
            </a:r>
            <a:endParaRPr sz="1400" b="0" i="0" u="none" strike="noStrike" cap="none" dirty="0">
              <a:latin typeface="Arial"/>
              <a:ea typeface="Arial"/>
              <a:cs typeface="Arial"/>
              <a:sym typeface="Arial"/>
            </a:endParaRPr>
          </a:p>
          <a:p>
            <a:pPr marL="319088" marR="0" lvl="0" indent="-319088" algn="l" rtl="0">
              <a:lnSpc>
                <a:spcPct val="80000"/>
              </a:lnSpc>
              <a:spcBef>
                <a:spcPts val="700"/>
              </a:spcBef>
              <a:spcAft>
                <a:spcPts val="0"/>
              </a:spcAft>
              <a:buClr>
                <a:srgbClr val="000000"/>
              </a:buClr>
              <a:buSzPts val="1800"/>
              <a:buFont typeface="Arial"/>
              <a:buNone/>
            </a:pPr>
            <a:r>
              <a:rPr lang="es-AR" sz="1800" b="1" i="0" u="none" strike="noStrike" cap="none" dirty="0">
                <a:latin typeface="Twentieth Century"/>
                <a:ea typeface="Twentieth Century"/>
                <a:cs typeface="Twentieth Century"/>
                <a:sym typeface="Twentieth Century"/>
              </a:rPr>
              <a:t># Consultas                                    *    [  3 |  4  |  6   ]    =      ......</a:t>
            </a:r>
            <a:endParaRPr sz="1400" b="0" i="0" u="none" strike="noStrike" cap="none" dirty="0">
              <a:latin typeface="Arial"/>
              <a:ea typeface="Arial"/>
              <a:cs typeface="Arial"/>
              <a:sym typeface="Arial"/>
            </a:endParaRPr>
          </a:p>
          <a:p>
            <a:pPr marL="319088" marR="0" lvl="0" indent="-319088" algn="l" rtl="0">
              <a:lnSpc>
                <a:spcPct val="80000"/>
              </a:lnSpc>
              <a:spcBef>
                <a:spcPts val="700"/>
              </a:spcBef>
              <a:spcAft>
                <a:spcPts val="0"/>
              </a:spcAft>
              <a:buClr>
                <a:srgbClr val="000000"/>
              </a:buClr>
              <a:buSzPts val="1800"/>
              <a:buFont typeface="Arial"/>
              <a:buNone/>
            </a:pPr>
            <a:r>
              <a:rPr lang="es-AR" sz="1800" b="1" i="0" u="none" strike="noStrike" cap="none" dirty="0">
                <a:latin typeface="Twentieth Century"/>
                <a:ea typeface="Twentieth Century"/>
                <a:cs typeface="Twentieth Century"/>
                <a:sym typeface="Twentieth Century"/>
              </a:rPr>
              <a:t># Almacenamientos internos         *    [  7 | 10 |  15 ]    =      ......</a:t>
            </a:r>
            <a:endParaRPr sz="1400" b="0" i="0" u="none" strike="noStrike" cap="none" dirty="0">
              <a:latin typeface="Arial"/>
              <a:ea typeface="Arial"/>
              <a:cs typeface="Arial"/>
              <a:sym typeface="Arial"/>
            </a:endParaRPr>
          </a:p>
          <a:p>
            <a:pPr marL="319088" marR="0" lvl="0" indent="-319088" algn="l" rtl="0">
              <a:lnSpc>
                <a:spcPct val="80000"/>
              </a:lnSpc>
              <a:spcBef>
                <a:spcPts val="700"/>
              </a:spcBef>
              <a:spcAft>
                <a:spcPts val="0"/>
              </a:spcAft>
              <a:buClr>
                <a:srgbClr val="000000"/>
              </a:buClr>
              <a:buSzPts val="1800"/>
              <a:buFont typeface="Arial"/>
              <a:buNone/>
            </a:pPr>
            <a:r>
              <a:rPr lang="es-AR" sz="1800" b="1" i="0" u="none" strike="noStrike" cap="none" dirty="0">
                <a:latin typeface="Twentieth Century"/>
                <a:ea typeface="Twentieth Century"/>
                <a:cs typeface="Twentieth Century"/>
                <a:sym typeface="Twentieth Century"/>
              </a:rPr>
              <a:t># Interfaces externas                     *    [  5 |  7  |  10 ]     =      ......</a:t>
            </a:r>
            <a:endParaRPr sz="1400" b="0" i="0" u="none" strike="noStrike" cap="none" dirty="0">
              <a:latin typeface="Arial"/>
              <a:ea typeface="Arial"/>
              <a:cs typeface="Arial"/>
              <a:sym typeface="Arial"/>
            </a:endParaRPr>
          </a:p>
          <a:p>
            <a:pPr marL="319088" marR="0" lvl="0" indent="-319088" algn="l" rtl="0">
              <a:lnSpc>
                <a:spcPct val="80000"/>
              </a:lnSpc>
              <a:spcBef>
                <a:spcPts val="700"/>
              </a:spcBef>
              <a:spcAft>
                <a:spcPts val="0"/>
              </a:spcAft>
              <a:buClr>
                <a:srgbClr val="000000"/>
              </a:buClr>
              <a:buSzPts val="1600"/>
              <a:buFont typeface="Arial"/>
              <a:buNone/>
            </a:pPr>
            <a:r>
              <a:rPr lang="es-AR" sz="1600" b="1" i="0" u="none" strike="noStrike" cap="none" dirty="0">
                <a:latin typeface="Twentieth Century"/>
                <a:ea typeface="Twentieth Century"/>
                <a:cs typeface="Twentieth Century"/>
                <a:sym typeface="Twentieth Century"/>
              </a:rPr>
              <a:t>                                                                            </a:t>
            </a:r>
            <a:r>
              <a:rPr lang="es-AR" sz="1200" b="1" i="0" u="none" strike="noStrike" cap="none" dirty="0">
                <a:latin typeface="Twentieth Century"/>
                <a:ea typeface="Twentieth Century"/>
                <a:cs typeface="Twentieth Century"/>
                <a:sym typeface="Twentieth Century"/>
              </a:rPr>
              <a:t>                                TOTAL                              </a:t>
            </a:r>
            <a:endParaRPr sz="1400" b="0" i="0" u="none" strike="noStrike" cap="none" dirty="0">
              <a:latin typeface="Arial"/>
              <a:ea typeface="Arial"/>
              <a:cs typeface="Arial"/>
              <a:sym typeface="Arial"/>
            </a:endParaRPr>
          </a:p>
          <a:p>
            <a:pPr marL="319088" marR="0" lvl="0" indent="-319088" algn="l" rtl="0">
              <a:lnSpc>
                <a:spcPct val="80000"/>
              </a:lnSpc>
              <a:spcBef>
                <a:spcPts val="700"/>
              </a:spcBef>
              <a:spcAft>
                <a:spcPts val="0"/>
              </a:spcAft>
              <a:buClr>
                <a:srgbClr val="000000"/>
              </a:buClr>
              <a:buSzPts val="1800"/>
              <a:buFont typeface="Arial"/>
              <a:buNone/>
            </a:pPr>
            <a:endParaRPr sz="1800" b="1" i="0" u="none" strike="noStrike" cap="none" dirty="0">
              <a:latin typeface="Twentieth Century"/>
              <a:ea typeface="Twentieth Century"/>
              <a:cs typeface="Twentieth Century"/>
              <a:sym typeface="Twentieth Century"/>
            </a:endParaRPr>
          </a:p>
        </p:txBody>
      </p:sp>
      <p:sp>
        <p:nvSpPr>
          <p:cNvPr id="3" name="Google Shape;241;p19">
            <a:extLst>
              <a:ext uri="{FF2B5EF4-FFF2-40B4-BE49-F238E27FC236}">
                <a16:creationId xmlns:a16="http://schemas.microsoft.com/office/drawing/2014/main" id="{61D3EC26-9478-960B-EFAA-0519A0DDABC8}"/>
              </a:ext>
            </a:extLst>
          </p:cNvPr>
          <p:cNvSpPr/>
          <p:nvPr/>
        </p:nvSpPr>
        <p:spPr>
          <a:xfrm>
            <a:off x="2107798" y="3482975"/>
            <a:ext cx="7572375" cy="2286000"/>
          </a:xfrm>
          <a:prstGeom prst="rect">
            <a:avLst/>
          </a:prstGeom>
          <a:noFill/>
          <a:ln w="22225"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 name="CuadroTexto 4">
            <a:extLst>
              <a:ext uri="{FF2B5EF4-FFF2-40B4-BE49-F238E27FC236}">
                <a16:creationId xmlns:a16="http://schemas.microsoft.com/office/drawing/2014/main" id="{1F2152C1-A029-47F0-34CE-265A95909FE1}"/>
              </a:ext>
            </a:extLst>
          </p:cNvPr>
          <p:cNvSpPr txBox="1"/>
          <p:nvPr/>
        </p:nvSpPr>
        <p:spPr>
          <a:xfrm>
            <a:off x="2562415" y="3546961"/>
            <a:ext cx="2015745" cy="369332"/>
          </a:xfrm>
          <a:prstGeom prst="rect">
            <a:avLst/>
          </a:prstGeom>
          <a:noFill/>
        </p:spPr>
        <p:txBody>
          <a:bodyPr wrap="none" rtlCol="0">
            <a:spAutoFit/>
          </a:bodyPr>
          <a:lstStyle/>
          <a:p>
            <a:r>
              <a:rPr lang="es-ES" dirty="0">
                <a:solidFill>
                  <a:srgbClr val="C00000"/>
                </a:solidFill>
              </a:rPr>
              <a:t>Tipos de elementos</a:t>
            </a:r>
          </a:p>
        </p:txBody>
      </p:sp>
      <p:sp>
        <p:nvSpPr>
          <p:cNvPr id="7" name="Elipse 6">
            <a:extLst>
              <a:ext uri="{FF2B5EF4-FFF2-40B4-BE49-F238E27FC236}">
                <a16:creationId xmlns:a16="http://schemas.microsoft.com/office/drawing/2014/main" id="{896E8DC2-E571-A8CC-EAF7-A4A5545041E5}"/>
              </a:ext>
            </a:extLst>
          </p:cNvPr>
          <p:cNvSpPr/>
          <p:nvPr/>
        </p:nvSpPr>
        <p:spPr>
          <a:xfrm>
            <a:off x="7358697" y="5441533"/>
            <a:ext cx="737936" cy="369332"/>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de flecha 9">
            <a:extLst>
              <a:ext uri="{FF2B5EF4-FFF2-40B4-BE49-F238E27FC236}">
                <a16:creationId xmlns:a16="http://schemas.microsoft.com/office/drawing/2014/main" id="{CBA24955-AE34-62AB-3CA8-B6ECC180E824}"/>
              </a:ext>
            </a:extLst>
          </p:cNvPr>
          <p:cNvCxnSpPr>
            <a:stCxn id="7" idx="1"/>
          </p:cNvCxnSpPr>
          <p:nvPr/>
        </p:nvCxnSpPr>
        <p:spPr>
          <a:xfrm flipH="1" flipV="1">
            <a:off x="4026568" y="3344597"/>
            <a:ext cx="3440197" cy="215102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886E67F8-00CE-066B-4848-EE1D9FEDB428}"/>
              </a:ext>
            </a:extLst>
          </p:cNvPr>
          <p:cNvSpPr txBox="1"/>
          <p:nvPr/>
        </p:nvSpPr>
        <p:spPr>
          <a:xfrm>
            <a:off x="3420668" y="2655008"/>
            <a:ext cx="4115101" cy="369332"/>
          </a:xfrm>
          <a:prstGeom prst="rect">
            <a:avLst/>
          </a:prstGeom>
          <a:noFill/>
        </p:spPr>
        <p:txBody>
          <a:bodyPr wrap="none" rtlCol="0">
            <a:spAutoFit/>
          </a:bodyPr>
          <a:lstStyle/>
          <a:p>
            <a:r>
              <a:rPr lang="es-ES" dirty="0">
                <a:solidFill>
                  <a:srgbClr val="C00000"/>
                </a:solidFill>
              </a:rPr>
              <a:t>Suma de todos los elementos ponderados</a:t>
            </a:r>
          </a:p>
        </p:txBody>
      </p:sp>
      <p:sp>
        <p:nvSpPr>
          <p:cNvPr id="13" name="CuadroTexto 12">
            <a:extLst>
              <a:ext uri="{FF2B5EF4-FFF2-40B4-BE49-F238E27FC236}">
                <a16:creationId xmlns:a16="http://schemas.microsoft.com/office/drawing/2014/main" id="{AAAD1F78-E8D0-25A0-0275-952F1D368476}"/>
              </a:ext>
            </a:extLst>
          </p:cNvPr>
          <p:cNvSpPr txBox="1"/>
          <p:nvPr/>
        </p:nvSpPr>
        <p:spPr>
          <a:xfrm>
            <a:off x="8090061" y="3482975"/>
            <a:ext cx="4195254" cy="646331"/>
          </a:xfrm>
          <a:prstGeom prst="rect">
            <a:avLst/>
          </a:prstGeom>
          <a:noFill/>
        </p:spPr>
        <p:txBody>
          <a:bodyPr wrap="square" rtlCol="0">
            <a:spAutoFit/>
          </a:bodyPr>
          <a:lstStyle/>
          <a:p>
            <a:r>
              <a:rPr lang="es-ES" dirty="0">
                <a:solidFill>
                  <a:srgbClr val="C00000"/>
                </a:solidFill>
              </a:rPr>
              <a:t>El factor de ponderación es subjetivo, y está dado por la organización/equipo</a:t>
            </a:r>
          </a:p>
        </p:txBody>
      </p:sp>
      <p:sp>
        <p:nvSpPr>
          <p:cNvPr id="9" name="CuadroTexto 8">
            <a:extLst>
              <a:ext uri="{FF2B5EF4-FFF2-40B4-BE49-F238E27FC236}">
                <a16:creationId xmlns:a16="http://schemas.microsoft.com/office/drawing/2014/main" id="{DC9FB1EB-CED9-1F26-CB36-EF9333207DDD}"/>
              </a:ext>
            </a:extLst>
          </p:cNvPr>
          <p:cNvSpPr txBox="1"/>
          <p:nvPr/>
        </p:nvSpPr>
        <p:spPr>
          <a:xfrm>
            <a:off x="6254057" y="2761515"/>
            <a:ext cx="4866525" cy="369332"/>
          </a:xfrm>
          <a:prstGeom prst="rect">
            <a:avLst/>
          </a:prstGeom>
          <a:noFill/>
        </p:spPr>
        <p:txBody>
          <a:bodyPr wrap="none" rtlCol="0">
            <a:spAutoFit/>
          </a:bodyPr>
          <a:lstStyle/>
          <a:p>
            <a:r>
              <a:rPr lang="es-ES" dirty="0">
                <a:solidFill>
                  <a:srgbClr val="C00000"/>
                </a:solidFill>
              </a:rPr>
              <a:t>Factores de ajuste (14 preguntas sobre el sistema)</a:t>
            </a:r>
          </a:p>
        </p:txBody>
      </p:sp>
    </p:spTree>
    <p:extLst>
      <p:ext uri="{BB962C8B-B14F-4D97-AF65-F5344CB8AC3E}">
        <p14:creationId xmlns:p14="http://schemas.microsoft.com/office/powerpoint/2010/main" val="23498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4"/>
                                        </p:tgtEl>
                                      </p:cBhvr>
                                    </p:animEffect>
                                    <p:set>
                                      <p:cBhvr>
                                        <p:cTn id="23" dur="1" fill="hold">
                                          <p:stCondLst>
                                            <p:cond delay="499"/>
                                          </p:stCondLst>
                                        </p:cTn>
                                        <p:tgtEl>
                                          <p:spTgt spid="4"/>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1" nodeType="clickEffect">
                                  <p:stCondLst>
                                    <p:cond delay="0"/>
                                  </p:stCondLst>
                                  <p:childTnLst>
                                    <p:animEffect transition="out" filter="fade">
                                      <p:cBhvr>
                                        <p:cTn id="42" dur="500"/>
                                        <p:tgtEl>
                                          <p:spTgt spid="6"/>
                                        </p:tgtEl>
                                      </p:cBhvr>
                                    </p:animEffect>
                                    <p:set>
                                      <p:cBhvr>
                                        <p:cTn id="43" dur="1" fill="hold">
                                          <p:stCondLst>
                                            <p:cond delay="499"/>
                                          </p:stCondLst>
                                        </p:cTn>
                                        <p:tgtEl>
                                          <p:spTgt spid="6"/>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7"/>
                                        </p:tgtEl>
                                      </p:cBhvr>
                                    </p:animEffect>
                                    <p:set>
                                      <p:cBhvr>
                                        <p:cTn id="46" dur="1" fill="hold">
                                          <p:stCondLst>
                                            <p:cond delay="499"/>
                                          </p:stCondLst>
                                        </p:cTn>
                                        <p:tgtEl>
                                          <p:spTgt spid="7"/>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10"/>
                                        </p:tgtEl>
                                      </p:cBhvr>
                                    </p:animEffect>
                                    <p:set>
                                      <p:cBhvr>
                                        <p:cTn id="49" dur="1" fill="hold">
                                          <p:stCondLst>
                                            <p:cond delay="499"/>
                                          </p:stCondLst>
                                        </p:cTn>
                                        <p:tgtEl>
                                          <p:spTgt spid="10"/>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11"/>
                                        </p:tgtEl>
                                      </p:cBhvr>
                                    </p:animEffect>
                                    <p:set>
                                      <p:cBhvr>
                                        <p:cTn id="52" dur="1" fill="hold">
                                          <p:stCondLst>
                                            <p:cond delay="499"/>
                                          </p:stCondLst>
                                        </p:cTn>
                                        <p:tgtEl>
                                          <p:spTgt spid="11"/>
                                        </p:tgtEl>
                                        <p:attrNameLst>
                                          <p:attrName>style.visibility</p:attrName>
                                        </p:attrNameLst>
                                      </p:cBhvr>
                                      <p:to>
                                        <p:strVal val="hidden"/>
                                      </p:to>
                                    </p:set>
                                  </p:childTnLst>
                                </p:cTn>
                              </p:par>
                              <p:par>
                                <p:cTn id="53" presetID="10"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1" nodeType="clickEffect">
                                  <p:stCondLst>
                                    <p:cond delay="0"/>
                                  </p:stCondLst>
                                  <p:childTnLst>
                                    <p:animEffect transition="out" filter="fade">
                                      <p:cBhvr>
                                        <p:cTn id="62" dur="500"/>
                                        <p:tgtEl>
                                          <p:spTgt spid="12"/>
                                        </p:tgtEl>
                                      </p:cBhvr>
                                    </p:animEffect>
                                    <p:set>
                                      <p:cBhvr>
                                        <p:cTn id="63" dur="1" fill="hold">
                                          <p:stCondLst>
                                            <p:cond delay="499"/>
                                          </p:stCondLst>
                                        </p:cTn>
                                        <p:tgtEl>
                                          <p:spTgt spid="12"/>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13"/>
                                        </p:tgtEl>
                                      </p:cBhvr>
                                    </p:animEffect>
                                    <p:set>
                                      <p:cBhvr>
                                        <p:cTn id="66" dur="1" fill="hold">
                                          <p:stCondLst>
                                            <p:cond delay="499"/>
                                          </p:stCondLst>
                                        </p:cTn>
                                        <p:tgtEl>
                                          <p:spTgt spid="13"/>
                                        </p:tgtEl>
                                        <p:attrNameLst>
                                          <p:attrName>style.visibility</p:attrName>
                                        </p:attrNameLst>
                                      </p:cBhvr>
                                      <p:to>
                                        <p:strVal val="hidden"/>
                                      </p:to>
                                    </p:set>
                                  </p:childTnLst>
                                </p:cTn>
                              </p:par>
                              <p:par>
                                <p:cTn id="67" presetID="10" presetClass="entr" presetSubtype="0" fill="hold" grpId="0" nodeType="with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fade">
                                      <p:cBhvr>
                                        <p:cTn id="69" dur="500"/>
                                        <p:tgtEl>
                                          <p:spTgt spid="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2" grpId="1" animBg="1"/>
      <p:bldP spid="6" grpId="0" animBg="1"/>
      <p:bldP spid="6" grpId="1" animBg="1"/>
      <p:bldP spid="4" grpId="0" animBg="1"/>
      <p:bldP spid="4" grpId="1" animBg="1"/>
      <p:bldP spid="3" grpId="0" animBg="1"/>
      <p:bldP spid="5" grpId="0"/>
      <p:bldP spid="5" grpId="1"/>
      <p:bldP spid="7" grpId="0" animBg="1"/>
      <p:bldP spid="7" grpId="1" animBg="1"/>
      <p:bldP spid="11" grpId="0"/>
      <p:bldP spid="11" grpId="1"/>
      <p:bldP spid="13" grpId="0"/>
      <p:bldP spid="13" grpId="1"/>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E7A54B8B-272E-A4C8-5E9C-1C06E326B1C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6BBAEBD-FAD9-B656-7D2C-566FA431AE1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Métricas del producto</a:t>
            </a:r>
            <a:endParaRPr dirty="0"/>
          </a:p>
        </p:txBody>
      </p:sp>
      <p:sp>
        <p:nvSpPr>
          <p:cNvPr id="160" name="Google Shape;160;p4">
            <a:extLst>
              <a:ext uri="{FF2B5EF4-FFF2-40B4-BE49-F238E27FC236}">
                <a16:creationId xmlns:a16="http://schemas.microsoft.com/office/drawing/2014/main" id="{71251ABC-D6A0-C860-3DCD-09D761D986A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4BEEFEF4-D41E-41DC-9815-14A0227C9A5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D9C4E46D-4316-A412-4201-C846DE62D41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20</a:t>
            </a:fld>
            <a:endParaRPr/>
          </a:p>
        </p:txBody>
      </p:sp>
      <p:sp>
        <p:nvSpPr>
          <p:cNvPr id="163" name="Google Shape;163;p4">
            <a:extLst>
              <a:ext uri="{FF2B5EF4-FFF2-40B4-BE49-F238E27FC236}">
                <a16:creationId xmlns:a16="http://schemas.microsoft.com/office/drawing/2014/main" id="{99FA51B0-69D5-B31A-4C01-CE0DF6DBFB8E}"/>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Factores de ajuste de Punto Función (Fi)</a:t>
            </a:r>
          </a:p>
          <a:p>
            <a:pPr marL="811213" indent="-3683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ea typeface="Calibri"/>
                <a:cs typeface="Calibri"/>
                <a:sym typeface="Calibri"/>
              </a:rPr>
              <a:t>Son 14 preguntas que evalúan el entorno y la complejidad global del sistema.</a:t>
            </a:r>
          </a:p>
          <a:p>
            <a:pPr marL="811213" indent="-3683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ea typeface="Calibri"/>
                <a:cs typeface="Calibri"/>
                <a:sym typeface="Calibri"/>
              </a:rPr>
              <a:t>Cada una de las preguntas se puntúa de 0 a 5</a:t>
            </a:r>
          </a:p>
          <a:p>
            <a:pPr marL="811213" indent="0" algn="just">
              <a:lnSpc>
                <a:spcPct val="85000"/>
              </a:lnSpc>
              <a:spcBef>
                <a:spcPts val="0"/>
              </a:spcBef>
              <a:spcAft>
                <a:spcPts val="600"/>
              </a:spcAft>
              <a:buClr>
                <a:srgbClr val="C00000"/>
              </a:buClr>
              <a:buNone/>
            </a:pPr>
            <a:r>
              <a:rPr lang="es-ES" b="1" dirty="0">
                <a:solidFill>
                  <a:schemeClr val="tx1"/>
                </a:solidFill>
                <a:ea typeface="Calibri"/>
                <a:cs typeface="Calibri"/>
                <a:sym typeface="Calibri"/>
              </a:rPr>
              <a:t>0 = no influye</a:t>
            </a:r>
          </a:p>
          <a:p>
            <a:pPr marL="811213" indent="0" algn="just">
              <a:lnSpc>
                <a:spcPct val="85000"/>
              </a:lnSpc>
              <a:spcBef>
                <a:spcPts val="0"/>
              </a:spcBef>
              <a:spcAft>
                <a:spcPts val="600"/>
              </a:spcAft>
              <a:buClr>
                <a:srgbClr val="C00000"/>
              </a:buClr>
              <a:buNone/>
            </a:pPr>
            <a:r>
              <a:rPr lang="es-ES" b="1" dirty="0">
                <a:solidFill>
                  <a:schemeClr val="tx1"/>
                </a:solidFill>
                <a:ea typeface="Calibri"/>
                <a:cs typeface="Calibri"/>
                <a:sym typeface="Calibri"/>
              </a:rPr>
              <a:t>5 = influye mucho</a:t>
            </a:r>
          </a:p>
          <a:p>
            <a:pPr marL="530225" lvl="0" indent="-530225" algn="just">
              <a:lnSpc>
                <a:spcPct val="85000"/>
              </a:lnSpc>
              <a:spcBef>
                <a:spcPts val="0"/>
              </a:spcBef>
              <a:spcAft>
                <a:spcPts val="1200"/>
              </a:spcAft>
              <a:buClr>
                <a:srgbClr val="C00000"/>
              </a:buClr>
              <a:buFont typeface="Noto Sans Symbols"/>
              <a:buChar char="❖"/>
            </a:pPr>
            <a:endParaRPr lang="es-ES" sz="2400" dirty="0">
              <a:solidFill>
                <a:srgbClr val="C00000"/>
              </a:solidFill>
            </a:endParaRPr>
          </a:p>
        </p:txBody>
      </p:sp>
      <p:pic>
        <p:nvPicPr>
          <p:cNvPr id="15" name="Imagen 14">
            <a:extLst>
              <a:ext uri="{FF2B5EF4-FFF2-40B4-BE49-F238E27FC236}">
                <a16:creationId xmlns:a16="http://schemas.microsoft.com/office/drawing/2014/main" id="{35AD79D3-AA76-6EBF-EA31-0434134CE4C8}"/>
              </a:ext>
            </a:extLst>
          </p:cNvPr>
          <p:cNvPicPr>
            <a:picLocks noChangeAspect="1"/>
          </p:cNvPicPr>
          <p:nvPr/>
        </p:nvPicPr>
        <p:blipFill>
          <a:blip r:embed="rId3"/>
          <a:stretch>
            <a:fillRect/>
          </a:stretch>
        </p:blipFill>
        <p:spPr>
          <a:xfrm>
            <a:off x="3285500" y="4660988"/>
            <a:ext cx="5620999" cy="920576"/>
          </a:xfrm>
          <a:prstGeom prst="rect">
            <a:avLst/>
          </a:prstGeom>
        </p:spPr>
      </p:pic>
      <p:sp>
        <p:nvSpPr>
          <p:cNvPr id="16" name="Rectángulo 15">
            <a:extLst>
              <a:ext uri="{FF2B5EF4-FFF2-40B4-BE49-F238E27FC236}">
                <a16:creationId xmlns:a16="http://schemas.microsoft.com/office/drawing/2014/main" id="{F770718B-C408-45D0-3373-00186BFA5C8A}"/>
              </a:ext>
            </a:extLst>
          </p:cNvPr>
          <p:cNvSpPr/>
          <p:nvPr/>
        </p:nvSpPr>
        <p:spPr>
          <a:xfrm>
            <a:off x="6096000" y="1736725"/>
            <a:ext cx="5938684" cy="4531340"/>
          </a:xfrm>
          <a:prstGeom prst="rect">
            <a:avLst/>
          </a:prstGeom>
          <a:solidFill>
            <a:schemeClr val="accent1">
              <a:lumMod val="40000"/>
              <a:lumOff val="60000"/>
            </a:schemeClr>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buFont typeface="+mj-lt"/>
              <a:buAutoNum type="arabicPeriod"/>
            </a:pPr>
            <a:r>
              <a:rPr lang="es-ES" sz="1600" b="1" dirty="0">
                <a:solidFill>
                  <a:schemeClr val="tx1"/>
                </a:solidFill>
              </a:rPr>
              <a:t>Comunicación de datos </a:t>
            </a:r>
            <a:r>
              <a:rPr lang="es-ES" sz="1600" dirty="0">
                <a:solidFill>
                  <a:schemeClr val="tx1"/>
                </a:solidFill>
              </a:rPr>
              <a:t>→ ¿el sistema intercambia datos con otros?</a:t>
            </a:r>
          </a:p>
          <a:p>
            <a:pPr marL="342900" indent="-342900" algn="just">
              <a:buFont typeface="+mj-lt"/>
              <a:buAutoNum type="arabicPeriod"/>
            </a:pPr>
            <a:r>
              <a:rPr lang="es-ES" sz="1600" b="1" dirty="0">
                <a:solidFill>
                  <a:schemeClr val="tx1"/>
                </a:solidFill>
              </a:rPr>
              <a:t>Procesamiento distribuido </a:t>
            </a:r>
            <a:r>
              <a:rPr lang="es-ES" sz="1600" dirty="0">
                <a:solidFill>
                  <a:schemeClr val="tx1"/>
                </a:solidFill>
              </a:rPr>
              <a:t>→ ¿corre en varios servidores/nodos?</a:t>
            </a:r>
          </a:p>
          <a:p>
            <a:pPr marL="342900" indent="-342900" algn="just">
              <a:buFont typeface="+mj-lt"/>
              <a:buAutoNum type="arabicPeriod"/>
            </a:pPr>
            <a:r>
              <a:rPr lang="es-ES" sz="1600" b="1" dirty="0">
                <a:solidFill>
                  <a:schemeClr val="tx1"/>
                </a:solidFill>
              </a:rPr>
              <a:t>Rendimiento</a:t>
            </a:r>
            <a:r>
              <a:rPr lang="es-ES" sz="1600" dirty="0">
                <a:solidFill>
                  <a:schemeClr val="tx1"/>
                </a:solidFill>
              </a:rPr>
              <a:t> → ¿hay requisitos estrictos de velocidad?</a:t>
            </a:r>
          </a:p>
          <a:p>
            <a:pPr marL="342900" indent="-342900" algn="just">
              <a:buFont typeface="+mj-lt"/>
              <a:buAutoNum type="arabicPeriod"/>
            </a:pPr>
            <a:r>
              <a:rPr lang="es-ES" sz="1600" b="1" dirty="0">
                <a:solidFill>
                  <a:schemeClr val="tx1"/>
                </a:solidFill>
              </a:rPr>
              <a:t>Configuración del sistema </a:t>
            </a:r>
            <a:r>
              <a:rPr lang="es-ES" sz="1600" dirty="0">
                <a:solidFill>
                  <a:schemeClr val="tx1"/>
                </a:solidFill>
              </a:rPr>
              <a:t>→ ¿el hardware/infraestructura es especial?</a:t>
            </a:r>
          </a:p>
          <a:p>
            <a:pPr marL="342900" indent="-342900" algn="just">
              <a:buFont typeface="+mj-lt"/>
              <a:buAutoNum type="arabicPeriod"/>
            </a:pPr>
            <a:r>
              <a:rPr lang="es-ES" sz="1600" b="1" dirty="0">
                <a:solidFill>
                  <a:schemeClr val="tx1"/>
                </a:solidFill>
              </a:rPr>
              <a:t>Volumen de transacciones </a:t>
            </a:r>
            <a:r>
              <a:rPr lang="es-ES" sz="1600" dirty="0">
                <a:solidFill>
                  <a:schemeClr val="tx1"/>
                </a:solidFill>
              </a:rPr>
              <a:t>→ ¿maneja muchas operaciones?</a:t>
            </a:r>
          </a:p>
          <a:p>
            <a:pPr marL="342900" indent="-342900" algn="just">
              <a:buFont typeface="+mj-lt"/>
              <a:buAutoNum type="arabicPeriod"/>
            </a:pPr>
            <a:r>
              <a:rPr lang="es-ES" sz="1600" b="1" dirty="0">
                <a:solidFill>
                  <a:schemeClr val="tx1"/>
                </a:solidFill>
              </a:rPr>
              <a:t>Entrada de datos online </a:t>
            </a:r>
            <a:r>
              <a:rPr lang="es-ES" sz="1600" dirty="0">
                <a:solidFill>
                  <a:schemeClr val="tx1"/>
                </a:solidFill>
              </a:rPr>
              <a:t>→ ¿los usuarios ingresan datos en tiempo real?</a:t>
            </a:r>
          </a:p>
          <a:p>
            <a:pPr marL="342900" indent="-342900" algn="just">
              <a:buFont typeface="+mj-lt"/>
              <a:buAutoNum type="arabicPeriod"/>
            </a:pPr>
            <a:r>
              <a:rPr lang="es-ES" sz="1600" b="1" dirty="0">
                <a:solidFill>
                  <a:schemeClr val="tx1"/>
                </a:solidFill>
              </a:rPr>
              <a:t>Eficiencia del usuario final </a:t>
            </a:r>
            <a:r>
              <a:rPr lang="es-ES" sz="1600" dirty="0">
                <a:solidFill>
                  <a:schemeClr val="tx1"/>
                </a:solidFill>
              </a:rPr>
              <a:t>→ ¿la interfaz debe ser muy optimizada?</a:t>
            </a:r>
          </a:p>
          <a:p>
            <a:pPr marL="342900" indent="-342900" algn="just">
              <a:buFont typeface="+mj-lt"/>
              <a:buAutoNum type="arabicPeriod"/>
            </a:pPr>
            <a:r>
              <a:rPr lang="es-ES" sz="1600" b="1" dirty="0">
                <a:solidFill>
                  <a:schemeClr val="tx1"/>
                </a:solidFill>
              </a:rPr>
              <a:t>Actualización online </a:t>
            </a:r>
            <a:r>
              <a:rPr lang="es-ES" sz="1600" dirty="0">
                <a:solidFill>
                  <a:schemeClr val="tx1"/>
                </a:solidFill>
              </a:rPr>
              <a:t>→ ¿los datos se actualizan en tiempo real?</a:t>
            </a:r>
          </a:p>
          <a:p>
            <a:pPr marL="342900" indent="-342900" algn="just">
              <a:buFont typeface="+mj-lt"/>
              <a:buAutoNum type="arabicPeriod"/>
            </a:pPr>
            <a:r>
              <a:rPr lang="es-ES" sz="1600" b="1" dirty="0">
                <a:solidFill>
                  <a:schemeClr val="tx1"/>
                </a:solidFill>
              </a:rPr>
              <a:t>Procesamiento complejo </a:t>
            </a:r>
            <a:r>
              <a:rPr lang="es-ES" sz="1600" dirty="0">
                <a:solidFill>
                  <a:schemeClr val="tx1"/>
                </a:solidFill>
              </a:rPr>
              <a:t>→ ¿hay lógica complicada?</a:t>
            </a:r>
          </a:p>
          <a:p>
            <a:pPr marL="342900" indent="-342900" algn="just">
              <a:buFont typeface="+mj-lt"/>
              <a:buAutoNum type="arabicPeriod"/>
            </a:pPr>
            <a:r>
              <a:rPr lang="es-ES" sz="1600" b="1" dirty="0">
                <a:solidFill>
                  <a:schemeClr val="tx1"/>
                </a:solidFill>
              </a:rPr>
              <a:t>Reusabilidad</a:t>
            </a:r>
            <a:r>
              <a:rPr lang="es-ES" sz="1600" dirty="0">
                <a:solidFill>
                  <a:schemeClr val="tx1"/>
                </a:solidFill>
              </a:rPr>
              <a:t> → ¿el sistema debe poder reutilizarse?</a:t>
            </a:r>
          </a:p>
          <a:p>
            <a:pPr marL="342900" indent="-342900" algn="just">
              <a:buFont typeface="+mj-lt"/>
              <a:buAutoNum type="arabicPeriod"/>
            </a:pPr>
            <a:r>
              <a:rPr lang="es-ES" sz="1600" b="1" dirty="0">
                <a:solidFill>
                  <a:schemeClr val="tx1"/>
                </a:solidFill>
              </a:rPr>
              <a:t>Facilidad de instalación </a:t>
            </a:r>
            <a:r>
              <a:rPr lang="es-ES" sz="1600" dirty="0">
                <a:solidFill>
                  <a:schemeClr val="tx1"/>
                </a:solidFill>
              </a:rPr>
              <a:t>→ ¿debe ser fácil de instalar?</a:t>
            </a:r>
          </a:p>
          <a:p>
            <a:pPr marL="342900" indent="-342900" algn="just">
              <a:buFont typeface="+mj-lt"/>
              <a:buAutoNum type="arabicPeriod"/>
            </a:pPr>
            <a:r>
              <a:rPr lang="es-ES" sz="1600" b="1" dirty="0">
                <a:solidFill>
                  <a:schemeClr val="tx1"/>
                </a:solidFill>
              </a:rPr>
              <a:t>Facilidad de operación </a:t>
            </a:r>
            <a:r>
              <a:rPr lang="es-ES" sz="1600" dirty="0">
                <a:solidFill>
                  <a:schemeClr val="tx1"/>
                </a:solidFill>
              </a:rPr>
              <a:t>→ ¿debe ser fácil de usar/administrar?</a:t>
            </a:r>
          </a:p>
          <a:p>
            <a:pPr marL="342900" indent="-342900" algn="just">
              <a:buFont typeface="+mj-lt"/>
              <a:buAutoNum type="arabicPeriod"/>
            </a:pPr>
            <a:r>
              <a:rPr lang="es-ES" sz="1600" b="1" dirty="0">
                <a:solidFill>
                  <a:schemeClr val="tx1"/>
                </a:solidFill>
              </a:rPr>
              <a:t>Múltiples sitios </a:t>
            </a:r>
            <a:r>
              <a:rPr lang="es-ES" sz="1600" dirty="0">
                <a:solidFill>
                  <a:schemeClr val="tx1"/>
                </a:solidFill>
              </a:rPr>
              <a:t>→ ¿se usa en varias ubicaciones?</a:t>
            </a:r>
          </a:p>
          <a:p>
            <a:pPr marL="342900" indent="-342900" algn="just">
              <a:buFont typeface="+mj-lt"/>
              <a:buAutoNum type="arabicPeriod"/>
            </a:pPr>
            <a:r>
              <a:rPr lang="es-ES" sz="1600" b="1" dirty="0">
                <a:solidFill>
                  <a:schemeClr val="tx1"/>
                </a:solidFill>
              </a:rPr>
              <a:t>Facilidad de cambio </a:t>
            </a:r>
            <a:r>
              <a:rPr lang="es-ES" sz="1600" dirty="0">
                <a:solidFill>
                  <a:schemeClr val="tx1"/>
                </a:solidFill>
              </a:rPr>
              <a:t>→ ¿debe adaptarse fácilmente a cambios?</a:t>
            </a:r>
          </a:p>
        </p:txBody>
      </p:sp>
    </p:spTree>
    <p:extLst>
      <p:ext uri="{BB962C8B-B14F-4D97-AF65-F5344CB8AC3E}">
        <p14:creationId xmlns:p14="http://schemas.microsoft.com/office/powerpoint/2010/main" val="291368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
                                            <p:txEl>
                                              <p:pRg st="3" end="3"/>
                                            </p:txEl>
                                          </p:spTgt>
                                        </p:tgtEl>
                                        <p:attrNameLst>
                                          <p:attrName>style.visibility</p:attrName>
                                        </p:attrNameLst>
                                      </p:cBhvr>
                                      <p:to>
                                        <p:strVal val="visible"/>
                                      </p:to>
                                    </p:set>
                                    <p:animEffect transition="in" filter="fade">
                                      <p:cBhvr>
                                        <p:cTn id="10" dur="500"/>
                                        <p:tgtEl>
                                          <p:spTgt spid="16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3">
                                            <p:txEl>
                                              <p:pRg st="4" end="4"/>
                                            </p:txEl>
                                          </p:spTgt>
                                        </p:tgtEl>
                                        <p:attrNameLst>
                                          <p:attrName>style.visibility</p:attrName>
                                        </p:attrNameLst>
                                      </p:cBhvr>
                                      <p:to>
                                        <p:strVal val="visible"/>
                                      </p:to>
                                    </p:set>
                                    <p:animEffect transition="in" filter="fade">
                                      <p:cBhvr>
                                        <p:cTn id="13" dur="500"/>
                                        <p:tgtEl>
                                          <p:spTgt spid="163">
                                            <p:txEl>
                                              <p:pRg st="4" end="4"/>
                                            </p:txEl>
                                          </p:spTgt>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Effect transition="in" filter="fade">
                                      <p:cBhvr>
                                        <p:cTn id="2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9814596-3DE4-1167-0F8C-63EBE868801B}"/>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7B20690-69F7-E074-B899-D188D2C36AB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Desarrollo de una métrica</a:t>
            </a:r>
            <a:endParaRPr dirty="0"/>
          </a:p>
        </p:txBody>
      </p:sp>
      <p:sp>
        <p:nvSpPr>
          <p:cNvPr id="160" name="Google Shape;160;p4">
            <a:extLst>
              <a:ext uri="{FF2B5EF4-FFF2-40B4-BE49-F238E27FC236}">
                <a16:creationId xmlns:a16="http://schemas.microsoft.com/office/drawing/2014/main" id="{512FA09F-475D-C3DA-9EDF-CC5F7FEF97B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372D6F37-985B-07CF-B626-257E3765B05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72BD053B-B5CA-1C46-59C2-E8CD501D4CC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21</a:t>
            </a:fld>
            <a:endParaRPr/>
          </a:p>
        </p:txBody>
      </p:sp>
      <p:sp>
        <p:nvSpPr>
          <p:cNvPr id="163" name="Google Shape;163;p4">
            <a:extLst>
              <a:ext uri="{FF2B5EF4-FFF2-40B4-BE49-F238E27FC236}">
                <a16:creationId xmlns:a16="http://schemas.microsoft.com/office/drawing/2014/main" id="{900966DE-DAAE-9713-C6DA-E8C38EE59CF2}"/>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Método </a:t>
            </a:r>
            <a:r>
              <a:rPr lang="es-ES" sz="2800" b="1" dirty="0">
                <a:solidFill>
                  <a:schemeClr val="tx1"/>
                </a:solidFill>
              </a:rPr>
              <a:t>GQM</a:t>
            </a:r>
            <a:r>
              <a:rPr lang="es-ES" sz="2800" dirty="0">
                <a:solidFill>
                  <a:schemeClr val="tx1"/>
                </a:solidFill>
              </a:rPr>
              <a:t> (</a:t>
            </a:r>
            <a:r>
              <a:rPr lang="es-ES" sz="2800" dirty="0" err="1">
                <a:solidFill>
                  <a:schemeClr val="tx1"/>
                </a:solidFill>
              </a:rPr>
              <a:t>Goal</a:t>
            </a:r>
            <a:r>
              <a:rPr lang="es-ES" sz="2800" dirty="0">
                <a:solidFill>
                  <a:schemeClr val="tx1"/>
                </a:solidFill>
              </a:rPr>
              <a:t>, </a:t>
            </a:r>
            <a:r>
              <a:rPr lang="es-ES" sz="2800" dirty="0" err="1">
                <a:solidFill>
                  <a:schemeClr val="tx1"/>
                </a:solidFill>
              </a:rPr>
              <a:t>Question</a:t>
            </a:r>
            <a:r>
              <a:rPr lang="es-ES" sz="2800" dirty="0">
                <a:solidFill>
                  <a:schemeClr val="tx1"/>
                </a:solidFill>
              </a:rPr>
              <a:t>, </a:t>
            </a:r>
            <a:r>
              <a:rPr lang="es-ES" sz="2800" dirty="0" err="1">
                <a:solidFill>
                  <a:schemeClr val="tx1"/>
                </a:solidFill>
              </a:rPr>
              <a:t>Metric</a:t>
            </a:r>
            <a:r>
              <a:rPr lang="es-ES" sz="2800" dirty="0">
                <a:solidFill>
                  <a:schemeClr val="tx1"/>
                </a:solidFill>
              </a:rPr>
              <a:t>)</a:t>
            </a:r>
            <a:endParaRPr lang="es-ES" sz="2400" dirty="0">
              <a:solidFill>
                <a:schemeClr val="tx1"/>
              </a:solidFill>
            </a:endParaRP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Desarrollada por </a:t>
            </a:r>
            <a:r>
              <a:rPr lang="es-ES" sz="2400" dirty="0" err="1">
                <a:solidFill>
                  <a:schemeClr val="tx1"/>
                </a:solidFill>
              </a:rPr>
              <a:t>Victor</a:t>
            </a:r>
            <a:r>
              <a:rPr lang="es-ES" sz="2400" dirty="0">
                <a:solidFill>
                  <a:schemeClr val="tx1"/>
                </a:solidFill>
              </a:rPr>
              <a:t> </a:t>
            </a:r>
            <a:r>
              <a:rPr lang="es-ES" sz="2400" dirty="0" err="1">
                <a:solidFill>
                  <a:schemeClr val="tx1"/>
                </a:solidFill>
              </a:rPr>
              <a:t>Basili</a:t>
            </a:r>
            <a:r>
              <a:rPr lang="es-ES" sz="2400" dirty="0">
                <a:solidFill>
                  <a:schemeClr val="tx1"/>
                </a:solidFill>
              </a:rPr>
              <a:t>.</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Orientado a lograr una métrica que “mida” cierto objetivo, el cual nos permita mejorar la calidad de nuestro proyecto.</a:t>
            </a:r>
          </a:p>
          <a:p>
            <a:pPr marL="722313" lvl="0" indent="-279400" algn="just">
              <a:lnSpc>
                <a:spcPct val="85000"/>
              </a:lnSpc>
              <a:spcBef>
                <a:spcPts val="0"/>
              </a:spcBef>
              <a:spcAft>
                <a:spcPts val="1200"/>
              </a:spcAft>
              <a:buClr>
                <a:srgbClr val="C00000"/>
              </a:buClr>
              <a:buFont typeface="Noto Sans Symbols2" panose="020B0502040504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2" name="Google Shape;272;p22">
            <a:extLst>
              <a:ext uri="{FF2B5EF4-FFF2-40B4-BE49-F238E27FC236}">
                <a16:creationId xmlns:a16="http://schemas.microsoft.com/office/drawing/2014/main" id="{0F6940E5-CEAB-0E0F-8F6F-3B71A05DA887}"/>
              </a:ext>
            </a:extLst>
          </p:cNvPr>
          <p:cNvPicPr preferRelativeResize="0"/>
          <p:nvPr/>
        </p:nvPicPr>
        <p:blipFill rotWithShape="1">
          <a:blip r:embed="rId3">
            <a:alphaModFix/>
          </a:blip>
          <a:srcRect/>
          <a:stretch/>
        </p:blipFill>
        <p:spPr>
          <a:xfrm>
            <a:off x="8155858" y="4185291"/>
            <a:ext cx="3210232" cy="1605116"/>
          </a:xfrm>
          <a:prstGeom prst="rect">
            <a:avLst/>
          </a:prstGeom>
          <a:noFill/>
          <a:ln>
            <a:noFill/>
          </a:ln>
        </p:spPr>
      </p:pic>
      <p:sp>
        <p:nvSpPr>
          <p:cNvPr id="4" name="CuadroTexto 3">
            <a:extLst>
              <a:ext uri="{FF2B5EF4-FFF2-40B4-BE49-F238E27FC236}">
                <a16:creationId xmlns:a16="http://schemas.microsoft.com/office/drawing/2014/main" id="{C4FFFF76-F87C-B38C-7C21-6EFA26B000EC}"/>
              </a:ext>
            </a:extLst>
          </p:cNvPr>
          <p:cNvSpPr txBox="1"/>
          <p:nvPr/>
        </p:nvSpPr>
        <p:spPr>
          <a:xfrm>
            <a:off x="809037" y="5626199"/>
            <a:ext cx="6454211" cy="369332"/>
          </a:xfrm>
          <a:prstGeom prst="rect">
            <a:avLst/>
          </a:prstGeom>
          <a:noFill/>
        </p:spPr>
        <p:txBody>
          <a:bodyPr wrap="square">
            <a:spAutoFit/>
          </a:bodyPr>
          <a:lstStyle/>
          <a:p>
            <a:r>
              <a:rPr lang="es-ES" dirty="0">
                <a:solidFill>
                  <a:srgbClr val="C00000"/>
                </a:solidFill>
                <a:hlinkClick r:id="rId4">
                  <a:extLst>
                    <a:ext uri="{A12FA001-AC4F-418D-AE19-62706E023703}">
                      <ahyp:hlinkClr xmlns:ahyp="http://schemas.microsoft.com/office/drawing/2018/hyperlinkcolor" val="tx"/>
                    </a:ext>
                  </a:extLst>
                </a:hlinkClick>
              </a:rPr>
              <a:t>https://www.cs.umd.edu/~basili/publications/technical/T78.pdf</a:t>
            </a:r>
            <a:r>
              <a:rPr lang="es-ES" dirty="0">
                <a:solidFill>
                  <a:srgbClr val="C00000"/>
                </a:solidFill>
              </a:rPr>
              <a:t> </a:t>
            </a:r>
          </a:p>
        </p:txBody>
      </p:sp>
    </p:spTree>
    <p:extLst>
      <p:ext uri="{BB962C8B-B14F-4D97-AF65-F5344CB8AC3E}">
        <p14:creationId xmlns:p14="http://schemas.microsoft.com/office/powerpoint/2010/main" val="1179369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0B26564-6770-919F-A44C-B38FEF9C4CE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90D4FDEE-15C0-084E-3586-8DC67434AB2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Desarrollo de una métrica</a:t>
            </a:r>
            <a:endParaRPr dirty="0"/>
          </a:p>
        </p:txBody>
      </p:sp>
      <p:sp>
        <p:nvSpPr>
          <p:cNvPr id="160" name="Google Shape;160;p4">
            <a:extLst>
              <a:ext uri="{FF2B5EF4-FFF2-40B4-BE49-F238E27FC236}">
                <a16:creationId xmlns:a16="http://schemas.microsoft.com/office/drawing/2014/main" id="{71C175C5-3806-F107-B3B9-51450DBDC95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1" name="Google Shape;161;p4">
            <a:extLst>
              <a:ext uri="{FF2B5EF4-FFF2-40B4-BE49-F238E27FC236}">
                <a16:creationId xmlns:a16="http://schemas.microsoft.com/office/drawing/2014/main" id="{49F3EBA4-4B8B-F9A9-0254-678A5633EC73}"/>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2" name="Google Shape;162;p4">
            <a:extLst>
              <a:ext uri="{FF2B5EF4-FFF2-40B4-BE49-F238E27FC236}">
                <a16:creationId xmlns:a16="http://schemas.microsoft.com/office/drawing/2014/main" id="{C2BE02D7-E08F-5908-29DC-21EBFD4460E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22</a:t>
            </a:fld>
            <a:endParaRPr/>
          </a:p>
        </p:txBody>
      </p:sp>
      <p:sp>
        <p:nvSpPr>
          <p:cNvPr id="163" name="Google Shape;163;p4">
            <a:extLst>
              <a:ext uri="{FF2B5EF4-FFF2-40B4-BE49-F238E27FC236}">
                <a16:creationId xmlns:a16="http://schemas.microsoft.com/office/drawing/2014/main" id="{1742A7E3-CFB5-DC37-1587-B2D00B4BAB19}"/>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Método </a:t>
            </a:r>
            <a:r>
              <a:rPr lang="es-ES" sz="2800" b="1" dirty="0">
                <a:solidFill>
                  <a:schemeClr val="tx1"/>
                </a:solidFill>
              </a:rPr>
              <a:t>GQM</a:t>
            </a:r>
            <a:r>
              <a:rPr lang="es-ES" sz="2800" dirty="0">
                <a:solidFill>
                  <a:schemeClr val="tx1"/>
                </a:solidFill>
              </a:rPr>
              <a:t> - Estructura</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3" name="Google Shape;278;p23" descr="Diagrama&#10;&#10;El contenido generado por IA puede ser incorrecto.">
            <a:extLst>
              <a:ext uri="{FF2B5EF4-FFF2-40B4-BE49-F238E27FC236}">
                <a16:creationId xmlns:a16="http://schemas.microsoft.com/office/drawing/2014/main" id="{ECC51B0D-5DB7-3D6F-4C3C-A1586C8565FE}"/>
              </a:ext>
            </a:extLst>
          </p:cNvPr>
          <p:cNvPicPr preferRelativeResize="0"/>
          <p:nvPr/>
        </p:nvPicPr>
        <p:blipFill rotWithShape="1">
          <a:blip r:embed="rId3">
            <a:alphaModFix/>
          </a:blip>
          <a:srcRect l="7509" t="20962" r="7927" b="12696"/>
          <a:stretch>
            <a:fillRect/>
          </a:stretch>
        </p:blipFill>
        <p:spPr>
          <a:xfrm>
            <a:off x="2633240" y="2557642"/>
            <a:ext cx="6925519" cy="3362018"/>
          </a:xfrm>
          <a:prstGeom prst="rect">
            <a:avLst/>
          </a:prstGeom>
          <a:noFill/>
          <a:ln>
            <a:noFill/>
          </a:ln>
        </p:spPr>
      </p:pic>
    </p:spTree>
    <p:extLst>
      <p:ext uri="{BB962C8B-B14F-4D97-AF65-F5344CB8AC3E}">
        <p14:creationId xmlns:p14="http://schemas.microsoft.com/office/powerpoint/2010/main" val="2620687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F653B1D-8EED-84F0-3633-59CA8A51A9D4}"/>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B32CF433-5CCB-1ECC-BD09-CC1BC856850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a:t>Desarrollo de una métrica</a:t>
            </a:r>
            <a:endParaRPr lang="es-AR" dirty="0"/>
          </a:p>
        </p:txBody>
      </p:sp>
      <p:sp>
        <p:nvSpPr>
          <p:cNvPr id="160" name="Google Shape;160;p4">
            <a:extLst>
              <a:ext uri="{FF2B5EF4-FFF2-40B4-BE49-F238E27FC236}">
                <a16:creationId xmlns:a16="http://schemas.microsoft.com/office/drawing/2014/main" id="{45782093-1FDE-BFDC-8C85-8AA8ADC9703B}"/>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E0AFA5EB-9ACB-6503-1A9F-FAE67D8BCE0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p>
        </p:txBody>
      </p:sp>
      <p:sp>
        <p:nvSpPr>
          <p:cNvPr id="162" name="Google Shape;162;p4">
            <a:extLst>
              <a:ext uri="{FF2B5EF4-FFF2-40B4-BE49-F238E27FC236}">
                <a16:creationId xmlns:a16="http://schemas.microsoft.com/office/drawing/2014/main" id="{A61BEA06-B730-152D-CF50-A6A6950565EE}"/>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23</a:t>
            </a:fld>
            <a:endParaRPr lang="es-AR"/>
          </a:p>
        </p:txBody>
      </p:sp>
      <p:sp>
        <p:nvSpPr>
          <p:cNvPr id="163" name="Google Shape;163;p4">
            <a:extLst>
              <a:ext uri="{FF2B5EF4-FFF2-40B4-BE49-F238E27FC236}">
                <a16:creationId xmlns:a16="http://schemas.microsoft.com/office/drawing/2014/main" id="{01D0E2BB-A2F0-0F82-D0D9-20D4F617E156}"/>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Método </a:t>
            </a:r>
            <a:r>
              <a:rPr lang="es-ES" sz="2800" b="1" dirty="0">
                <a:solidFill>
                  <a:schemeClr val="tx1"/>
                </a:solidFill>
              </a:rPr>
              <a:t>GQM</a:t>
            </a:r>
            <a:r>
              <a:rPr lang="es-ES" sz="2800" dirty="0">
                <a:solidFill>
                  <a:schemeClr val="tx1"/>
                </a:solidFill>
              </a:rPr>
              <a:t> </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2" name="Google Shape;284;p24">
            <a:extLst>
              <a:ext uri="{FF2B5EF4-FFF2-40B4-BE49-F238E27FC236}">
                <a16:creationId xmlns:a16="http://schemas.microsoft.com/office/drawing/2014/main" id="{FD250768-0E1C-F41C-F7CF-158BF51308E0}"/>
              </a:ext>
            </a:extLst>
          </p:cNvPr>
          <p:cNvPicPr preferRelativeResize="0"/>
          <p:nvPr/>
        </p:nvPicPr>
        <p:blipFill rotWithShape="1">
          <a:blip r:embed="rId3">
            <a:alphaModFix/>
          </a:blip>
          <a:srcRect l="-1" r="463"/>
          <a:stretch>
            <a:fillRect/>
          </a:stretch>
        </p:blipFill>
        <p:spPr>
          <a:xfrm>
            <a:off x="2706940" y="2327646"/>
            <a:ext cx="6746775" cy="3988893"/>
          </a:xfrm>
          <a:prstGeom prst="rect">
            <a:avLst/>
          </a:prstGeom>
          <a:noFill/>
          <a:ln>
            <a:noFill/>
          </a:ln>
          <a:effectLst/>
        </p:spPr>
      </p:pic>
    </p:spTree>
    <p:extLst>
      <p:ext uri="{BB962C8B-B14F-4D97-AF65-F5344CB8AC3E}">
        <p14:creationId xmlns:p14="http://schemas.microsoft.com/office/powerpoint/2010/main" val="2542709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5D1AA89-0BBE-B234-8889-CCB1E91D761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13C142E-A0CD-60A0-0C3F-FC53C2A86BF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Desarrollo de una métrica – Ejemplo GQM</a:t>
            </a:r>
          </a:p>
        </p:txBody>
      </p:sp>
      <p:sp>
        <p:nvSpPr>
          <p:cNvPr id="160" name="Google Shape;160;p4">
            <a:extLst>
              <a:ext uri="{FF2B5EF4-FFF2-40B4-BE49-F238E27FC236}">
                <a16:creationId xmlns:a16="http://schemas.microsoft.com/office/drawing/2014/main" id="{0376D3C2-7105-6ACC-CC53-2A701F281F8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37538D69-E291-8A27-20D4-0AF1A6C22E0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3F3E0229-69CE-DE11-BBF8-5DD72E1D938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24</a:t>
            </a:fld>
            <a:endParaRPr lang="es-AR"/>
          </a:p>
        </p:txBody>
      </p:sp>
      <p:sp>
        <p:nvSpPr>
          <p:cNvPr id="163" name="Google Shape;163;p4">
            <a:extLst>
              <a:ext uri="{FF2B5EF4-FFF2-40B4-BE49-F238E27FC236}">
                <a16:creationId xmlns:a16="http://schemas.microsoft.com/office/drawing/2014/main" id="{A9FDC5DF-2AF0-187A-3A77-82E0BD8A97D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Evaluamos, en la etapa de Análisis de Requerimientos, la tarea  </a:t>
            </a:r>
            <a:r>
              <a:rPr lang="es-ES" sz="2800" u="sng" dirty="0">
                <a:solidFill>
                  <a:schemeClr val="tx1"/>
                </a:solidFill>
              </a:rPr>
              <a:t>Asignación de responsabilidades</a:t>
            </a:r>
            <a:r>
              <a:rPr lang="es-ES" sz="2800" dirty="0">
                <a:solidFill>
                  <a:schemeClr val="tx1"/>
                </a:solidFill>
              </a:rPr>
              <a:t>.</a:t>
            </a: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graphicFrame>
        <p:nvGraphicFramePr>
          <p:cNvPr id="3" name="Google Shape;291;p25">
            <a:extLst>
              <a:ext uri="{FF2B5EF4-FFF2-40B4-BE49-F238E27FC236}">
                <a16:creationId xmlns:a16="http://schemas.microsoft.com/office/drawing/2014/main" id="{519F0349-2674-3CE9-68A5-FAB9A9622461}"/>
              </a:ext>
            </a:extLst>
          </p:cNvPr>
          <p:cNvGraphicFramePr/>
          <p:nvPr>
            <p:extLst>
              <p:ext uri="{D42A27DB-BD31-4B8C-83A1-F6EECF244321}">
                <p14:modId xmlns:p14="http://schemas.microsoft.com/office/powerpoint/2010/main" val="2844905819"/>
              </p:ext>
            </p:extLst>
          </p:nvPr>
        </p:nvGraphicFramePr>
        <p:xfrm>
          <a:off x="2605300" y="2727339"/>
          <a:ext cx="7295938" cy="3614466"/>
        </p:xfrm>
        <a:graphic>
          <a:graphicData uri="http://schemas.openxmlformats.org/drawingml/2006/table">
            <a:tbl>
              <a:tblPr firstRow="1" bandRow="1">
                <a:tableStyleId>{9DCAF9ED-07DC-4A11-8D7F-57B35C25682E}</a:tableStyleId>
              </a:tblPr>
              <a:tblGrid>
                <a:gridCol w="2031408">
                  <a:extLst>
                    <a:ext uri="{9D8B030D-6E8A-4147-A177-3AD203B41FA5}">
                      <a16:colId xmlns:a16="http://schemas.microsoft.com/office/drawing/2014/main" val="20000"/>
                    </a:ext>
                  </a:extLst>
                </a:gridCol>
                <a:gridCol w="3233122">
                  <a:extLst>
                    <a:ext uri="{9D8B030D-6E8A-4147-A177-3AD203B41FA5}">
                      <a16:colId xmlns:a16="http://schemas.microsoft.com/office/drawing/2014/main" val="20001"/>
                    </a:ext>
                  </a:extLst>
                </a:gridCol>
                <a:gridCol w="2031408">
                  <a:extLst>
                    <a:ext uri="{9D8B030D-6E8A-4147-A177-3AD203B41FA5}">
                      <a16:colId xmlns:a16="http://schemas.microsoft.com/office/drawing/2014/main" val="20002"/>
                    </a:ext>
                  </a:extLst>
                </a:gridCol>
              </a:tblGrid>
              <a:tr h="318922">
                <a:tc>
                  <a:txBody>
                    <a:bodyPr/>
                    <a:lstStyle/>
                    <a:p>
                      <a:pPr marL="0" marR="0" lvl="0" indent="0" algn="l" rtl="0">
                        <a:lnSpc>
                          <a:spcPct val="100000"/>
                        </a:lnSpc>
                        <a:spcBef>
                          <a:spcPts val="0"/>
                        </a:spcBef>
                        <a:spcAft>
                          <a:spcPts val="0"/>
                        </a:spcAft>
                        <a:buClr>
                          <a:schemeClr val="dk1"/>
                        </a:buClr>
                        <a:buSzPts val="1800"/>
                        <a:buFont typeface="Calibri"/>
                        <a:buNone/>
                      </a:pPr>
                      <a:r>
                        <a:rPr lang="es-AR" sz="1100" b="1" u="none" strike="noStrike" cap="none">
                          <a:sym typeface="Calibri"/>
                        </a:rPr>
                        <a:t>Propósito</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s-AR" sz="1100" b="1" u="none" strike="noStrike" cap="none">
                          <a:sym typeface="Calibri"/>
                        </a:rPr>
                        <a:t>Evaluar</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endParaRPr sz="1100" i="1" u="none" strike="noStrike" cap="none">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318922">
                <a:tc>
                  <a:txBody>
                    <a:bodyPr/>
                    <a:lstStyle/>
                    <a:p>
                      <a:pPr marL="0" marR="0" lvl="0" indent="0" algn="l" rtl="0">
                        <a:lnSpc>
                          <a:spcPct val="100000"/>
                        </a:lnSpc>
                        <a:spcBef>
                          <a:spcPts val="0"/>
                        </a:spcBef>
                        <a:spcAft>
                          <a:spcPts val="0"/>
                        </a:spcAft>
                        <a:buClr>
                          <a:schemeClr val="dk1"/>
                        </a:buClr>
                        <a:buSzPts val="1800"/>
                        <a:buFont typeface="Calibri"/>
                        <a:buNone/>
                      </a:pPr>
                      <a:r>
                        <a:rPr lang="es-AR" sz="1100" b="1" u="none" strike="noStrike" cap="none">
                          <a:sym typeface="Calibri"/>
                        </a:rPr>
                        <a:t>Característica</a:t>
                      </a:r>
                      <a:endParaRPr sz="1100" u="none" strike="noStrike" cap="none"/>
                    </a:p>
                  </a:txBody>
                  <a:tcPr marL="91450" marR="91450" marT="45725" marB="45725"/>
                </a:tc>
                <a:tc gridSpan="2">
                  <a:txBody>
                    <a:bodyPr/>
                    <a:lstStyle/>
                    <a:p>
                      <a:pPr marL="0" marR="0" lvl="0" indent="0" algn="l" rtl="0">
                        <a:lnSpc>
                          <a:spcPct val="100000"/>
                        </a:lnSpc>
                        <a:spcBef>
                          <a:spcPts val="0"/>
                        </a:spcBef>
                        <a:spcAft>
                          <a:spcPts val="0"/>
                        </a:spcAft>
                        <a:buClr>
                          <a:schemeClr val="dk1"/>
                        </a:buClr>
                        <a:buSzPts val="1800"/>
                        <a:buFont typeface="Calibri"/>
                        <a:buNone/>
                      </a:pPr>
                      <a:r>
                        <a:rPr lang="es-AR" sz="1100" b="1" u="none" strike="noStrike" cap="none">
                          <a:sym typeface="Calibri"/>
                        </a:rPr>
                        <a:t>Asignación de responsabilidades</a:t>
                      </a:r>
                      <a:endParaRPr sz="1100" u="none" strike="noStrike" cap="none"/>
                    </a:p>
                  </a:txBody>
                  <a:tcPr marL="91450" marR="91450" marT="45725" marB="45725"/>
                </a:tc>
                <a:tc hMerge="1">
                  <a:txBody>
                    <a:bodyPr/>
                    <a:lstStyle/>
                    <a:p>
                      <a:endParaRPr lang="es-ES"/>
                    </a:p>
                  </a:txBody>
                  <a:tcPr/>
                </a:tc>
                <a:extLst>
                  <a:ext uri="{0D108BD9-81ED-4DB2-BD59-A6C34878D82A}">
                    <a16:rowId xmlns:a16="http://schemas.microsoft.com/office/drawing/2014/main" val="10001"/>
                  </a:ext>
                </a:extLst>
              </a:tr>
              <a:tr h="318922">
                <a:tc>
                  <a:txBody>
                    <a:bodyPr/>
                    <a:lstStyle/>
                    <a:p>
                      <a:pPr marL="0" marR="0" lvl="0" indent="0" algn="l" rtl="0">
                        <a:lnSpc>
                          <a:spcPct val="100000"/>
                        </a:lnSpc>
                        <a:spcBef>
                          <a:spcPts val="0"/>
                        </a:spcBef>
                        <a:spcAft>
                          <a:spcPts val="0"/>
                        </a:spcAft>
                        <a:buClr>
                          <a:schemeClr val="dk1"/>
                        </a:buClr>
                        <a:buSzPts val="1800"/>
                        <a:buFont typeface="Calibri"/>
                        <a:buNone/>
                      </a:pPr>
                      <a:r>
                        <a:rPr lang="es-AR" sz="1100" b="1" u="none" strike="noStrike" cap="none" dirty="0">
                          <a:sym typeface="Calibri"/>
                        </a:rPr>
                        <a:t>Punto de Vista</a:t>
                      </a:r>
                      <a:endParaRPr sz="1100" u="none" strike="noStrike" cap="none" dirty="0"/>
                    </a:p>
                  </a:txBody>
                  <a:tcPr marL="91450" marR="91450" marT="45725" marB="45725"/>
                </a:tc>
                <a:tc gridSpan="2">
                  <a:txBody>
                    <a:bodyPr/>
                    <a:lstStyle/>
                    <a:p>
                      <a:pPr marL="0" marR="0" lvl="0" indent="0" algn="l" rtl="0">
                        <a:lnSpc>
                          <a:spcPct val="100000"/>
                        </a:lnSpc>
                        <a:spcBef>
                          <a:spcPts val="0"/>
                        </a:spcBef>
                        <a:spcAft>
                          <a:spcPts val="0"/>
                        </a:spcAft>
                        <a:buClr>
                          <a:schemeClr val="dk1"/>
                        </a:buClr>
                        <a:buSzPts val="1800"/>
                        <a:buFont typeface="Calibri"/>
                        <a:buNone/>
                      </a:pPr>
                      <a:r>
                        <a:rPr lang="es-AR" sz="1100" b="1" u="none" strike="noStrike" cap="none">
                          <a:sym typeface="Calibri"/>
                        </a:rPr>
                        <a:t>Gerencia de Proyecto</a:t>
                      </a:r>
                      <a:endParaRPr sz="1100" u="none" strike="noStrike" cap="none"/>
                    </a:p>
                  </a:txBody>
                  <a:tcPr marL="91450" marR="91450" marT="45725" marB="45725"/>
                </a:tc>
                <a:tc hMerge="1">
                  <a:txBody>
                    <a:bodyPr/>
                    <a:lstStyle/>
                    <a:p>
                      <a:endParaRPr lang="es-ES"/>
                    </a:p>
                  </a:txBody>
                  <a:tcPr/>
                </a:tc>
                <a:extLst>
                  <a:ext uri="{0D108BD9-81ED-4DB2-BD59-A6C34878D82A}">
                    <a16:rowId xmlns:a16="http://schemas.microsoft.com/office/drawing/2014/main" val="10002"/>
                  </a:ext>
                </a:extLst>
              </a:tr>
              <a:tr h="265770">
                <a:tc>
                  <a:txBody>
                    <a:bodyPr/>
                    <a:lstStyle/>
                    <a:p>
                      <a:pPr marL="0" marR="0" lvl="0" indent="0" algn="l" rtl="0">
                        <a:lnSpc>
                          <a:spcPct val="100000"/>
                        </a:lnSpc>
                        <a:spcBef>
                          <a:spcPts val="0"/>
                        </a:spcBef>
                        <a:spcAft>
                          <a:spcPts val="0"/>
                        </a:spcAft>
                        <a:buClr>
                          <a:schemeClr val="dk1"/>
                        </a:buClr>
                        <a:buSzPts val="1400"/>
                        <a:buFont typeface="Calibri"/>
                        <a:buNone/>
                      </a:pPr>
                      <a:r>
                        <a:rPr lang="es-AR" sz="1100" u="none" strike="noStrike" cap="none">
                          <a:sym typeface="Calibri"/>
                        </a:rPr>
                        <a:t>Pregunta 1</a:t>
                      </a:r>
                      <a:endParaRPr sz="1100" u="none" strike="noStrike" cap="none"/>
                    </a:p>
                  </a:txBody>
                  <a:tcPr marL="91450" marR="91450" marT="45725" marB="45725"/>
                </a:tc>
                <a:tc gridSpan="2">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¿Existe  un proceso para la asignación de roles?</a:t>
                      </a:r>
                      <a:endParaRPr sz="1100" u="none" strike="noStrike" cap="none"/>
                    </a:p>
                  </a:txBody>
                  <a:tcPr marL="91450" marR="91450" marT="45725" marB="45725"/>
                </a:tc>
                <a:tc hMerge="1">
                  <a:txBody>
                    <a:bodyPr/>
                    <a:lstStyle/>
                    <a:p>
                      <a:endParaRPr lang="es-ES"/>
                    </a:p>
                  </a:txBody>
                  <a:tcPr/>
                </a:tc>
                <a:extLst>
                  <a:ext uri="{0D108BD9-81ED-4DB2-BD59-A6C34878D82A}">
                    <a16:rowId xmlns:a16="http://schemas.microsoft.com/office/drawing/2014/main" val="10003"/>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endParaRPr sz="1100" u="none" strike="noStrike" cap="none">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s-AR" sz="1100" u="none" strike="noStrike" cap="none">
                          <a:sym typeface="Calibri"/>
                        </a:rPr>
                        <a:t>M1</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Valor Binario</a:t>
                      </a:r>
                      <a:endParaRPr sz="1100" u="none" strike="noStrike" cap="none"/>
                    </a:p>
                  </a:txBody>
                  <a:tcPr marL="91450" marR="91450" marT="45725" marB="45725"/>
                </a:tc>
                <a:extLst>
                  <a:ext uri="{0D108BD9-81ED-4DB2-BD59-A6C34878D82A}">
                    <a16:rowId xmlns:a16="http://schemas.microsoft.com/office/drawing/2014/main" val="10004"/>
                  </a:ext>
                </a:extLst>
              </a:tr>
              <a:tr h="265770">
                <a:tc>
                  <a:txBody>
                    <a:bodyPr/>
                    <a:lstStyle/>
                    <a:p>
                      <a:pPr marL="0" marR="0" lvl="0" indent="0" algn="l" rtl="0">
                        <a:lnSpc>
                          <a:spcPct val="100000"/>
                        </a:lnSpc>
                        <a:spcBef>
                          <a:spcPts val="0"/>
                        </a:spcBef>
                        <a:spcAft>
                          <a:spcPts val="0"/>
                        </a:spcAft>
                        <a:buClr>
                          <a:schemeClr val="dk1"/>
                        </a:buClr>
                        <a:buSzPts val="1400"/>
                        <a:buFont typeface="Calibri"/>
                        <a:buNone/>
                      </a:pPr>
                      <a:r>
                        <a:rPr lang="es-AR" sz="1100" u="none" strike="noStrike" cap="none">
                          <a:sym typeface="Calibri"/>
                        </a:rPr>
                        <a:t>Pregunta 2</a:t>
                      </a:r>
                      <a:endParaRPr sz="1100" u="none" strike="noStrike" cap="none"/>
                    </a:p>
                  </a:txBody>
                  <a:tcPr marL="91450" marR="91450" marT="45725" marB="45725"/>
                </a:tc>
                <a:tc gridSpan="2">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¿Hay un responsable de asignar roles?</a:t>
                      </a:r>
                      <a:endParaRPr sz="1100" u="none" strike="noStrike" cap="none"/>
                    </a:p>
                  </a:txBody>
                  <a:tcPr marL="91450" marR="91450" marT="45725" marB="45725"/>
                </a:tc>
                <a:tc hMerge="1">
                  <a:txBody>
                    <a:bodyPr/>
                    <a:lstStyle/>
                    <a:p>
                      <a:endParaRPr lang="es-ES"/>
                    </a:p>
                  </a:txBody>
                  <a:tcPr/>
                </a:tc>
                <a:extLst>
                  <a:ext uri="{0D108BD9-81ED-4DB2-BD59-A6C34878D82A}">
                    <a16:rowId xmlns:a16="http://schemas.microsoft.com/office/drawing/2014/main" val="10005"/>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endParaRPr sz="1100" u="none" strike="noStrike" cap="none">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s-AR" sz="1100" u="none" strike="noStrike" cap="none">
                          <a:sym typeface="Calibri"/>
                        </a:rPr>
                        <a:t>M2</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Valor Binario</a:t>
                      </a:r>
                      <a:endParaRPr sz="1100" u="none" strike="noStrike" cap="none"/>
                    </a:p>
                  </a:txBody>
                  <a:tcPr marL="91450" marR="91450" marT="45725" marB="45725"/>
                </a:tc>
                <a:extLst>
                  <a:ext uri="{0D108BD9-81ED-4DB2-BD59-A6C34878D82A}">
                    <a16:rowId xmlns:a16="http://schemas.microsoft.com/office/drawing/2014/main" val="10006"/>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r>
                        <a:rPr lang="es-AR" sz="1100" u="none" strike="noStrike" cap="none">
                          <a:sym typeface="Calibri"/>
                        </a:rPr>
                        <a:t>Pregunta 3</a:t>
                      </a:r>
                      <a:endParaRPr sz="1100" u="none" strike="noStrike" cap="none"/>
                    </a:p>
                  </a:txBody>
                  <a:tcPr marL="91450" marR="91450" marT="45725" marB="45725"/>
                </a:tc>
                <a:tc gridSpan="2">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¿El responsable siempre realiza su tarea?</a:t>
                      </a:r>
                      <a:endParaRPr sz="1100" u="none" strike="noStrike" cap="none"/>
                    </a:p>
                  </a:txBody>
                  <a:tcPr marL="91450" marR="91450" marT="45725" marB="45725"/>
                </a:tc>
                <a:tc hMerge="1">
                  <a:txBody>
                    <a:bodyPr/>
                    <a:lstStyle/>
                    <a:p>
                      <a:endParaRPr lang="es-ES"/>
                    </a:p>
                  </a:txBody>
                  <a:tcPr/>
                </a:tc>
                <a:extLst>
                  <a:ext uri="{0D108BD9-81ED-4DB2-BD59-A6C34878D82A}">
                    <a16:rowId xmlns:a16="http://schemas.microsoft.com/office/drawing/2014/main" val="10007"/>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endParaRPr sz="1100" u="none" strike="noStrike" cap="none">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s-AR" sz="1100" u="none" strike="noStrike" cap="none">
                          <a:sym typeface="Calibri"/>
                        </a:rPr>
                        <a:t>M3</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Valor Binario</a:t>
                      </a:r>
                      <a:endParaRPr sz="1100" u="none" strike="noStrike" cap="none"/>
                    </a:p>
                  </a:txBody>
                  <a:tcPr marL="91450" marR="91450" marT="45725" marB="45725"/>
                </a:tc>
                <a:extLst>
                  <a:ext uri="{0D108BD9-81ED-4DB2-BD59-A6C34878D82A}">
                    <a16:rowId xmlns:a16="http://schemas.microsoft.com/office/drawing/2014/main" val="10008"/>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r>
                        <a:rPr lang="es-AR" sz="1100" u="none" strike="noStrike" cap="none">
                          <a:sym typeface="Calibri"/>
                        </a:rPr>
                        <a:t>Pregunta 4</a:t>
                      </a:r>
                      <a:endParaRPr sz="1100" u="none" strike="noStrike" cap="none"/>
                    </a:p>
                  </a:txBody>
                  <a:tcPr marL="91450" marR="91450" marT="45725" marB="45725"/>
                </a:tc>
                <a:tc gridSpan="2">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¿Existe información anterior sobre las tareas realizadas por cada integrante?</a:t>
                      </a:r>
                      <a:endParaRPr sz="1100" u="none" strike="noStrike" cap="none"/>
                    </a:p>
                  </a:txBody>
                  <a:tcPr marL="91450" marR="91450" marT="45725" marB="45725"/>
                </a:tc>
                <a:tc hMerge="1">
                  <a:txBody>
                    <a:bodyPr/>
                    <a:lstStyle/>
                    <a:p>
                      <a:endParaRPr lang="es-ES"/>
                    </a:p>
                  </a:txBody>
                  <a:tcPr/>
                </a:tc>
                <a:extLst>
                  <a:ext uri="{0D108BD9-81ED-4DB2-BD59-A6C34878D82A}">
                    <a16:rowId xmlns:a16="http://schemas.microsoft.com/office/drawing/2014/main" val="10009"/>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endParaRPr sz="1100" u="none" strike="noStrike" cap="none">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s-AR" sz="1100" u="none" strike="noStrike" cap="none">
                          <a:sym typeface="Calibri"/>
                        </a:rPr>
                        <a:t>M4</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Valor Binario</a:t>
                      </a:r>
                      <a:endParaRPr sz="1100" u="none" strike="noStrike" cap="none"/>
                    </a:p>
                  </a:txBody>
                  <a:tcPr marL="91450" marR="91450" marT="45725" marB="45725"/>
                </a:tc>
                <a:extLst>
                  <a:ext uri="{0D108BD9-81ED-4DB2-BD59-A6C34878D82A}">
                    <a16:rowId xmlns:a16="http://schemas.microsoft.com/office/drawing/2014/main" val="10010"/>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r>
                        <a:rPr lang="es-AR" sz="1100" u="none" strike="noStrike" cap="none">
                          <a:sym typeface="Calibri"/>
                        </a:rPr>
                        <a:t>Pregunta 5</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a:sym typeface="Calibri"/>
                        </a:rPr>
                        <a:t>¿Esa información está disponible?</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endParaRPr sz="1100" u="none" strike="noStrike" cap="none">
                        <a:latin typeface="Calibri"/>
                        <a:ea typeface="Calibri"/>
                        <a:cs typeface="Calibri"/>
                        <a:sym typeface="Calibri"/>
                      </a:endParaRPr>
                    </a:p>
                  </a:txBody>
                  <a:tcPr marL="91450" marR="91450" marT="45725" marB="45725"/>
                </a:tc>
                <a:extLst>
                  <a:ext uri="{0D108BD9-81ED-4DB2-BD59-A6C34878D82A}">
                    <a16:rowId xmlns:a16="http://schemas.microsoft.com/office/drawing/2014/main" val="10011"/>
                  </a:ext>
                </a:extLst>
              </a:tr>
              <a:tr h="265770">
                <a:tc>
                  <a:txBody>
                    <a:bodyPr/>
                    <a:lstStyle/>
                    <a:p>
                      <a:pPr marL="0" marR="0" lvl="0" indent="0" algn="l" rtl="0">
                        <a:lnSpc>
                          <a:spcPct val="100000"/>
                        </a:lnSpc>
                        <a:spcBef>
                          <a:spcPts val="0"/>
                        </a:spcBef>
                        <a:spcAft>
                          <a:spcPts val="0"/>
                        </a:spcAft>
                        <a:buClr>
                          <a:srgbClr val="000000"/>
                        </a:buClr>
                        <a:buSzPts val="1400"/>
                        <a:buFont typeface="Arial"/>
                        <a:buNone/>
                      </a:pPr>
                      <a:endParaRPr sz="1100" u="none" strike="noStrike" cap="none">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s-AR" sz="1100" u="none" strike="noStrike" cap="none">
                          <a:sym typeface="Calibri"/>
                        </a:rPr>
                        <a:t>M5</a:t>
                      </a:r>
                      <a:endParaRPr sz="11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200"/>
                        <a:buFont typeface="Calibri"/>
                        <a:buNone/>
                      </a:pPr>
                      <a:r>
                        <a:rPr lang="es-AR" sz="1100" u="none" strike="noStrike" cap="none" dirty="0">
                          <a:sym typeface="Calibri"/>
                        </a:rPr>
                        <a:t>Valor Binario</a:t>
                      </a:r>
                      <a:endParaRPr sz="1100" u="none" strike="noStrike" cap="none" dirty="0"/>
                    </a:p>
                  </a:txBody>
                  <a:tcPr marL="91450" marR="91450" marT="45725" marB="45725"/>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593774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11EE824-0A9B-E17A-8805-91945DBCBC86}"/>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888386E-3A51-87EA-735F-7C9F2A45A47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Desarrollo de una métrica – Ejemplo GQM</a:t>
            </a:r>
          </a:p>
        </p:txBody>
      </p:sp>
      <p:sp>
        <p:nvSpPr>
          <p:cNvPr id="160" name="Google Shape;160;p4">
            <a:extLst>
              <a:ext uri="{FF2B5EF4-FFF2-40B4-BE49-F238E27FC236}">
                <a16:creationId xmlns:a16="http://schemas.microsoft.com/office/drawing/2014/main" id="{FCA0E3B6-F1FF-B946-DFFE-6ABD14A4238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6931196F-8178-49B2-84D1-AC32D8DB61C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D5C18E72-A381-1ECF-3774-C80F3493BB8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25</a:t>
            </a:fld>
            <a:endParaRPr lang="es-AR"/>
          </a:p>
        </p:txBody>
      </p:sp>
      <p:sp>
        <p:nvSpPr>
          <p:cNvPr id="163" name="Google Shape;163;p4">
            <a:extLst>
              <a:ext uri="{FF2B5EF4-FFF2-40B4-BE49-F238E27FC236}">
                <a16:creationId xmlns:a16="http://schemas.microsoft.com/office/drawing/2014/main" id="{52010593-3735-6404-8A53-7CFC8A2F489F}"/>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Indicadores:</a:t>
            </a:r>
          </a:p>
          <a:p>
            <a:pPr marL="530225" lvl="0"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a:p>
            <a:pPr marL="530225" lvl="0"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a:p>
            <a:pPr marL="530225" lvl="0"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r>
              <a:rPr lang="es-ES" sz="2400" dirty="0">
                <a:solidFill>
                  <a:schemeClr val="dk1"/>
                </a:solidFill>
                <a:latin typeface="Twentieth Century"/>
                <a:ea typeface="Twentieth Century"/>
                <a:cs typeface="Twentieth Century"/>
                <a:sym typeface="Twentieth Century"/>
              </a:rPr>
              <a:t>A partir de los indicadores definidos, se propone realizar el control de la meta a través de un tablero de control de indicadores específicos. Podemos decir que nuestra </a:t>
            </a:r>
            <a:r>
              <a:rPr lang="es-ES" sz="2400" u="sng" dirty="0">
                <a:solidFill>
                  <a:schemeClr val="dk1"/>
                </a:solidFill>
                <a:latin typeface="Twentieth Century"/>
                <a:ea typeface="Twentieth Century"/>
                <a:cs typeface="Twentieth Century"/>
                <a:sym typeface="Twentieth Century"/>
              </a:rPr>
              <a:t>meta se cumple</a:t>
            </a:r>
            <a:r>
              <a:rPr lang="es-ES" sz="2400" dirty="0">
                <a:solidFill>
                  <a:schemeClr val="dk1"/>
                </a:solidFill>
                <a:latin typeface="Twentieth Century"/>
                <a:ea typeface="Twentieth Century"/>
                <a:cs typeface="Twentieth Century"/>
                <a:sym typeface="Twentieth Century"/>
              </a:rPr>
              <a:t> si los indicadores  muestran los siguientes valores: </a:t>
            </a:r>
            <a:endParaRPr lang="es-ES" sz="2400" dirty="0">
              <a:solidFill>
                <a:srgbClr val="000000"/>
              </a:solidFill>
              <a:latin typeface="Arial"/>
              <a:ea typeface="Arial"/>
              <a:cs typeface="Arial"/>
              <a:sym typeface="Arial"/>
            </a:endParaRPr>
          </a:p>
          <a:p>
            <a:pPr marL="530225" lvl="0"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grpSp>
        <p:nvGrpSpPr>
          <p:cNvPr id="3" name="Google Shape;317;p26">
            <a:extLst>
              <a:ext uri="{FF2B5EF4-FFF2-40B4-BE49-F238E27FC236}">
                <a16:creationId xmlns:a16="http://schemas.microsoft.com/office/drawing/2014/main" id="{69D240D1-7718-1731-2907-2E7357694764}"/>
              </a:ext>
            </a:extLst>
          </p:cNvPr>
          <p:cNvGrpSpPr/>
          <p:nvPr/>
        </p:nvGrpSpPr>
        <p:grpSpPr>
          <a:xfrm>
            <a:off x="1955358" y="2435476"/>
            <a:ext cx="8601517" cy="1279021"/>
            <a:chOff x="0" y="0"/>
            <a:chExt cx="3940" cy="1182"/>
          </a:xfrm>
          <a:solidFill>
            <a:schemeClr val="accent2">
              <a:lumMod val="40000"/>
              <a:lumOff val="60000"/>
            </a:schemeClr>
          </a:solidFill>
        </p:grpSpPr>
        <p:grpSp>
          <p:nvGrpSpPr>
            <p:cNvPr id="4" name="Google Shape;318;p26">
              <a:extLst>
                <a:ext uri="{FF2B5EF4-FFF2-40B4-BE49-F238E27FC236}">
                  <a16:creationId xmlns:a16="http://schemas.microsoft.com/office/drawing/2014/main" id="{465A4707-A78D-5586-6A22-7CE34D049989}"/>
                </a:ext>
              </a:extLst>
            </p:cNvPr>
            <p:cNvGrpSpPr/>
            <p:nvPr/>
          </p:nvGrpSpPr>
          <p:grpSpPr>
            <a:xfrm>
              <a:off x="0" y="0"/>
              <a:ext cx="516" cy="394"/>
              <a:chOff x="0" y="0"/>
              <a:chExt cx="516" cy="394"/>
            </a:xfrm>
            <a:grpFill/>
          </p:grpSpPr>
          <p:sp>
            <p:nvSpPr>
              <p:cNvPr id="29" name="Google Shape;319;p26">
                <a:extLst>
                  <a:ext uri="{FF2B5EF4-FFF2-40B4-BE49-F238E27FC236}">
                    <a16:creationId xmlns:a16="http://schemas.microsoft.com/office/drawing/2014/main" id="{62480928-D01B-FE19-BDA8-4B6CE6DE02A3}"/>
                  </a:ext>
                </a:extLst>
              </p:cNvPr>
              <p:cNvSpPr/>
              <p:nvPr/>
            </p:nvSpPr>
            <p:spPr>
              <a:xfrm>
                <a:off x="0" y="0"/>
                <a:ext cx="516"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30" name="Google Shape;320;p26">
                <a:extLst>
                  <a:ext uri="{FF2B5EF4-FFF2-40B4-BE49-F238E27FC236}">
                    <a16:creationId xmlns:a16="http://schemas.microsoft.com/office/drawing/2014/main" id="{0F6FB59C-2B21-B01F-7232-EFFD3555D0E2}"/>
                  </a:ext>
                </a:extLst>
              </p:cNvPr>
              <p:cNvSpPr/>
              <p:nvPr/>
            </p:nvSpPr>
            <p:spPr>
              <a:xfrm>
                <a:off x="28" y="0"/>
                <a:ext cx="460" cy="178"/>
              </a:xfrm>
              <a:prstGeom prst="rect">
                <a:avLst/>
              </a:prstGeom>
              <a:grpFill/>
              <a:ln>
                <a:noFill/>
              </a:ln>
            </p:spPr>
            <p:txBody>
              <a:bodyPr spcFirstLastPara="1" wrap="square" lIns="91425" tIns="45700" rIns="91425" bIns="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1" i="1" u="sng" strike="noStrike" cap="none" dirty="0">
                    <a:solidFill>
                      <a:schemeClr val="dk1"/>
                    </a:solidFill>
                    <a:latin typeface="Calibri"/>
                    <a:ea typeface="Calibri"/>
                    <a:cs typeface="Calibri"/>
                    <a:sym typeface="Calibri"/>
                  </a:rPr>
                  <a:t>Nombre</a:t>
                </a: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grpSp>
        <p:grpSp>
          <p:nvGrpSpPr>
            <p:cNvPr id="5" name="Google Shape;321;p26">
              <a:extLst>
                <a:ext uri="{FF2B5EF4-FFF2-40B4-BE49-F238E27FC236}">
                  <a16:creationId xmlns:a16="http://schemas.microsoft.com/office/drawing/2014/main" id="{CFCE23CF-157C-6B61-8704-7F869AF66F16}"/>
                </a:ext>
              </a:extLst>
            </p:cNvPr>
            <p:cNvGrpSpPr/>
            <p:nvPr/>
          </p:nvGrpSpPr>
          <p:grpSpPr>
            <a:xfrm>
              <a:off x="516" y="0"/>
              <a:ext cx="1424" cy="394"/>
              <a:chOff x="516" y="0"/>
              <a:chExt cx="1424" cy="394"/>
            </a:xfrm>
            <a:grpFill/>
          </p:grpSpPr>
          <p:sp>
            <p:nvSpPr>
              <p:cNvPr id="27" name="Google Shape;322;p26">
                <a:extLst>
                  <a:ext uri="{FF2B5EF4-FFF2-40B4-BE49-F238E27FC236}">
                    <a16:creationId xmlns:a16="http://schemas.microsoft.com/office/drawing/2014/main" id="{ABA05876-75DA-A3BE-B738-8F426BD12CFB}"/>
                  </a:ext>
                </a:extLst>
              </p:cNvPr>
              <p:cNvSpPr/>
              <p:nvPr/>
            </p:nvSpPr>
            <p:spPr>
              <a:xfrm>
                <a:off x="516" y="0"/>
                <a:ext cx="1424"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8" name="Google Shape;323;p26">
                <a:extLst>
                  <a:ext uri="{FF2B5EF4-FFF2-40B4-BE49-F238E27FC236}">
                    <a16:creationId xmlns:a16="http://schemas.microsoft.com/office/drawing/2014/main" id="{B5A2585F-65A2-C902-E166-2AF1E14E952C}"/>
                  </a:ext>
                </a:extLst>
              </p:cNvPr>
              <p:cNvSpPr/>
              <p:nvPr/>
            </p:nvSpPr>
            <p:spPr>
              <a:xfrm>
                <a:off x="544" y="0"/>
                <a:ext cx="1368" cy="246"/>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1" i="0" u="sng" strike="noStrike" cap="none" dirty="0">
                    <a:solidFill>
                      <a:schemeClr val="dk1"/>
                    </a:solidFill>
                    <a:latin typeface="Calibri"/>
                    <a:ea typeface="Calibri"/>
                    <a:cs typeface="Calibri"/>
                    <a:sym typeface="Calibri"/>
                  </a:rPr>
                  <a:t>Descripción</a:t>
                </a:r>
                <a:endParaRPr sz="1400" b="1"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grpSp>
        <p:grpSp>
          <p:nvGrpSpPr>
            <p:cNvPr id="6" name="Google Shape;324;p26">
              <a:extLst>
                <a:ext uri="{FF2B5EF4-FFF2-40B4-BE49-F238E27FC236}">
                  <a16:creationId xmlns:a16="http://schemas.microsoft.com/office/drawing/2014/main" id="{14CB95B8-0F0F-0ADC-62B8-C6CC01813E99}"/>
                </a:ext>
              </a:extLst>
            </p:cNvPr>
            <p:cNvGrpSpPr/>
            <p:nvPr/>
          </p:nvGrpSpPr>
          <p:grpSpPr>
            <a:xfrm>
              <a:off x="1940" y="0"/>
              <a:ext cx="2000" cy="394"/>
              <a:chOff x="1940" y="0"/>
              <a:chExt cx="2000" cy="394"/>
            </a:xfrm>
            <a:grpFill/>
          </p:grpSpPr>
          <p:sp>
            <p:nvSpPr>
              <p:cNvPr id="25" name="Google Shape;325;p26">
                <a:extLst>
                  <a:ext uri="{FF2B5EF4-FFF2-40B4-BE49-F238E27FC236}">
                    <a16:creationId xmlns:a16="http://schemas.microsoft.com/office/drawing/2014/main" id="{7468FB7E-7A3E-097B-A250-E7BC6C926DE0}"/>
                  </a:ext>
                </a:extLst>
              </p:cNvPr>
              <p:cNvSpPr/>
              <p:nvPr/>
            </p:nvSpPr>
            <p:spPr>
              <a:xfrm>
                <a:off x="1940" y="0"/>
                <a:ext cx="2000"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6" name="Google Shape;326;p26">
                <a:extLst>
                  <a:ext uri="{FF2B5EF4-FFF2-40B4-BE49-F238E27FC236}">
                    <a16:creationId xmlns:a16="http://schemas.microsoft.com/office/drawing/2014/main" id="{D06A1297-3653-8F8D-14ED-565194699606}"/>
                  </a:ext>
                </a:extLst>
              </p:cNvPr>
              <p:cNvSpPr/>
              <p:nvPr/>
            </p:nvSpPr>
            <p:spPr>
              <a:xfrm>
                <a:off x="1968" y="0"/>
                <a:ext cx="1944" cy="394"/>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1" i="0" u="none" strike="noStrike" cap="none">
                    <a:solidFill>
                      <a:schemeClr val="dk1"/>
                    </a:solidFill>
                    <a:latin typeface="Calibri"/>
                    <a:ea typeface="Calibri"/>
                    <a:cs typeface="Calibri"/>
                    <a:sym typeface="Calibri"/>
                  </a:rPr>
                  <a:t>Fórmula</a:t>
                </a:r>
                <a:endParaRPr sz="1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grpSp>
          <p:nvGrpSpPr>
            <p:cNvPr id="7" name="Google Shape;327;p26">
              <a:extLst>
                <a:ext uri="{FF2B5EF4-FFF2-40B4-BE49-F238E27FC236}">
                  <a16:creationId xmlns:a16="http://schemas.microsoft.com/office/drawing/2014/main" id="{01F2FF52-C8DE-E769-347F-010B51C2B717}"/>
                </a:ext>
              </a:extLst>
            </p:cNvPr>
            <p:cNvGrpSpPr/>
            <p:nvPr/>
          </p:nvGrpSpPr>
          <p:grpSpPr>
            <a:xfrm>
              <a:off x="0" y="394"/>
              <a:ext cx="516" cy="394"/>
              <a:chOff x="0" y="394"/>
              <a:chExt cx="516" cy="394"/>
            </a:xfrm>
            <a:grpFill/>
          </p:grpSpPr>
          <p:sp>
            <p:nvSpPr>
              <p:cNvPr id="23" name="Google Shape;328;p26">
                <a:extLst>
                  <a:ext uri="{FF2B5EF4-FFF2-40B4-BE49-F238E27FC236}">
                    <a16:creationId xmlns:a16="http://schemas.microsoft.com/office/drawing/2014/main" id="{A506A2CC-3D47-81BB-FE57-0102A287CE34}"/>
                  </a:ext>
                </a:extLst>
              </p:cNvPr>
              <p:cNvSpPr/>
              <p:nvPr/>
            </p:nvSpPr>
            <p:spPr>
              <a:xfrm>
                <a:off x="0" y="394"/>
                <a:ext cx="516"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4" name="Google Shape;329;p26">
                <a:extLst>
                  <a:ext uri="{FF2B5EF4-FFF2-40B4-BE49-F238E27FC236}">
                    <a16:creationId xmlns:a16="http://schemas.microsoft.com/office/drawing/2014/main" id="{911059AE-C4ED-2898-2D13-C294C2A9D8CE}"/>
                  </a:ext>
                </a:extLst>
              </p:cNvPr>
              <p:cNvSpPr/>
              <p:nvPr/>
            </p:nvSpPr>
            <p:spPr>
              <a:xfrm>
                <a:off x="28" y="394"/>
                <a:ext cx="474" cy="298"/>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I1</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grpSp>
          <p:nvGrpSpPr>
            <p:cNvPr id="8" name="Google Shape;330;p26">
              <a:extLst>
                <a:ext uri="{FF2B5EF4-FFF2-40B4-BE49-F238E27FC236}">
                  <a16:creationId xmlns:a16="http://schemas.microsoft.com/office/drawing/2014/main" id="{D493D910-27D9-5449-36E3-9764386A029E}"/>
                </a:ext>
              </a:extLst>
            </p:cNvPr>
            <p:cNvGrpSpPr/>
            <p:nvPr/>
          </p:nvGrpSpPr>
          <p:grpSpPr>
            <a:xfrm>
              <a:off x="516" y="394"/>
              <a:ext cx="1428" cy="399"/>
              <a:chOff x="516" y="394"/>
              <a:chExt cx="1428" cy="399"/>
            </a:xfrm>
            <a:grpFill/>
          </p:grpSpPr>
          <p:sp>
            <p:nvSpPr>
              <p:cNvPr id="21" name="Google Shape;331;p26">
                <a:extLst>
                  <a:ext uri="{FF2B5EF4-FFF2-40B4-BE49-F238E27FC236}">
                    <a16:creationId xmlns:a16="http://schemas.microsoft.com/office/drawing/2014/main" id="{D8B3E2A2-6380-750A-2C4D-CF516DE9F34D}"/>
                  </a:ext>
                </a:extLst>
              </p:cNvPr>
              <p:cNvSpPr/>
              <p:nvPr/>
            </p:nvSpPr>
            <p:spPr>
              <a:xfrm>
                <a:off x="530" y="400"/>
                <a:ext cx="1414" cy="393"/>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2" name="Google Shape;332;p26">
                <a:extLst>
                  <a:ext uri="{FF2B5EF4-FFF2-40B4-BE49-F238E27FC236}">
                    <a16:creationId xmlns:a16="http://schemas.microsoft.com/office/drawing/2014/main" id="{27B02B58-33EB-FF6E-4CF8-314A8E85B986}"/>
                  </a:ext>
                </a:extLst>
              </p:cNvPr>
              <p:cNvSpPr/>
              <p:nvPr/>
            </p:nvSpPr>
            <p:spPr>
              <a:xfrm>
                <a:off x="516" y="394"/>
                <a:ext cx="1382" cy="394"/>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dirty="0">
                    <a:solidFill>
                      <a:schemeClr val="dk1"/>
                    </a:solidFill>
                    <a:latin typeface="Calibri"/>
                    <a:ea typeface="Calibri"/>
                    <a:cs typeface="Calibri"/>
                    <a:sym typeface="Calibri"/>
                  </a:rPr>
                  <a:t>Gestión de Asignación de roles</a:t>
                </a:r>
                <a:endParaRPr sz="1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grpSp>
        <p:grpSp>
          <p:nvGrpSpPr>
            <p:cNvPr id="9" name="Google Shape;333;p26">
              <a:extLst>
                <a:ext uri="{FF2B5EF4-FFF2-40B4-BE49-F238E27FC236}">
                  <a16:creationId xmlns:a16="http://schemas.microsoft.com/office/drawing/2014/main" id="{D40C3012-169A-BB8A-121E-5BE44940F3ED}"/>
                </a:ext>
              </a:extLst>
            </p:cNvPr>
            <p:cNvGrpSpPr/>
            <p:nvPr/>
          </p:nvGrpSpPr>
          <p:grpSpPr>
            <a:xfrm>
              <a:off x="1940" y="394"/>
              <a:ext cx="2000" cy="394"/>
              <a:chOff x="1940" y="394"/>
              <a:chExt cx="2000" cy="394"/>
            </a:xfrm>
            <a:grpFill/>
          </p:grpSpPr>
          <p:sp>
            <p:nvSpPr>
              <p:cNvPr id="19" name="Google Shape;334;p26">
                <a:extLst>
                  <a:ext uri="{FF2B5EF4-FFF2-40B4-BE49-F238E27FC236}">
                    <a16:creationId xmlns:a16="http://schemas.microsoft.com/office/drawing/2014/main" id="{481E3295-9F01-D013-4EB5-7A79B4DB278D}"/>
                  </a:ext>
                </a:extLst>
              </p:cNvPr>
              <p:cNvSpPr/>
              <p:nvPr/>
            </p:nvSpPr>
            <p:spPr>
              <a:xfrm>
                <a:off x="1940" y="394"/>
                <a:ext cx="2000"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0" name="Google Shape;335;p26">
                <a:extLst>
                  <a:ext uri="{FF2B5EF4-FFF2-40B4-BE49-F238E27FC236}">
                    <a16:creationId xmlns:a16="http://schemas.microsoft.com/office/drawing/2014/main" id="{CED992B0-8D58-8E98-958A-5F53271D378B}"/>
                  </a:ext>
                </a:extLst>
              </p:cNvPr>
              <p:cNvSpPr/>
              <p:nvPr/>
            </p:nvSpPr>
            <p:spPr>
              <a:xfrm>
                <a:off x="1968" y="394"/>
                <a:ext cx="1931" cy="282"/>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M2 &amp;  M3 &amp; M4 &amp; M5</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grpSp>
          <p:nvGrpSpPr>
            <p:cNvPr id="10" name="Google Shape;336;p26">
              <a:extLst>
                <a:ext uri="{FF2B5EF4-FFF2-40B4-BE49-F238E27FC236}">
                  <a16:creationId xmlns:a16="http://schemas.microsoft.com/office/drawing/2014/main" id="{1EDACE2E-97CA-5F69-FBA9-98D436D1203E}"/>
                </a:ext>
              </a:extLst>
            </p:cNvPr>
            <p:cNvGrpSpPr/>
            <p:nvPr/>
          </p:nvGrpSpPr>
          <p:grpSpPr>
            <a:xfrm>
              <a:off x="0" y="788"/>
              <a:ext cx="516" cy="394"/>
              <a:chOff x="0" y="788"/>
              <a:chExt cx="516" cy="394"/>
            </a:xfrm>
            <a:grpFill/>
          </p:grpSpPr>
          <p:sp>
            <p:nvSpPr>
              <p:cNvPr id="17" name="Google Shape;337;p26">
                <a:extLst>
                  <a:ext uri="{FF2B5EF4-FFF2-40B4-BE49-F238E27FC236}">
                    <a16:creationId xmlns:a16="http://schemas.microsoft.com/office/drawing/2014/main" id="{273D1588-05FE-7F04-2A9E-A2E07DC694D1}"/>
                  </a:ext>
                </a:extLst>
              </p:cNvPr>
              <p:cNvSpPr/>
              <p:nvPr/>
            </p:nvSpPr>
            <p:spPr>
              <a:xfrm>
                <a:off x="0" y="788"/>
                <a:ext cx="516"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18" name="Google Shape;338;p26">
                <a:extLst>
                  <a:ext uri="{FF2B5EF4-FFF2-40B4-BE49-F238E27FC236}">
                    <a16:creationId xmlns:a16="http://schemas.microsoft.com/office/drawing/2014/main" id="{7CC82495-55C2-6533-D185-6B29462F3DEE}"/>
                  </a:ext>
                </a:extLst>
              </p:cNvPr>
              <p:cNvSpPr/>
              <p:nvPr/>
            </p:nvSpPr>
            <p:spPr>
              <a:xfrm>
                <a:off x="28" y="788"/>
                <a:ext cx="460" cy="394"/>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I2</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grpSp>
          <p:nvGrpSpPr>
            <p:cNvPr id="11" name="Google Shape;339;p26">
              <a:extLst>
                <a:ext uri="{FF2B5EF4-FFF2-40B4-BE49-F238E27FC236}">
                  <a16:creationId xmlns:a16="http://schemas.microsoft.com/office/drawing/2014/main" id="{3FB1ACFF-3605-1D6C-565E-579384BC36F3}"/>
                </a:ext>
              </a:extLst>
            </p:cNvPr>
            <p:cNvGrpSpPr/>
            <p:nvPr/>
          </p:nvGrpSpPr>
          <p:grpSpPr>
            <a:xfrm>
              <a:off x="516" y="788"/>
              <a:ext cx="1424" cy="394"/>
              <a:chOff x="516" y="788"/>
              <a:chExt cx="1424" cy="394"/>
            </a:xfrm>
            <a:grpFill/>
          </p:grpSpPr>
          <p:sp>
            <p:nvSpPr>
              <p:cNvPr id="15" name="Google Shape;340;p26">
                <a:extLst>
                  <a:ext uri="{FF2B5EF4-FFF2-40B4-BE49-F238E27FC236}">
                    <a16:creationId xmlns:a16="http://schemas.microsoft.com/office/drawing/2014/main" id="{DF429755-59F6-6D41-4EFC-0BBDEB2795E3}"/>
                  </a:ext>
                </a:extLst>
              </p:cNvPr>
              <p:cNvSpPr/>
              <p:nvPr/>
            </p:nvSpPr>
            <p:spPr>
              <a:xfrm>
                <a:off x="516" y="788"/>
                <a:ext cx="1424"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16" name="Google Shape;341;p26">
                <a:extLst>
                  <a:ext uri="{FF2B5EF4-FFF2-40B4-BE49-F238E27FC236}">
                    <a16:creationId xmlns:a16="http://schemas.microsoft.com/office/drawing/2014/main" id="{5EFE7E38-71EB-A8C7-1A40-F1E4F1267F80}"/>
                  </a:ext>
                </a:extLst>
              </p:cNvPr>
              <p:cNvSpPr/>
              <p:nvPr/>
            </p:nvSpPr>
            <p:spPr>
              <a:xfrm>
                <a:off x="544" y="788"/>
                <a:ext cx="1368" cy="220"/>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Proceso de Asignación de roles</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grpSp>
          <p:nvGrpSpPr>
            <p:cNvPr id="12" name="Google Shape;342;p26">
              <a:extLst>
                <a:ext uri="{FF2B5EF4-FFF2-40B4-BE49-F238E27FC236}">
                  <a16:creationId xmlns:a16="http://schemas.microsoft.com/office/drawing/2014/main" id="{A3E3B916-B099-296E-7C39-D4E29048E4AF}"/>
                </a:ext>
              </a:extLst>
            </p:cNvPr>
            <p:cNvGrpSpPr/>
            <p:nvPr/>
          </p:nvGrpSpPr>
          <p:grpSpPr>
            <a:xfrm>
              <a:off x="1940" y="788"/>
              <a:ext cx="2000" cy="394"/>
              <a:chOff x="1940" y="788"/>
              <a:chExt cx="2000" cy="394"/>
            </a:xfrm>
            <a:grpFill/>
          </p:grpSpPr>
          <p:sp>
            <p:nvSpPr>
              <p:cNvPr id="13" name="Google Shape;343;p26">
                <a:extLst>
                  <a:ext uri="{FF2B5EF4-FFF2-40B4-BE49-F238E27FC236}">
                    <a16:creationId xmlns:a16="http://schemas.microsoft.com/office/drawing/2014/main" id="{65906AC9-F0EC-D8E8-8D1E-F51F81F9B2B8}"/>
                  </a:ext>
                </a:extLst>
              </p:cNvPr>
              <p:cNvSpPr/>
              <p:nvPr/>
            </p:nvSpPr>
            <p:spPr>
              <a:xfrm>
                <a:off x="1940" y="788"/>
                <a:ext cx="2000" cy="3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14" name="Google Shape;344;p26">
                <a:extLst>
                  <a:ext uri="{FF2B5EF4-FFF2-40B4-BE49-F238E27FC236}">
                    <a16:creationId xmlns:a16="http://schemas.microsoft.com/office/drawing/2014/main" id="{E7B5A45D-AE2C-1634-4181-138C244C68D1}"/>
                  </a:ext>
                </a:extLst>
              </p:cNvPr>
              <p:cNvSpPr/>
              <p:nvPr/>
            </p:nvSpPr>
            <p:spPr>
              <a:xfrm>
                <a:off x="1968" y="788"/>
                <a:ext cx="1944" cy="220"/>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a:solidFill>
                      <a:schemeClr val="dk1"/>
                    </a:solidFill>
                    <a:latin typeface="Calibri"/>
                    <a:ea typeface="Calibri"/>
                    <a:cs typeface="Calibri"/>
                    <a:sym typeface="Calibri"/>
                  </a:rPr>
                  <a:t>M1 &amp; M4 &amp; M5</a:t>
                </a:r>
                <a:endParaRPr sz="14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grpSp>
      </p:grpSp>
      <p:grpSp>
        <p:nvGrpSpPr>
          <p:cNvPr id="31" name="Google Shape;296;p26">
            <a:extLst>
              <a:ext uri="{FF2B5EF4-FFF2-40B4-BE49-F238E27FC236}">
                <a16:creationId xmlns:a16="http://schemas.microsoft.com/office/drawing/2014/main" id="{2670B837-3F02-E385-A813-447D58787C5D}"/>
              </a:ext>
            </a:extLst>
          </p:cNvPr>
          <p:cNvGrpSpPr/>
          <p:nvPr/>
        </p:nvGrpSpPr>
        <p:grpSpPr>
          <a:xfrm>
            <a:off x="2016486" y="5281424"/>
            <a:ext cx="8642184" cy="1004523"/>
            <a:chOff x="-3" y="-3"/>
            <a:chExt cx="2982" cy="619"/>
          </a:xfrm>
          <a:solidFill>
            <a:schemeClr val="accent2">
              <a:lumMod val="40000"/>
              <a:lumOff val="60000"/>
            </a:schemeClr>
          </a:solidFill>
        </p:grpSpPr>
        <p:sp>
          <p:nvSpPr>
            <p:cNvPr id="128" name="Google Shape;297;p26">
              <a:extLst>
                <a:ext uri="{FF2B5EF4-FFF2-40B4-BE49-F238E27FC236}">
                  <a16:creationId xmlns:a16="http://schemas.microsoft.com/office/drawing/2014/main" id="{A8B82F81-A0A0-314F-1FE4-A13097B555FC}"/>
                </a:ext>
              </a:extLst>
            </p:cNvPr>
            <p:cNvSpPr/>
            <p:nvPr/>
          </p:nvSpPr>
          <p:spPr>
            <a:xfrm>
              <a:off x="-3" y="-3"/>
              <a:ext cx="2982" cy="619"/>
            </a:xfrm>
            <a:prstGeom prst="rect">
              <a:avLst/>
            </a:prstGeom>
            <a:grpFill/>
            <a:ln w="11100"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p:txBody>
        </p:sp>
        <p:grpSp>
          <p:nvGrpSpPr>
            <p:cNvPr id="129" name="Google Shape;298;p26">
              <a:extLst>
                <a:ext uri="{FF2B5EF4-FFF2-40B4-BE49-F238E27FC236}">
                  <a16:creationId xmlns:a16="http://schemas.microsoft.com/office/drawing/2014/main" id="{1F172BD4-CF3C-F254-1126-67336513E15D}"/>
                </a:ext>
              </a:extLst>
            </p:cNvPr>
            <p:cNvGrpSpPr/>
            <p:nvPr/>
          </p:nvGrpSpPr>
          <p:grpSpPr>
            <a:xfrm>
              <a:off x="0" y="0"/>
              <a:ext cx="2976" cy="616"/>
              <a:chOff x="0" y="0"/>
              <a:chExt cx="2976" cy="616"/>
            </a:xfrm>
            <a:grpFill/>
          </p:grpSpPr>
          <p:grpSp>
            <p:nvGrpSpPr>
              <p:cNvPr id="130" name="Google Shape;299;p26">
                <a:extLst>
                  <a:ext uri="{FF2B5EF4-FFF2-40B4-BE49-F238E27FC236}">
                    <a16:creationId xmlns:a16="http://schemas.microsoft.com/office/drawing/2014/main" id="{D614DCCB-8796-8B8C-A01D-F84F8F1ED05C}"/>
                  </a:ext>
                </a:extLst>
              </p:cNvPr>
              <p:cNvGrpSpPr/>
              <p:nvPr/>
            </p:nvGrpSpPr>
            <p:grpSpPr>
              <a:xfrm>
                <a:off x="0" y="0"/>
                <a:ext cx="344" cy="304"/>
                <a:chOff x="0" y="0"/>
                <a:chExt cx="344" cy="304"/>
              </a:xfrm>
              <a:grpFill/>
            </p:grpSpPr>
            <p:sp>
              <p:nvSpPr>
                <p:cNvPr id="146" name="Google Shape;300;p26">
                  <a:extLst>
                    <a:ext uri="{FF2B5EF4-FFF2-40B4-BE49-F238E27FC236}">
                      <a16:creationId xmlns:a16="http://schemas.microsoft.com/office/drawing/2014/main" id="{8BD7C92C-8322-DCEE-2ED6-1CFF747609D8}"/>
                    </a:ext>
                  </a:extLst>
                </p:cNvPr>
                <p:cNvSpPr/>
                <p:nvPr/>
              </p:nvSpPr>
              <p:spPr>
                <a:xfrm>
                  <a:off x="0" y="0"/>
                  <a:ext cx="344" cy="194"/>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wentieth Century"/>
                    <a:ea typeface="Twentieth Century"/>
                    <a:cs typeface="Twentieth Century"/>
                    <a:sym typeface="Twentieth Century"/>
                  </a:endParaRPr>
                </a:p>
              </p:txBody>
            </p:sp>
            <p:sp>
              <p:nvSpPr>
                <p:cNvPr id="147" name="Google Shape;301;p26">
                  <a:extLst>
                    <a:ext uri="{FF2B5EF4-FFF2-40B4-BE49-F238E27FC236}">
                      <a16:creationId xmlns:a16="http://schemas.microsoft.com/office/drawing/2014/main" id="{398B2DFF-3DC9-75C1-8816-0C15F731E38D}"/>
                    </a:ext>
                  </a:extLst>
                </p:cNvPr>
                <p:cNvSpPr/>
                <p:nvPr/>
              </p:nvSpPr>
              <p:spPr>
                <a:xfrm>
                  <a:off x="28" y="0"/>
                  <a:ext cx="288" cy="304"/>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1" i="1" u="none" strike="noStrike" cap="none">
                      <a:solidFill>
                        <a:schemeClr val="dk1"/>
                      </a:solidFill>
                      <a:latin typeface="Calibri"/>
                      <a:ea typeface="Calibri"/>
                      <a:cs typeface="Calibri"/>
                      <a:sym typeface="Calibri"/>
                    </a:rPr>
                    <a:t>I1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1" u="none" strike="noStrike" cap="none">
                    <a:solidFill>
                      <a:schemeClr val="dk1"/>
                    </a:solidFill>
                    <a:latin typeface="Twentieth Century"/>
                    <a:ea typeface="Twentieth Century"/>
                    <a:cs typeface="Twentieth Century"/>
                    <a:sym typeface="Twentieth Century"/>
                  </a:endParaRPr>
                </a:p>
              </p:txBody>
            </p:sp>
          </p:grpSp>
          <p:grpSp>
            <p:nvGrpSpPr>
              <p:cNvPr id="131" name="Google Shape;302;p26">
                <a:extLst>
                  <a:ext uri="{FF2B5EF4-FFF2-40B4-BE49-F238E27FC236}">
                    <a16:creationId xmlns:a16="http://schemas.microsoft.com/office/drawing/2014/main" id="{52EE1CCD-0B41-196C-1A0A-9A8C47D59725}"/>
                  </a:ext>
                </a:extLst>
              </p:cNvPr>
              <p:cNvGrpSpPr/>
              <p:nvPr/>
            </p:nvGrpSpPr>
            <p:grpSpPr>
              <a:xfrm>
                <a:off x="344" y="0"/>
                <a:ext cx="1593" cy="304"/>
                <a:chOff x="344" y="0"/>
                <a:chExt cx="1593" cy="304"/>
              </a:xfrm>
              <a:grpFill/>
            </p:grpSpPr>
            <p:sp>
              <p:nvSpPr>
                <p:cNvPr id="144" name="Google Shape;303;p26">
                  <a:extLst>
                    <a:ext uri="{FF2B5EF4-FFF2-40B4-BE49-F238E27FC236}">
                      <a16:creationId xmlns:a16="http://schemas.microsoft.com/office/drawing/2014/main" id="{4DCFAD63-DCC2-7EF4-9787-CE5AB068DDA4}"/>
                    </a:ext>
                  </a:extLst>
                </p:cNvPr>
                <p:cNvSpPr/>
                <p:nvPr/>
              </p:nvSpPr>
              <p:spPr>
                <a:xfrm>
                  <a:off x="344" y="0"/>
                  <a:ext cx="1593" cy="247"/>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wentieth Century"/>
                    <a:ea typeface="Twentieth Century"/>
                    <a:cs typeface="Twentieth Century"/>
                    <a:sym typeface="Twentieth Century"/>
                  </a:endParaRPr>
                </a:p>
              </p:txBody>
            </p:sp>
            <p:sp>
              <p:nvSpPr>
                <p:cNvPr id="145" name="Google Shape;304;p26">
                  <a:extLst>
                    <a:ext uri="{FF2B5EF4-FFF2-40B4-BE49-F238E27FC236}">
                      <a16:creationId xmlns:a16="http://schemas.microsoft.com/office/drawing/2014/main" id="{06786A86-C430-9B78-9C37-3E4121915EB5}"/>
                    </a:ext>
                  </a:extLst>
                </p:cNvPr>
                <p:cNvSpPr/>
                <p:nvPr/>
              </p:nvSpPr>
              <p:spPr>
                <a:xfrm>
                  <a:off x="372" y="0"/>
                  <a:ext cx="1512" cy="304"/>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dirty="0">
                      <a:solidFill>
                        <a:schemeClr val="dk1"/>
                      </a:solidFill>
                      <a:latin typeface="Calibri"/>
                      <a:ea typeface="Calibri"/>
                      <a:cs typeface="Calibri"/>
                      <a:sym typeface="Calibri"/>
                    </a:rPr>
                    <a:t>Gestión de Asignación de roles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Twentieth Century"/>
                    <a:ea typeface="Twentieth Century"/>
                    <a:cs typeface="Twentieth Century"/>
                    <a:sym typeface="Twentieth Century"/>
                  </a:endParaRPr>
                </a:p>
              </p:txBody>
            </p:sp>
          </p:grpSp>
          <p:grpSp>
            <p:nvGrpSpPr>
              <p:cNvPr id="132" name="Google Shape;305;p26">
                <a:extLst>
                  <a:ext uri="{FF2B5EF4-FFF2-40B4-BE49-F238E27FC236}">
                    <a16:creationId xmlns:a16="http://schemas.microsoft.com/office/drawing/2014/main" id="{E6A80A0E-7E1C-ADC7-FE17-E75F83D27889}"/>
                  </a:ext>
                </a:extLst>
              </p:cNvPr>
              <p:cNvGrpSpPr/>
              <p:nvPr/>
            </p:nvGrpSpPr>
            <p:grpSpPr>
              <a:xfrm>
                <a:off x="1912" y="0"/>
                <a:ext cx="1064" cy="304"/>
                <a:chOff x="1912" y="0"/>
                <a:chExt cx="1064" cy="304"/>
              </a:xfrm>
              <a:grpFill/>
            </p:grpSpPr>
            <p:sp>
              <p:nvSpPr>
                <p:cNvPr id="142" name="Google Shape;306;p26">
                  <a:extLst>
                    <a:ext uri="{FF2B5EF4-FFF2-40B4-BE49-F238E27FC236}">
                      <a16:creationId xmlns:a16="http://schemas.microsoft.com/office/drawing/2014/main" id="{55886D25-6B9C-C24E-6CDD-26F2A6C806AC}"/>
                    </a:ext>
                  </a:extLst>
                </p:cNvPr>
                <p:cNvSpPr/>
                <p:nvPr/>
              </p:nvSpPr>
              <p:spPr>
                <a:xfrm>
                  <a:off x="1912" y="0"/>
                  <a:ext cx="1064" cy="258"/>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wentieth Century"/>
                    <a:ea typeface="Twentieth Century"/>
                    <a:cs typeface="Twentieth Century"/>
                    <a:sym typeface="Twentieth Century"/>
                  </a:endParaRPr>
                </a:p>
              </p:txBody>
            </p:sp>
            <p:sp>
              <p:nvSpPr>
                <p:cNvPr id="143" name="Google Shape;307;p26">
                  <a:extLst>
                    <a:ext uri="{FF2B5EF4-FFF2-40B4-BE49-F238E27FC236}">
                      <a16:creationId xmlns:a16="http://schemas.microsoft.com/office/drawing/2014/main" id="{88D72A36-8A5E-B2D9-81D6-C280DA8E69EB}"/>
                    </a:ext>
                  </a:extLst>
                </p:cNvPr>
                <p:cNvSpPr/>
                <p:nvPr/>
              </p:nvSpPr>
              <p:spPr>
                <a:xfrm>
                  <a:off x="1940" y="0"/>
                  <a:ext cx="1008" cy="304"/>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dirty="0">
                      <a:solidFill>
                        <a:schemeClr val="dk1"/>
                      </a:solidFill>
                      <a:latin typeface="Calibri"/>
                      <a:ea typeface="Calibri"/>
                      <a:cs typeface="Calibri"/>
                      <a:sym typeface="Calibri"/>
                    </a:rPr>
                    <a:t>Verdadero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Twentieth Century"/>
                    <a:ea typeface="Twentieth Century"/>
                    <a:cs typeface="Twentieth Century"/>
                    <a:sym typeface="Twentieth Century"/>
                  </a:endParaRPr>
                </a:p>
              </p:txBody>
            </p:sp>
          </p:grpSp>
          <p:grpSp>
            <p:nvGrpSpPr>
              <p:cNvPr id="133" name="Google Shape;308;p26">
                <a:extLst>
                  <a:ext uri="{FF2B5EF4-FFF2-40B4-BE49-F238E27FC236}">
                    <a16:creationId xmlns:a16="http://schemas.microsoft.com/office/drawing/2014/main" id="{ED919342-BF6F-C1AD-785B-F2BA4ED8BC24}"/>
                  </a:ext>
                </a:extLst>
              </p:cNvPr>
              <p:cNvGrpSpPr/>
              <p:nvPr/>
            </p:nvGrpSpPr>
            <p:grpSpPr>
              <a:xfrm>
                <a:off x="0" y="299"/>
                <a:ext cx="344" cy="292"/>
                <a:chOff x="0" y="299"/>
                <a:chExt cx="344" cy="292"/>
              </a:xfrm>
              <a:grpFill/>
            </p:grpSpPr>
            <p:sp>
              <p:nvSpPr>
                <p:cNvPr id="140" name="Google Shape;309;p26">
                  <a:extLst>
                    <a:ext uri="{FF2B5EF4-FFF2-40B4-BE49-F238E27FC236}">
                      <a16:creationId xmlns:a16="http://schemas.microsoft.com/office/drawing/2014/main" id="{34AA1376-5CE3-275C-ADFD-7D2E1C322273}"/>
                    </a:ext>
                  </a:extLst>
                </p:cNvPr>
                <p:cNvSpPr/>
                <p:nvPr/>
              </p:nvSpPr>
              <p:spPr>
                <a:xfrm>
                  <a:off x="0" y="394"/>
                  <a:ext cx="344" cy="197"/>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141" name="Google Shape;310;p26">
                  <a:extLst>
                    <a:ext uri="{FF2B5EF4-FFF2-40B4-BE49-F238E27FC236}">
                      <a16:creationId xmlns:a16="http://schemas.microsoft.com/office/drawing/2014/main" id="{8132C3FB-96E1-02EE-D4BE-A91B7EA7CD8D}"/>
                    </a:ext>
                  </a:extLst>
                </p:cNvPr>
                <p:cNvSpPr/>
                <p:nvPr/>
              </p:nvSpPr>
              <p:spPr>
                <a:xfrm>
                  <a:off x="28" y="299"/>
                  <a:ext cx="288" cy="197"/>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s-AR" sz="1600" b="1" i="1" u="none" strike="noStrike" cap="none">
                      <a:solidFill>
                        <a:schemeClr val="dk1"/>
                      </a:solidFill>
                      <a:latin typeface="Calibri"/>
                      <a:ea typeface="Calibri"/>
                      <a:cs typeface="Calibri"/>
                      <a:sym typeface="Calibri"/>
                    </a:rPr>
                    <a:t>I2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1" u="none" strike="noStrike" cap="none">
                    <a:solidFill>
                      <a:schemeClr val="dk1"/>
                    </a:solidFill>
                    <a:latin typeface="Twentieth Century"/>
                    <a:ea typeface="Twentieth Century"/>
                    <a:cs typeface="Twentieth Century"/>
                    <a:sym typeface="Twentieth Century"/>
                  </a:endParaRPr>
                </a:p>
              </p:txBody>
            </p:sp>
          </p:grpSp>
          <p:grpSp>
            <p:nvGrpSpPr>
              <p:cNvPr id="134" name="Google Shape;311;p26">
                <a:extLst>
                  <a:ext uri="{FF2B5EF4-FFF2-40B4-BE49-F238E27FC236}">
                    <a16:creationId xmlns:a16="http://schemas.microsoft.com/office/drawing/2014/main" id="{107E269E-DE38-AB49-D3AF-8E8EE0DEAC0E}"/>
                  </a:ext>
                </a:extLst>
              </p:cNvPr>
              <p:cNvGrpSpPr/>
              <p:nvPr/>
            </p:nvGrpSpPr>
            <p:grpSpPr>
              <a:xfrm>
                <a:off x="344" y="329"/>
                <a:ext cx="1568" cy="287"/>
                <a:chOff x="344" y="329"/>
                <a:chExt cx="1568" cy="287"/>
              </a:xfrm>
              <a:grpFill/>
            </p:grpSpPr>
            <p:sp>
              <p:nvSpPr>
                <p:cNvPr id="138" name="Google Shape;312;p26">
                  <a:extLst>
                    <a:ext uri="{FF2B5EF4-FFF2-40B4-BE49-F238E27FC236}">
                      <a16:creationId xmlns:a16="http://schemas.microsoft.com/office/drawing/2014/main" id="{7752D3FD-8843-ABED-51F2-850D1DAB872B}"/>
                    </a:ext>
                  </a:extLst>
                </p:cNvPr>
                <p:cNvSpPr/>
                <p:nvPr/>
              </p:nvSpPr>
              <p:spPr>
                <a:xfrm>
                  <a:off x="344" y="394"/>
                  <a:ext cx="1568" cy="222"/>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wentieth Century"/>
                    <a:ea typeface="Twentieth Century"/>
                    <a:cs typeface="Twentieth Century"/>
                    <a:sym typeface="Twentieth Century"/>
                  </a:endParaRPr>
                </a:p>
              </p:txBody>
            </p:sp>
            <p:sp>
              <p:nvSpPr>
                <p:cNvPr id="139" name="Google Shape;313;p26">
                  <a:extLst>
                    <a:ext uri="{FF2B5EF4-FFF2-40B4-BE49-F238E27FC236}">
                      <a16:creationId xmlns:a16="http://schemas.microsoft.com/office/drawing/2014/main" id="{D9AA0194-C55B-556F-33BA-5E05B232805F}"/>
                    </a:ext>
                  </a:extLst>
                </p:cNvPr>
                <p:cNvSpPr/>
                <p:nvPr/>
              </p:nvSpPr>
              <p:spPr>
                <a:xfrm>
                  <a:off x="347" y="329"/>
                  <a:ext cx="1512" cy="197"/>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dirty="0">
                      <a:solidFill>
                        <a:schemeClr val="dk1"/>
                      </a:solidFill>
                      <a:latin typeface="Calibri"/>
                      <a:ea typeface="Calibri"/>
                      <a:cs typeface="Calibri"/>
                      <a:sym typeface="Calibri"/>
                    </a:rPr>
                    <a:t>Proceso de Asignación de roles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grpSp>
          <p:grpSp>
            <p:nvGrpSpPr>
              <p:cNvPr id="135" name="Google Shape;314;p26">
                <a:extLst>
                  <a:ext uri="{FF2B5EF4-FFF2-40B4-BE49-F238E27FC236}">
                    <a16:creationId xmlns:a16="http://schemas.microsoft.com/office/drawing/2014/main" id="{121DC36E-8FA0-07EB-A78D-13113274C253}"/>
                  </a:ext>
                </a:extLst>
              </p:cNvPr>
              <p:cNvGrpSpPr/>
              <p:nvPr/>
            </p:nvGrpSpPr>
            <p:grpSpPr>
              <a:xfrm>
                <a:off x="1912" y="327"/>
                <a:ext cx="1064" cy="266"/>
                <a:chOff x="1912" y="327"/>
                <a:chExt cx="1064" cy="266"/>
              </a:xfrm>
              <a:grpFill/>
            </p:grpSpPr>
            <p:sp>
              <p:nvSpPr>
                <p:cNvPr id="136" name="Google Shape;315;p26">
                  <a:extLst>
                    <a:ext uri="{FF2B5EF4-FFF2-40B4-BE49-F238E27FC236}">
                      <a16:creationId xmlns:a16="http://schemas.microsoft.com/office/drawing/2014/main" id="{E92A285B-4C23-AF62-A79A-F052C4DCD9D8}"/>
                    </a:ext>
                  </a:extLst>
                </p:cNvPr>
                <p:cNvSpPr/>
                <p:nvPr/>
              </p:nvSpPr>
              <p:spPr>
                <a:xfrm>
                  <a:off x="1912" y="394"/>
                  <a:ext cx="1064" cy="199"/>
                </a:xfrm>
                <a:prstGeom prst="rect">
                  <a:avLst/>
                </a:prstGeom>
                <a:grpFill/>
                <a:ln w="9525" cap="flat" cmpd="sng">
                  <a:solidFill>
                    <a:srgbClr val="A0A0A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wentieth Century"/>
                    <a:ea typeface="Twentieth Century"/>
                    <a:cs typeface="Twentieth Century"/>
                    <a:sym typeface="Twentieth Century"/>
                  </a:endParaRPr>
                </a:p>
              </p:txBody>
            </p:sp>
            <p:sp>
              <p:nvSpPr>
                <p:cNvPr id="137" name="Google Shape;316;p26">
                  <a:extLst>
                    <a:ext uri="{FF2B5EF4-FFF2-40B4-BE49-F238E27FC236}">
                      <a16:creationId xmlns:a16="http://schemas.microsoft.com/office/drawing/2014/main" id="{4B1AFA0E-ACE8-359B-FA4B-3C9F39EFC6C3}"/>
                    </a:ext>
                  </a:extLst>
                </p:cNvPr>
                <p:cNvSpPr/>
                <p:nvPr/>
              </p:nvSpPr>
              <p:spPr>
                <a:xfrm>
                  <a:off x="1943" y="327"/>
                  <a:ext cx="1008" cy="197"/>
                </a:xfrm>
                <a:prstGeom prst="rect">
                  <a:avLst/>
                </a:prstGeom>
                <a:gr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AR" sz="1400" b="0" i="0" u="none" strike="noStrike" cap="none" dirty="0">
                      <a:solidFill>
                        <a:schemeClr val="dk1"/>
                      </a:solidFill>
                      <a:latin typeface="Calibri"/>
                      <a:ea typeface="Calibri"/>
                      <a:cs typeface="Calibri"/>
                      <a:sym typeface="Calibri"/>
                    </a:rPr>
                    <a:t>Verdadero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wentieth Century"/>
                    <a:ea typeface="Twentieth Century"/>
                    <a:cs typeface="Twentieth Century"/>
                    <a:sym typeface="Twentieth Century"/>
                  </a:endParaRPr>
                </a:p>
              </p:txBody>
            </p:sp>
          </p:grpSp>
        </p:grpSp>
      </p:grpSp>
    </p:spTree>
    <p:extLst>
      <p:ext uri="{BB962C8B-B14F-4D97-AF65-F5344CB8AC3E}">
        <p14:creationId xmlns:p14="http://schemas.microsoft.com/office/powerpoint/2010/main" val="179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4" end="4"/>
                                            </p:txEl>
                                          </p:spTgt>
                                        </p:tgtEl>
                                        <p:attrNameLst>
                                          <p:attrName>style.visibility</p:attrName>
                                        </p:attrNameLst>
                                      </p:cBhvr>
                                      <p:to>
                                        <p:strVal val="visible"/>
                                      </p:to>
                                    </p:set>
                                    <p:animEffect transition="in" filter="fade">
                                      <p:cBhvr>
                                        <p:cTn id="7" dur="500"/>
                                        <p:tgtEl>
                                          <p:spTgt spid="16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EBF48C3C-88E5-7B9F-8406-600FA792D74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13760573-1805-F72A-6A7D-EF261EE31C2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Desarrollo de una métrica</a:t>
            </a:r>
          </a:p>
        </p:txBody>
      </p:sp>
      <p:sp>
        <p:nvSpPr>
          <p:cNvPr id="160" name="Google Shape;160;p4">
            <a:extLst>
              <a:ext uri="{FF2B5EF4-FFF2-40B4-BE49-F238E27FC236}">
                <a16:creationId xmlns:a16="http://schemas.microsoft.com/office/drawing/2014/main" id="{5788E4CC-AD5A-788D-7C14-AFF31C0C09D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444EE94E-CFDE-9856-60C9-03FDCE67C6A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1CA1B24E-CF82-88F4-3F91-12A69266BFE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26</a:t>
            </a:fld>
            <a:endParaRPr lang="es-AR"/>
          </a:p>
        </p:txBody>
      </p:sp>
      <p:sp>
        <p:nvSpPr>
          <p:cNvPr id="163" name="Google Shape;163;p4">
            <a:extLst>
              <a:ext uri="{FF2B5EF4-FFF2-40B4-BE49-F238E27FC236}">
                <a16:creationId xmlns:a16="http://schemas.microsoft.com/office/drawing/2014/main" id="{98ACC059-88BF-38ED-4C37-249E3423984C}"/>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Método </a:t>
            </a:r>
            <a:r>
              <a:rPr lang="es-ES" sz="2800" b="1" dirty="0">
                <a:solidFill>
                  <a:schemeClr val="tx1"/>
                </a:solidFill>
              </a:rPr>
              <a:t>GQM</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2" name="Google Shape;352;p27" descr="Diagrama&#10;&#10;El contenido generado por IA puede ser incorrecto.">
            <a:extLst>
              <a:ext uri="{FF2B5EF4-FFF2-40B4-BE49-F238E27FC236}">
                <a16:creationId xmlns:a16="http://schemas.microsoft.com/office/drawing/2014/main" id="{87DB420C-5C9C-01A0-64AF-23A9FFADA534}"/>
              </a:ext>
            </a:extLst>
          </p:cNvPr>
          <p:cNvPicPr preferRelativeResize="0"/>
          <p:nvPr/>
        </p:nvPicPr>
        <p:blipFill rotWithShape="1">
          <a:blip r:embed="rId3">
            <a:alphaModFix/>
          </a:blip>
          <a:srcRect t="11313" b="15693"/>
          <a:stretch>
            <a:fillRect/>
          </a:stretch>
        </p:blipFill>
        <p:spPr>
          <a:xfrm>
            <a:off x="3686175" y="1780969"/>
            <a:ext cx="5472573" cy="4398604"/>
          </a:xfrm>
          <a:prstGeom prst="rect">
            <a:avLst/>
          </a:prstGeom>
          <a:noFill/>
          <a:ln>
            <a:noFill/>
          </a:ln>
        </p:spPr>
      </p:pic>
    </p:spTree>
    <p:extLst>
      <p:ext uri="{BB962C8B-B14F-4D97-AF65-F5344CB8AC3E}">
        <p14:creationId xmlns:p14="http://schemas.microsoft.com/office/powerpoint/2010/main" val="131614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5"/>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a:t>Gestión de Proyectos	</a:t>
            </a:r>
            <a:endParaRPr/>
          </a:p>
        </p:txBody>
      </p:sp>
      <p:sp>
        <p:nvSpPr>
          <p:cNvPr id="151" name="Google Shape;151;p35"/>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500"/>
              <a:buNone/>
            </a:pPr>
            <a:r>
              <a:rPr lang="es-AR" dirty="0"/>
              <a:t>Estimaciones</a:t>
            </a:r>
            <a:endParaRPr dirty="0"/>
          </a:p>
        </p:txBody>
      </p:sp>
      <p:sp>
        <p:nvSpPr>
          <p:cNvPr id="152" name="Google Shape;152;p35"/>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53" name="Google Shape;153;p35"/>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INGENIERÍA DE SOFTWARE II</a:t>
            </a:r>
            <a:endParaRPr/>
          </a:p>
        </p:txBody>
      </p:sp>
      <p:sp>
        <p:nvSpPr>
          <p:cNvPr id="154" name="Google Shape;154;p3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27</a:t>
            </a:fld>
            <a:endParaRPr/>
          </a:p>
        </p:txBody>
      </p:sp>
      <p:sp>
        <p:nvSpPr>
          <p:cNvPr id="3" name="Google Shape;150;p35">
            <a:extLst>
              <a:ext uri="{FF2B5EF4-FFF2-40B4-BE49-F238E27FC236}">
                <a16:creationId xmlns:a16="http://schemas.microsoft.com/office/drawing/2014/main" id="{76522B8A-8328-5E02-6C26-B821F78AC175}"/>
              </a:ext>
            </a:extLst>
          </p:cNvPr>
          <p:cNvSpPr txBox="1">
            <a:spLocks noGrp="1"/>
          </p:cNvSpPr>
          <p:nvPr>
            <p:ph idx="1"/>
          </p:nvPr>
        </p:nvSpPr>
        <p:spPr>
          <a:xfrm>
            <a:off x="4800600" y="731838"/>
            <a:ext cx="6492875" cy="5257800"/>
          </a:xfrm>
          <a:prstGeom prst="rect">
            <a:avLst/>
          </a:prstGeom>
          <a:noFill/>
          <a:ln>
            <a:noFill/>
          </a:ln>
        </p:spPr>
        <p:txBody>
          <a:bodyPr spcFirstLastPara="1" wrap="square" lIns="0" tIns="45700" rIns="0" bIns="45700" anchor="t" anchorCtr="0">
            <a:noAutofit/>
          </a:bodyPr>
          <a:lstStyle/>
          <a:p>
            <a:pPr marL="530225" lvl="0" indent="-530225" algn="just" rtl="0">
              <a:lnSpc>
                <a:spcPct val="90000"/>
              </a:lnSpc>
              <a:spcBef>
                <a:spcPts val="0"/>
              </a:spcBef>
              <a:spcAft>
                <a:spcPts val="1200"/>
              </a:spcAft>
              <a:buClr>
                <a:srgbClr val="C00000"/>
              </a:buClr>
              <a:buSzPts val="3000"/>
              <a:buFont typeface="Wingdings" panose="05000000000000000000" pitchFamily="2" charset="2"/>
              <a:buChar char="v"/>
            </a:pPr>
            <a:r>
              <a:rPr lang="es-ES" sz="3000" dirty="0">
                <a:solidFill>
                  <a:schemeClr val="tx1"/>
                </a:solidFill>
              </a:rPr>
              <a:t>La estimación del software es el proceso de predecir la cantidad más realista de esfuerzo (expresado comúnmente en horas persona o costo monetario) requerido para desarrollar o mantener software.</a:t>
            </a:r>
          </a:p>
          <a:p>
            <a:pPr lvl="0" algn="just" rtl="0">
              <a:lnSpc>
                <a:spcPct val="90000"/>
              </a:lnSpc>
              <a:spcBef>
                <a:spcPts val="0"/>
              </a:spcBef>
              <a:spcAft>
                <a:spcPts val="1200"/>
              </a:spcAft>
              <a:buClr>
                <a:srgbClr val="C00000"/>
              </a:buClr>
              <a:buSzPts val="3000"/>
              <a:buFont typeface="Arial" panose="020B0604020202020204" pitchFamily="34" charset="0"/>
              <a:buChar char="•"/>
            </a:pPr>
            <a:endParaRPr dirty="0">
              <a:solidFill>
                <a:schemeClr val="tx1"/>
              </a:solidFill>
            </a:endParaRPr>
          </a:p>
          <a:p>
            <a:pPr marL="90488" lvl="0" indent="0" algn="l" rtl="0">
              <a:lnSpc>
                <a:spcPct val="90000"/>
              </a:lnSpc>
              <a:spcBef>
                <a:spcPts val="1400"/>
              </a:spcBef>
              <a:spcAft>
                <a:spcPts val="0"/>
              </a:spcAft>
              <a:buSzPts val="2000"/>
              <a:buNone/>
            </a:pPr>
            <a:endParaRPr dirty="0">
              <a:solidFill>
                <a:schemeClr val="tx1"/>
              </a:solidFill>
            </a:endParaRPr>
          </a:p>
        </p:txBody>
      </p:sp>
      <p:pic>
        <p:nvPicPr>
          <p:cNvPr id="4" name="Google Shape;370;p39">
            <a:extLst>
              <a:ext uri="{FF2B5EF4-FFF2-40B4-BE49-F238E27FC236}">
                <a16:creationId xmlns:a16="http://schemas.microsoft.com/office/drawing/2014/main" id="{6C657504-9982-BE71-B934-DEA7334DE072}"/>
              </a:ext>
            </a:extLst>
          </p:cNvPr>
          <p:cNvPicPr preferRelativeResize="0"/>
          <p:nvPr/>
        </p:nvPicPr>
        <p:blipFill rotWithShape="1">
          <a:blip r:embed="rId3"/>
          <a:srcRect/>
          <a:stretch/>
        </p:blipFill>
        <p:spPr>
          <a:xfrm>
            <a:off x="9666128" y="3795619"/>
            <a:ext cx="1349280" cy="19234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6B9FF1B-FD6F-5E09-3625-68FE7572107A}"/>
            </a:ext>
          </a:extLst>
        </p:cNvPr>
        <p:cNvGrpSpPr/>
        <p:nvPr/>
      </p:nvGrpSpPr>
      <p:grpSpPr>
        <a:xfrm>
          <a:off x="0" y="0"/>
          <a:ext cx="0" cy="0"/>
          <a:chOff x="0" y="0"/>
          <a:chExt cx="0" cy="0"/>
        </a:xfrm>
      </p:grpSpPr>
      <p:pic>
        <p:nvPicPr>
          <p:cNvPr id="3" name="Google Shape;381;p28" descr="Imagen que contiene Polígono&#10;&#10;El contenido generado por IA puede ser incorrecto.">
            <a:extLst>
              <a:ext uri="{FF2B5EF4-FFF2-40B4-BE49-F238E27FC236}">
                <a16:creationId xmlns:a16="http://schemas.microsoft.com/office/drawing/2014/main" id="{54C02A2A-03FE-99E5-8478-D08F18FF863A}"/>
              </a:ext>
            </a:extLst>
          </p:cNvPr>
          <p:cNvPicPr preferRelativeResize="0"/>
          <p:nvPr/>
        </p:nvPicPr>
        <p:blipFill rotWithShape="1">
          <a:blip r:embed="rId3">
            <a:alphaModFix/>
          </a:blip>
          <a:srcRect l="10452" t="24723" r="9769" b="12591"/>
          <a:stretch>
            <a:fillRect/>
          </a:stretch>
        </p:blipFill>
        <p:spPr>
          <a:xfrm>
            <a:off x="3570288" y="2568693"/>
            <a:ext cx="5322107" cy="3699372"/>
          </a:xfrm>
          <a:prstGeom prst="rect">
            <a:avLst/>
          </a:prstGeom>
          <a:noFill/>
          <a:ln>
            <a:noFill/>
          </a:ln>
        </p:spPr>
      </p:pic>
      <p:sp>
        <p:nvSpPr>
          <p:cNvPr id="159" name="Google Shape;159;p4">
            <a:extLst>
              <a:ext uri="{FF2B5EF4-FFF2-40B4-BE49-F238E27FC236}">
                <a16:creationId xmlns:a16="http://schemas.microsoft.com/office/drawing/2014/main" id="{2B1EA233-9B83-5915-41AC-555C98B40F4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Estimaciones y métricas</a:t>
            </a:r>
          </a:p>
        </p:txBody>
      </p:sp>
      <p:sp>
        <p:nvSpPr>
          <p:cNvPr id="160" name="Google Shape;160;p4">
            <a:extLst>
              <a:ext uri="{FF2B5EF4-FFF2-40B4-BE49-F238E27FC236}">
                <a16:creationId xmlns:a16="http://schemas.microsoft.com/office/drawing/2014/main" id="{D416C684-CAE7-6ABF-CE21-A3DABB5F884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BAFD430D-53D9-C50B-C6C8-623793F2EB8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55DA1944-C53E-A898-46D1-6B1EEDD2611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28</a:t>
            </a:fld>
            <a:endParaRPr lang="es-AR"/>
          </a:p>
        </p:txBody>
      </p:sp>
      <p:sp>
        <p:nvSpPr>
          <p:cNvPr id="163" name="Google Shape;163;p4">
            <a:extLst>
              <a:ext uri="{FF2B5EF4-FFF2-40B4-BE49-F238E27FC236}">
                <a16:creationId xmlns:a16="http://schemas.microsoft.com/office/drawing/2014/main" id="{04C6BB85-84C6-A383-F01E-57AE065D18F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Las métricas y la estimación de software se enfocan en la perspectiva temporal.</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808161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C81731C8-D76B-7F83-F816-62D55A32CDE0}"/>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513A483-6A5B-45BC-38B1-3D29D23CC06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Estimaciones</a:t>
            </a:r>
          </a:p>
        </p:txBody>
      </p:sp>
      <p:sp>
        <p:nvSpPr>
          <p:cNvPr id="160" name="Google Shape;160;p4">
            <a:extLst>
              <a:ext uri="{FF2B5EF4-FFF2-40B4-BE49-F238E27FC236}">
                <a16:creationId xmlns:a16="http://schemas.microsoft.com/office/drawing/2014/main" id="{7DEB098D-9DAA-B1B8-D71B-44BF71C425F7}"/>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739E5E5B-C3AC-BB09-00C9-1BF39C0B36DF}"/>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8031DC56-C2AE-009A-2919-A1AAF46C919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29</a:t>
            </a:fld>
            <a:endParaRPr lang="es-AR"/>
          </a:p>
        </p:txBody>
      </p:sp>
      <p:sp>
        <p:nvSpPr>
          <p:cNvPr id="163" name="Google Shape;163;p4">
            <a:extLst>
              <a:ext uri="{FF2B5EF4-FFF2-40B4-BE49-F238E27FC236}">
                <a16:creationId xmlns:a16="http://schemas.microsoft.com/office/drawing/2014/main" id="{3E2D32DB-041D-88D6-E126-23EAEFA41997}"/>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¿Qué podemos estimar?</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2" name="Google Shape;402;p41">
            <a:extLst>
              <a:ext uri="{FF2B5EF4-FFF2-40B4-BE49-F238E27FC236}">
                <a16:creationId xmlns:a16="http://schemas.microsoft.com/office/drawing/2014/main" id="{DCBADA82-093C-F11B-C996-0A3DC7919177}"/>
              </a:ext>
            </a:extLst>
          </p:cNvPr>
          <p:cNvPicPr preferRelativeResize="0"/>
          <p:nvPr/>
        </p:nvPicPr>
        <p:blipFill rotWithShape="1">
          <a:blip r:embed="rId3">
            <a:alphaModFix/>
          </a:blip>
          <a:srcRect t="2224" r="3461" b="4464"/>
          <a:stretch/>
        </p:blipFill>
        <p:spPr>
          <a:xfrm>
            <a:off x="2059657" y="2477729"/>
            <a:ext cx="3021261" cy="3590094"/>
          </a:xfrm>
          <a:prstGeom prst="rect">
            <a:avLst/>
          </a:prstGeom>
          <a:noFill/>
          <a:ln>
            <a:noFill/>
          </a:ln>
        </p:spPr>
      </p:pic>
      <p:sp>
        <p:nvSpPr>
          <p:cNvPr id="4" name="CuadroTexto 3">
            <a:extLst>
              <a:ext uri="{FF2B5EF4-FFF2-40B4-BE49-F238E27FC236}">
                <a16:creationId xmlns:a16="http://schemas.microsoft.com/office/drawing/2014/main" id="{D4A8940D-A597-B2C0-6DD1-B56EA203478A}"/>
              </a:ext>
            </a:extLst>
          </p:cNvPr>
          <p:cNvSpPr txBox="1"/>
          <p:nvPr/>
        </p:nvSpPr>
        <p:spPr>
          <a:xfrm>
            <a:off x="4930877" y="2529348"/>
            <a:ext cx="3323410" cy="461665"/>
          </a:xfrm>
          <a:prstGeom prst="rect">
            <a:avLst/>
          </a:prstGeom>
          <a:noFill/>
        </p:spPr>
        <p:txBody>
          <a:bodyPr wrap="none" rtlCol="0">
            <a:spAutoFit/>
          </a:bodyPr>
          <a:lstStyle/>
          <a:p>
            <a:r>
              <a:rPr lang="es-ES" sz="2400" dirty="0">
                <a:solidFill>
                  <a:srgbClr val="C00000"/>
                </a:solidFill>
              </a:rPr>
              <a:t>Estimaciones de recursos</a:t>
            </a:r>
          </a:p>
        </p:txBody>
      </p:sp>
      <p:pic>
        <p:nvPicPr>
          <p:cNvPr id="5" name="Google Shape;412;p42">
            <a:extLst>
              <a:ext uri="{FF2B5EF4-FFF2-40B4-BE49-F238E27FC236}">
                <a16:creationId xmlns:a16="http://schemas.microsoft.com/office/drawing/2014/main" id="{DA0B1FA8-B2F5-BE03-5B14-D4594124F302}"/>
              </a:ext>
            </a:extLst>
          </p:cNvPr>
          <p:cNvPicPr preferRelativeResize="0"/>
          <p:nvPr/>
        </p:nvPicPr>
        <p:blipFill rotWithShape="1">
          <a:blip r:embed="rId4"/>
          <a:srcRect l="36794" t="51554" r="25246" b="19933"/>
          <a:stretch>
            <a:fillRect/>
          </a:stretch>
        </p:blipFill>
        <p:spPr>
          <a:xfrm>
            <a:off x="5752093" y="2477729"/>
            <a:ext cx="5373414" cy="3421626"/>
          </a:xfrm>
          <a:prstGeom prst="rect">
            <a:avLst/>
          </a:prstGeom>
        </p:spPr>
      </p:pic>
      <p:sp>
        <p:nvSpPr>
          <p:cNvPr id="6" name="CuadroTexto 5">
            <a:extLst>
              <a:ext uri="{FF2B5EF4-FFF2-40B4-BE49-F238E27FC236}">
                <a16:creationId xmlns:a16="http://schemas.microsoft.com/office/drawing/2014/main" id="{2FFF9816-4229-63DE-B021-9B71423A3612}"/>
              </a:ext>
            </a:extLst>
          </p:cNvPr>
          <p:cNvSpPr txBox="1"/>
          <p:nvPr/>
        </p:nvSpPr>
        <p:spPr>
          <a:xfrm>
            <a:off x="2797990" y="5409812"/>
            <a:ext cx="3057568" cy="461665"/>
          </a:xfrm>
          <a:prstGeom prst="rect">
            <a:avLst/>
          </a:prstGeom>
          <a:noFill/>
        </p:spPr>
        <p:txBody>
          <a:bodyPr wrap="none" rtlCol="0">
            <a:spAutoFit/>
          </a:bodyPr>
          <a:lstStyle/>
          <a:p>
            <a:r>
              <a:rPr lang="es-ES" sz="2400" dirty="0">
                <a:solidFill>
                  <a:srgbClr val="C00000"/>
                </a:solidFill>
              </a:rPr>
              <a:t>Estimaciones de costos</a:t>
            </a:r>
          </a:p>
        </p:txBody>
      </p:sp>
    </p:spTree>
    <p:extLst>
      <p:ext uri="{BB962C8B-B14F-4D97-AF65-F5344CB8AC3E}">
        <p14:creationId xmlns:p14="http://schemas.microsoft.com/office/powerpoint/2010/main" val="77254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xit" presetSubtype="0" fill="hold" grpId="1" nodeType="withEffect">
                                  <p:stCondLst>
                                    <p:cond delay="0"/>
                                  </p:stCondLst>
                                  <p:childTnLst>
                                    <p:animEffect transition="out" filter="fade">
                                      <p:cBhvr>
                                        <p:cTn id="20" dur="500"/>
                                        <p:tgtEl>
                                          <p:spTgt spid="4"/>
                                        </p:tgtEl>
                                      </p:cBhvr>
                                    </p:animEffect>
                                    <p:set>
                                      <p:cBhvr>
                                        <p:cTn id="21" dur="1" fill="hold">
                                          <p:stCondLst>
                                            <p:cond delay="499"/>
                                          </p:stCondLst>
                                        </p:cTn>
                                        <p:tgtEl>
                                          <p:spTgt spid="4"/>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2"/>
                                        </p:tgtEl>
                                      </p:cBhvr>
                                    </p:animEffect>
                                    <p:set>
                                      <p:cBhvr>
                                        <p:cTn id="24"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6E29252-FFC7-F119-5F2F-037302990B1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1D5EA5E-0BE1-9220-7E45-21F862ABB5C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Estimaciones</a:t>
            </a:r>
          </a:p>
        </p:txBody>
      </p:sp>
      <p:sp>
        <p:nvSpPr>
          <p:cNvPr id="160" name="Google Shape;160;p4">
            <a:extLst>
              <a:ext uri="{FF2B5EF4-FFF2-40B4-BE49-F238E27FC236}">
                <a16:creationId xmlns:a16="http://schemas.microsoft.com/office/drawing/2014/main" id="{D9FDCB9D-479F-5A00-48C4-2BC0D1280B8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6918B9F6-C130-C74D-3539-C00AC4BB17B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88B05AA5-6A29-B067-643C-3EFF5A118B8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30</a:t>
            </a:fld>
            <a:endParaRPr lang="es-AR"/>
          </a:p>
        </p:txBody>
      </p:sp>
      <p:sp>
        <p:nvSpPr>
          <p:cNvPr id="163" name="Google Shape;163;p4">
            <a:extLst>
              <a:ext uri="{FF2B5EF4-FFF2-40B4-BE49-F238E27FC236}">
                <a16:creationId xmlns:a16="http://schemas.microsoft.com/office/drawing/2014/main" id="{B642E89E-A9E5-9E31-7031-F4C155C9A418}"/>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¿Qué tener en cuenta?</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3" name="Google Shape;422;p43">
            <a:extLst>
              <a:ext uri="{FF2B5EF4-FFF2-40B4-BE49-F238E27FC236}">
                <a16:creationId xmlns:a16="http://schemas.microsoft.com/office/drawing/2014/main" id="{6073F38B-CBFB-1EE8-DE33-8458A82804FB}"/>
              </a:ext>
            </a:extLst>
          </p:cNvPr>
          <p:cNvPicPr preferRelativeResize="0"/>
          <p:nvPr/>
        </p:nvPicPr>
        <p:blipFill rotWithShape="1">
          <a:blip r:embed="rId3">
            <a:alphaModFix amt="50000"/>
          </a:blip>
          <a:srcRect l="1426" t="9990" r="3708"/>
          <a:stretch/>
        </p:blipFill>
        <p:spPr>
          <a:xfrm>
            <a:off x="2333625" y="2503576"/>
            <a:ext cx="7879320" cy="3456000"/>
          </a:xfrm>
          <a:prstGeom prst="rect">
            <a:avLst/>
          </a:prstGeom>
          <a:solidFill>
            <a:srgbClr val="ECECEC"/>
          </a:solidFill>
          <a:ln w="9525" cap="sq" cmpd="sng">
            <a:solidFill>
              <a:srgbClr val="C00000"/>
            </a:solidFill>
            <a:prstDash val="solid"/>
            <a:miter lim="800000"/>
            <a:headEnd type="none" w="sm" len="sm"/>
            <a:tailEnd type="none" w="sm" len="sm"/>
          </a:ln>
          <a:effectLst/>
        </p:spPr>
      </p:pic>
    </p:spTree>
    <p:extLst>
      <p:ext uri="{BB962C8B-B14F-4D97-AF65-F5344CB8AC3E}">
        <p14:creationId xmlns:p14="http://schemas.microsoft.com/office/powerpoint/2010/main" val="3009937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A10B1BA-C195-D58C-D6CA-7F8CEDCBE0F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CDB51C4B-178E-63D9-7A0C-39AA56FDF80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Estimaciones</a:t>
            </a:r>
          </a:p>
        </p:txBody>
      </p:sp>
      <p:sp>
        <p:nvSpPr>
          <p:cNvPr id="160" name="Google Shape;160;p4">
            <a:extLst>
              <a:ext uri="{FF2B5EF4-FFF2-40B4-BE49-F238E27FC236}">
                <a16:creationId xmlns:a16="http://schemas.microsoft.com/office/drawing/2014/main" id="{7D7E2872-78F6-ECAE-C784-B1A79C43D92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4E79A018-D175-41D1-1291-380E072D4C8B}"/>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E71C3FCE-B62D-7166-7D27-C2E0343B97C9}"/>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31</a:t>
            </a:fld>
            <a:endParaRPr lang="es-AR"/>
          </a:p>
        </p:txBody>
      </p:sp>
      <p:sp>
        <p:nvSpPr>
          <p:cNvPr id="163" name="Google Shape;163;p4">
            <a:extLst>
              <a:ext uri="{FF2B5EF4-FFF2-40B4-BE49-F238E27FC236}">
                <a16:creationId xmlns:a16="http://schemas.microsoft.com/office/drawing/2014/main" id="{B4F1A51E-CE6A-04DE-3573-8D547340457B}"/>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Fijación de precio</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Debe pensarse en: </a:t>
            </a:r>
          </a:p>
          <a:p>
            <a:pPr marL="989013" lvl="1" indent="-342900" algn="just">
              <a:lnSpc>
                <a:spcPct val="85000"/>
              </a:lnSpc>
              <a:spcBef>
                <a:spcPts val="0"/>
              </a:spcBef>
              <a:spcAft>
                <a:spcPts val="1200"/>
              </a:spcAft>
              <a:buClrTx/>
              <a:buFont typeface="Arial" panose="020B0604020202020204" pitchFamily="34" charset="0"/>
              <a:buChar char="•"/>
            </a:pPr>
            <a:r>
              <a:rPr lang="es-ES" sz="2200" dirty="0">
                <a:solidFill>
                  <a:schemeClr val="tx1"/>
                </a:solidFill>
              </a:rPr>
              <a:t>los intereses de la empresa</a:t>
            </a:r>
          </a:p>
          <a:p>
            <a:pPr marL="989013" lvl="1" indent="-342900" algn="just">
              <a:lnSpc>
                <a:spcPct val="85000"/>
              </a:lnSpc>
              <a:spcBef>
                <a:spcPts val="0"/>
              </a:spcBef>
              <a:spcAft>
                <a:spcPts val="1200"/>
              </a:spcAft>
              <a:buClrTx/>
              <a:buFont typeface="Arial" panose="020B0604020202020204" pitchFamily="34" charset="0"/>
              <a:buChar char="•"/>
            </a:pPr>
            <a:r>
              <a:rPr lang="es-ES" sz="2200" dirty="0">
                <a:solidFill>
                  <a:schemeClr val="tx1"/>
                </a:solidFill>
              </a:rPr>
              <a:t>los riesgos</a:t>
            </a:r>
          </a:p>
          <a:p>
            <a:pPr marL="989013" lvl="1" indent="-342900" algn="just">
              <a:lnSpc>
                <a:spcPct val="85000"/>
              </a:lnSpc>
              <a:spcBef>
                <a:spcPts val="0"/>
              </a:spcBef>
              <a:spcAft>
                <a:spcPts val="1200"/>
              </a:spcAft>
              <a:buClrTx/>
              <a:buFont typeface="Arial" panose="020B0604020202020204" pitchFamily="34" charset="0"/>
              <a:buChar char="•"/>
            </a:pPr>
            <a:r>
              <a:rPr lang="es-ES" sz="2200" dirty="0">
                <a:solidFill>
                  <a:schemeClr val="tx1"/>
                </a:solidFill>
              </a:rPr>
              <a:t>el tipo de contrato</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endParaRPr lang="es-ES" sz="2400" dirty="0">
              <a:solidFill>
                <a:schemeClr val="tx1"/>
              </a:solidFill>
            </a:endParaRP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Esto puede hacer que el precio suba o baje.</a:t>
            </a:r>
            <a:endParaRPr lang="es-ES"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2" name="Google Shape;433;p44">
            <a:extLst>
              <a:ext uri="{FF2B5EF4-FFF2-40B4-BE49-F238E27FC236}">
                <a16:creationId xmlns:a16="http://schemas.microsoft.com/office/drawing/2014/main" id="{ED958790-73EE-0347-54BF-79F2E383C8EE}"/>
              </a:ext>
            </a:extLst>
          </p:cNvPr>
          <p:cNvPicPr preferRelativeResize="0"/>
          <p:nvPr/>
        </p:nvPicPr>
        <p:blipFill rotWithShape="1">
          <a:blip r:embed="rId3">
            <a:alphaModFix amt="50000"/>
          </a:blip>
          <a:srcRect/>
          <a:stretch/>
        </p:blipFill>
        <p:spPr>
          <a:xfrm>
            <a:off x="7876418" y="3784041"/>
            <a:ext cx="4049640" cy="2409480"/>
          </a:xfrm>
          <a:prstGeom prst="rect">
            <a:avLst/>
          </a:prstGeom>
          <a:noFill/>
          <a:ln>
            <a:noFill/>
          </a:ln>
        </p:spPr>
      </p:pic>
    </p:spTree>
    <p:extLst>
      <p:ext uri="{BB962C8B-B14F-4D97-AF65-F5344CB8AC3E}">
        <p14:creationId xmlns:p14="http://schemas.microsoft.com/office/powerpoint/2010/main" val="2035770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CAAEC7F-2927-CBF1-7C71-F51DDA80E52D}"/>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9D471DEF-4EE6-4B87-FB17-0F4F415DD41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Estimaciones de tiempo</a:t>
            </a:r>
          </a:p>
        </p:txBody>
      </p:sp>
      <p:sp>
        <p:nvSpPr>
          <p:cNvPr id="160" name="Google Shape;160;p4">
            <a:extLst>
              <a:ext uri="{FF2B5EF4-FFF2-40B4-BE49-F238E27FC236}">
                <a16:creationId xmlns:a16="http://schemas.microsoft.com/office/drawing/2014/main" id="{A27AA953-92A0-E846-EB6E-2D4C7890B0E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6F48FFC7-F927-918D-1974-A61DFFC02552}"/>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3783C2C1-D2D5-6CBB-B77C-C410CB3834B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32</a:t>
            </a:fld>
            <a:endParaRPr lang="es-AR"/>
          </a:p>
        </p:txBody>
      </p:sp>
      <p:pic>
        <p:nvPicPr>
          <p:cNvPr id="3" name="Google Shape;441;p45">
            <a:extLst>
              <a:ext uri="{FF2B5EF4-FFF2-40B4-BE49-F238E27FC236}">
                <a16:creationId xmlns:a16="http://schemas.microsoft.com/office/drawing/2014/main" id="{975D53BD-5D2F-7EAF-2FE0-FD7204F46EB5}"/>
              </a:ext>
            </a:extLst>
          </p:cNvPr>
          <p:cNvPicPr preferRelativeResize="0"/>
          <p:nvPr/>
        </p:nvPicPr>
        <p:blipFill rotWithShape="1">
          <a:blip r:embed="rId3">
            <a:alphaModFix amt="50000"/>
          </a:blip>
          <a:srcRect/>
          <a:stretch/>
        </p:blipFill>
        <p:spPr>
          <a:xfrm>
            <a:off x="1614960" y="2108160"/>
            <a:ext cx="4414320" cy="2174040"/>
          </a:xfrm>
          <a:prstGeom prst="rect">
            <a:avLst/>
          </a:prstGeom>
          <a:noFill/>
          <a:ln>
            <a:noFill/>
          </a:ln>
          <a:effectLst>
            <a:outerShdw blurRad="292100" dist="139498" dir="2700000" algn="tl" rotWithShape="0">
              <a:srgbClr val="333333">
                <a:alpha val="63137"/>
              </a:srgbClr>
            </a:outerShdw>
          </a:effectLst>
        </p:spPr>
      </p:pic>
      <p:pic>
        <p:nvPicPr>
          <p:cNvPr id="4" name="Google Shape;442;p45">
            <a:extLst>
              <a:ext uri="{FF2B5EF4-FFF2-40B4-BE49-F238E27FC236}">
                <a16:creationId xmlns:a16="http://schemas.microsoft.com/office/drawing/2014/main" id="{B9651767-FE5A-36D7-3C08-D63BE3126D1B}"/>
              </a:ext>
            </a:extLst>
          </p:cNvPr>
          <p:cNvPicPr preferRelativeResize="0"/>
          <p:nvPr/>
        </p:nvPicPr>
        <p:blipFill rotWithShape="1">
          <a:blip r:embed="rId4">
            <a:alphaModFix/>
          </a:blip>
          <a:srcRect/>
          <a:stretch/>
        </p:blipFill>
        <p:spPr>
          <a:xfrm rot="-318872">
            <a:off x="4885079" y="3084473"/>
            <a:ext cx="5386864" cy="2767687"/>
          </a:xfrm>
          <a:prstGeom prst="rect">
            <a:avLst/>
          </a:prstGeom>
          <a:noFill/>
          <a:ln>
            <a:noFill/>
          </a:ln>
          <a:effectLst>
            <a:outerShdw blurRad="149987" dist="250190" dir="8460000" algn="ctr">
              <a:srgbClr val="000000">
                <a:alpha val="26666"/>
              </a:srgbClr>
            </a:outerShdw>
          </a:effectLst>
        </p:spPr>
      </p:pic>
    </p:spTree>
    <p:extLst>
      <p:ext uri="{BB962C8B-B14F-4D97-AF65-F5344CB8AC3E}">
        <p14:creationId xmlns:p14="http://schemas.microsoft.com/office/powerpoint/2010/main" val="2841449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F5A1C05-9037-2341-16B9-6957D4E2E09C}"/>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9AD54D06-E5E8-E715-0FC1-1434F6D7D4F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a:t>
            </a:r>
          </a:p>
        </p:txBody>
      </p:sp>
      <p:sp>
        <p:nvSpPr>
          <p:cNvPr id="160" name="Google Shape;160;p4">
            <a:extLst>
              <a:ext uri="{FF2B5EF4-FFF2-40B4-BE49-F238E27FC236}">
                <a16:creationId xmlns:a16="http://schemas.microsoft.com/office/drawing/2014/main" id="{06432DEB-8B3A-BFAA-2915-F80971861F89}"/>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27026994-CCE9-9D0D-0741-F37FAEF19EE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AD0D1316-49D7-6DB2-88A0-0DADF610F0FA}"/>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33</a:t>
            </a:fld>
            <a:endParaRPr lang="es-AR"/>
          </a:p>
        </p:txBody>
      </p:sp>
      <p:grpSp>
        <p:nvGrpSpPr>
          <p:cNvPr id="2" name="Google Shape;451;p46">
            <a:extLst>
              <a:ext uri="{FF2B5EF4-FFF2-40B4-BE49-F238E27FC236}">
                <a16:creationId xmlns:a16="http://schemas.microsoft.com/office/drawing/2014/main" id="{37740F2C-6CB7-26AC-6317-243E63DC4C4E}"/>
              </a:ext>
            </a:extLst>
          </p:cNvPr>
          <p:cNvGrpSpPr/>
          <p:nvPr/>
        </p:nvGrpSpPr>
        <p:grpSpPr>
          <a:xfrm>
            <a:off x="1096963" y="1782505"/>
            <a:ext cx="10058400" cy="4513268"/>
            <a:chOff x="252947" y="1725300"/>
            <a:chExt cx="11358333" cy="4935600"/>
          </a:xfrm>
        </p:grpSpPr>
        <p:grpSp>
          <p:nvGrpSpPr>
            <p:cNvPr id="5" name="Google Shape;452;p46">
              <a:extLst>
                <a:ext uri="{FF2B5EF4-FFF2-40B4-BE49-F238E27FC236}">
                  <a16:creationId xmlns:a16="http://schemas.microsoft.com/office/drawing/2014/main" id="{E46F8601-72E6-F97D-113F-7A263C80CDC3}"/>
                </a:ext>
              </a:extLst>
            </p:cNvPr>
            <p:cNvGrpSpPr/>
            <p:nvPr/>
          </p:nvGrpSpPr>
          <p:grpSpPr>
            <a:xfrm>
              <a:off x="252947" y="1725300"/>
              <a:ext cx="8482656" cy="4935600"/>
              <a:chOff x="945" y="0"/>
              <a:chExt cx="7740629" cy="4935600"/>
            </a:xfrm>
          </p:grpSpPr>
          <p:sp>
            <p:nvSpPr>
              <p:cNvPr id="10" name="Google Shape;453;p46">
                <a:extLst>
                  <a:ext uri="{FF2B5EF4-FFF2-40B4-BE49-F238E27FC236}">
                    <a16:creationId xmlns:a16="http://schemas.microsoft.com/office/drawing/2014/main" id="{36A146CC-B507-AA89-4F31-E6F570428F76}"/>
                  </a:ext>
                </a:extLst>
              </p:cNvPr>
              <p:cNvSpPr/>
              <p:nvPr/>
            </p:nvSpPr>
            <p:spPr>
              <a:xfrm>
                <a:off x="945" y="0"/>
                <a:ext cx="2457342"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454;p46">
                <a:extLst>
                  <a:ext uri="{FF2B5EF4-FFF2-40B4-BE49-F238E27FC236}">
                    <a16:creationId xmlns:a16="http://schemas.microsoft.com/office/drawing/2014/main" id="{F9D2BD0F-B70F-FD1F-316D-6A8153E56C74}"/>
                  </a:ext>
                </a:extLst>
              </p:cNvPr>
              <p:cNvSpPr txBox="1"/>
              <p:nvPr/>
            </p:nvSpPr>
            <p:spPr>
              <a:xfrm>
                <a:off x="945" y="0"/>
                <a:ext cx="2457342" cy="1480680"/>
              </a:xfrm>
              <a:prstGeom prst="rect">
                <a:avLst/>
              </a:prstGeom>
              <a:noFill/>
              <a:ln>
                <a:noFill/>
              </a:ln>
            </p:spPr>
            <p:txBody>
              <a:bodyPr spcFirstLastPara="1" wrap="square" lIns="72000" tIns="106675" rIns="72000" bIns="106675" anchor="ctr" anchorCtr="0">
                <a:noAutofit/>
              </a:bodyPr>
              <a:lstStyle/>
              <a:p>
                <a:pPr marR="0" lvl="0" algn="ctr" defTabSz="0" rtl="0">
                  <a:lnSpc>
                    <a:spcPct val="90000"/>
                  </a:lnSpc>
                  <a:spcBef>
                    <a:spcPts val="0"/>
                  </a:spcBef>
                  <a:spcAft>
                    <a:spcPts val="0"/>
                  </a:spcAft>
                  <a:buClr>
                    <a:srgbClr val="000000"/>
                  </a:buClr>
                  <a:buSzPts val="2800"/>
                  <a:buFont typeface="Arial"/>
                  <a:buNone/>
                </a:pPr>
                <a:r>
                  <a:rPr lang="es-AR" sz="2800" b="0" i="0" u="none" strike="noStrike" cap="none" dirty="0">
                    <a:solidFill>
                      <a:srgbClr val="000000"/>
                    </a:solidFill>
                    <a:latin typeface="Arial"/>
                    <a:ea typeface="Arial"/>
                    <a:cs typeface="Arial"/>
                    <a:sym typeface="Arial"/>
                  </a:rPr>
                  <a:t>Juicio experto</a:t>
                </a:r>
                <a:endParaRPr sz="2800" b="0" i="0" u="none" strike="noStrike" cap="none" dirty="0">
                  <a:solidFill>
                    <a:srgbClr val="000000"/>
                  </a:solidFill>
                  <a:latin typeface="Arial"/>
                  <a:ea typeface="Arial"/>
                  <a:cs typeface="Arial"/>
                  <a:sym typeface="Arial"/>
                </a:endParaRPr>
              </a:p>
            </p:txBody>
          </p:sp>
          <p:sp>
            <p:nvSpPr>
              <p:cNvPr id="12" name="Google Shape;455;p46">
                <a:extLst>
                  <a:ext uri="{FF2B5EF4-FFF2-40B4-BE49-F238E27FC236}">
                    <a16:creationId xmlns:a16="http://schemas.microsoft.com/office/drawing/2014/main" id="{497DE549-540B-23E1-FF67-E5E4D6FB49BC}"/>
                  </a:ext>
                </a:extLst>
              </p:cNvPr>
              <p:cNvSpPr/>
              <p:nvPr/>
            </p:nvSpPr>
            <p:spPr>
              <a:xfrm>
                <a:off x="246679" y="1480680"/>
                <a:ext cx="1965874" cy="3208140"/>
              </a:xfrm>
              <a:prstGeom prst="roundRect">
                <a:avLst>
                  <a:gd name="adj" fmla="val 10000"/>
                </a:avLst>
              </a:prstGeom>
              <a:gradFill>
                <a:gsLst>
                  <a:gs pos="0">
                    <a:srgbClr val="A74646"/>
                  </a:gs>
                  <a:gs pos="100000">
                    <a:srgbClr val="EDA8A8"/>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456;p46">
                <a:extLst>
                  <a:ext uri="{FF2B5EF4-FFF2-40B4-BE49-F238E27FC236}">
                    <a16:creationId xmlns:a16="http://schemas.microsoft.com/office/drawing/2014/main" id="{453FDDEE-A312-EE1C-759C-5664489A8D0B}"/>
                  </a:ext>
                </a:extLst>
              </p:cNvPr>
              <p:cNvSpPr txBox="1"/>
              <p:nvPr/>
            </p:nvSpPr>
            <p:spPr>
              <a:xfrm>
                <a:off x="304257" y="1538258"/>
                <a:ext cx="1850718" cy="3092984"/>
              </a:xfrm>
              <a:prstGeom prst="rect">
                <a:avLst/>
              </a:prstGeom>
              <a:noFill/>
              <a:ln>
                <a:noFill/>
              </a:ln>
            </p:spPr>
            <p:txBody>
              <a:bodyPr spcFirstLastPara="1" wrap="square" lIns="35550" tIns="26650" rIns="35550" bIns="266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s-AR" b="0" i="0" u="none" strike="noStrike" cap="none" dirty="0">
                    <a:solidFill>
                      <a:schemeClr val="dk1"/>
                    </a:solidFill>
                    <a:latin typeface="Calibri"/>
                    <a:ea typeface="Calibri"/>
                    <a:cs typeface="Calibri"/>
                    <a:sym typeface="Calibri"/>
                  </a:rPr>
                  <a:t>Consulta a varios expertos. </a:t>
                </a:r>
              </a:p>
              <a:p>
                <a:pPr marL="0" marR="0" lvl="0" indent="0" algn="ctr" rtl="0">
                  <a:lnSpc>
                    <a:spcPct val="90000"/>
                  </a:lnSpc>
                  <a:spcBef>
                    <a:spcPts val="0"/>
                  </a:spcBef>
                  <a:spcAft>
                    <a:spcPts val="0"/>
                  </a:spcAft>
                  <a:buClr>
                    <a:srgbClr val="000000"/>
                  </a:buClr>
                  <a:buSzPts val="1400"/>
                  <a:buFont typeface="Arial"/>
                  <a:buNone/>
                </a:pPr>
                <a:r>
                  <a:rPr lang="es-AR" b="0" i="0" u="none" strike="noStrike" cap="none" dirty="0">
                    <a:solidFill>
                      <a:schemeClr val="dk1"/>
                    </a:solidFill>
                    <a:latin typeface="Calibri"/>
                    <a:ea typeface="Calibri"/>
                    <a:cs typeface="Calibri"/>
                    <a:sym typeface="Calibri"/>
                  </a:rPr>
                  <a:t>Estiman. Comparan. Discuten.</a:t>
                </a:r>
                <a:endParaRPr b="0" i="0" u="none" strike="noStrike" cap="none" dirty="0">
                  <a:solidFill>
                    <a:schemeClr val="dk1"/>
                  </a:solidFill>
                  <a:latin typeface="Calibri"/>
                  <a:ea typeface="Calibri"/>
                  <a:cs typeface="Calibri"/>
                  <a:sym typeface="Calibri"/>
                </a:endParaRPr>
              </a:p>
            </p:txBody>
          </p:sp>
          <p:sp>
            <p:nvSpPr>
              <p:cNvPr id="14" name="Google Shape;457;p46">
                <a:extLst>
                  <a:ext uri="{FF2B5EF4-FFF2-40B4-BE49-F238E27FC236}">
                    <a16:creationId xmlns:a16="http://schemas.microsoft.com/office/drawing/2014/main" id="{52C68D14-B80A-0642-A1E6-639C5801F7A3}"/>
                  </a:ext>
                </a:extLst>
              </p:cNvPr>
              <p:cNvSpPr/>
              <p:nvPr/>
            </p:nvSpPr>
            <p:spPr>
              <a:xfrm>
                <a:off x="2642588" y="0"/>
                <a:ext cx="2457342"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458;p46">
                <a:extLst>
                  <a:ext uri="{FF2B5EF4-FFF2-40B4-BE49-F238E27FC236}">
                    <a16:creationId xmlns:a16="http://schemas.microsoft.com/office/drawing/2014/main" id="{9B75A6B0-4240-D902-A676-06EACDB4EA62}"/>
                  </a:ext>
                </a:extLst>
              </p:cNvPr>
              <p:cNvSpPr txBox="1"/>
              <p:nvPr/>
            </p:nvSpPr>
            <p:spPr>
              <a:xfrm>
                <a:off x="2642588" y="0"/>
                <a:ext cx="2457342" cy="1480680"/>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s-AR" sz="2800" b="0" i="0" u="none" strike="noStrike" cap="none">
                    <a:solidFill>
                      <a:srgbClr val="000000"/>
                    </a:solidFill>
                    <a:latin typeface="Arial"/>
                    <a:ea typeface="Arial"/>
                    <a:cs typeface="Arial"/>
                    <a:sym typeface="Arial"/>
                  </a:rPr>
                  <a:t>Técnica Delphi</a:t>
                </a:r>
                <a:endParaRPr sz="1400" b="0" i="0" u="none" strike="noStrike" cap="none">
                  <a:solidFill>
                    <a:srgbClr val="000000"/>
                  </a:solidFill>
                  <a:latin typeface="Arial"/>
                  <a:ea typeface="Arial"/>
                  <a:cs typeface="Arial"/>
                  <a:sym typeface="Arial"/>
                </a:endParaRPr>
              </a:p>
            </p:txBody>
          </p:sp>
          <p:sp>
            <p:nvSpPr>
              <p:cNvPr id="16" name="Google Shape;459;p46">
                <a:extLst>
                  <a:ext uri="{FF2B5EF4-FFF2-40B4-BE49-F238E27FC236}">
                    <a16:creationId xmlns:a16="http://schemas.microsoft.com/office/drawing/2014/main" id="{0E5E7276-A2C4-D5C9-8189-449F9213CB4D}"/>
                  </a:ext>
                </a:extLst>
              </p:cNvPr>
              <p:cNvSpPr/>
              <p:nvPr/>
            </p:nvSpPr>
            <p:spPr>
              <a:xfrm>
                <a:off x="2888322" y="1480680"/>
                <a:ext cx="1965874" cy="3208140"/>
              </a:xfrm>
              <a:prstGeom prst="roundRect">
                <a:avLst>
                  <a:gd name="adj" fmla="val 10000"/>
                </a:avLst>
              </a:prstGeom>
              <a:gradFill>
                <a:gsLst>
                  <a:gs pos="0">
                    <a:srgbClr val="FF8401"/>
                  </a:gs>
                  <a:gs pos="100000">
                    <a:srgbClr val="FFB374"/>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460;p46">
                <a:extLst>
                  <a:ext uri="{FF2B5EF4-FFF2-40B4-BE49-F238E27FC236}">
                    <a16:creationId xmlns:a16="http://schemas.microsoft.com/office/drawing/2014/main" id="{5B34318F-C38A-0950-0B03-82CD6A3E02B4}"/>
                  </a:ext>
                </a:extLst>
              </p:cNvPr>
              <p:cNvSpPr txBox="1"/>
              <p:nvPr/>
            </p:nvSpPr>
            <p:spPr>
              <a:xfrm>
                <a:off x="3003478" y="1538258"/>
                <a:ext cx="1850718" cy="3092984"/>
              </a:xfrm>
              <a:prstGeom prst="rect">
                <a:avLst/>
              </a:prstGeom>
              <a:noFill/>
              <a:ln>
                <a:noFill/>
              </a:ln>
            </p:spPr>
            <p:txBody>
              <a:bodyPr spcFirstLastPara="1" wrap="square" lIns="35550" tIns="26650" rIns="35550" bIns="266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s-AR" b="0" i="0" u="none" strike="noStrike" cap="none" dirty="0">
                    <a:solidFill>
                      <a:srgbClr val="000000"/>
                    </a:solidFill>
                    <a:latin typeface="Calibri"/>
                    <a:ea typeface="Calibri"/>
                    <a:cs typeface="Calibri"/>
                    <a:sym typeface="Calibri"/>
                  </a:rPr>
                  <a:t>Sucesivas rondas.  Anónimas. Consenso.</a:t>
                </a:r>
                <a:endParaRPr b="0" i="0" u="none" strike="noStrike" cap="none" dirty="0">
                  <a:solidFill>
                    <a:srgbClr val="000000"/>
                  </a:solidFill>
                  <a:latin typeface="Calibri"/>
                  <a:ea typeface="Calibri"/>
                  <a:cs typeface="Calibri"/>
                  <a:sym typeface="Calibri"/>
                </a:endParaRPr>
              </a:p>
            </p:txBody>
          </p:sp>
          <p:sp>
            <p:nvSpPr>
              <p:cNvPr id="18" name="Google Shape;461;p46">
                <a:extLst>
                  <a:ext uri="{FF2B5EF4-FFF2-40B4-BE49-F238E27FC236}">
                    <a16:creationId xmlns:a16="http://schemas.microsoft.com/office/drawing/2014/main" id="{227B40A3-B56F-B3C4-737D-E3E9DEA807C3}"/>
                  </a:ext>
                </a:extLst>
              </p:cNvPr>
              <p:cNvSpPr/>
              <p:nvPr/>
            </p:nvSpPr>
            <p:spPr>
              <a:xfrm>
                <a:off x="5284232" y="0"/>
                <a:ext cx="2457342"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462;p46">
                <a:extLst>
                  <a:ext uri="{FF2B5EF4-FFF2-40B4-BE49-F238E27FC236}">
                    <a16:creationId xmlns:a16="http://schemas.microsoft.com/office/drawing/2014/main" id="{65731309-9117-9B78-9324-3AF93CF668C5}"/>
                  </a:ext>
                </a:extLst>
              </p:cNvPr>
              <p:cNvSpPr txBox="1"/>
              <p:nvPr/>
            </p:nvSpPr>
            <p:spPr>
              <a:xfrm>
                <a:off x="5284232" y="0"/>
                <a:ext cx="2457342" cy="1480680"/>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s-AR" sz="2800" b="0" i="0" u="none" strike="noStrike" cap="none">
                    <a:solidFill>
                      <a:srgbClr val="000000"/>
                    </a:solidFill>
                    <a:latin typeface="Arial"/>
                    <a:ea typeface="Arial"/>
                    <a:cs typeface="Arial"/>
                    <a:sym typeface="Arial"/>
                  </a:rPr>
                  <a:t>División de Trabajo</a:t>
                </a:r>
                <a:endParaRPr sz="1400" b="0" i="0" u="none" strike="noStrike" cap="none">
                  <a:solidFill>
                    <a:srgbClr val="000000"/>
                  </a:solidFill>
                  <a:latin typeface="Arial"/>
                  <a:ea typeface="Arial"/>
                  <a:cs typeface="Arial"/>
                  <a:sym typeface="Arial"/>
                </a:endParaRPr>
              </a:p>
            </p:txBody>
          </p:sp>
          <p:sp>
            <p:nvSpPr>
              <p:cNvPr id="20" name="Google Shape;463;p46">
                <a:extLst>
                  <a:ext uri="{FF2B5EF4-FFF2-40B4-BE49-F238E27FC236}">
                    <a16:creationId xmlns:a16="http://schemas.microsoft.com/office/drawing/2014/main" id="{A884E606-68FE-DB62-3ECB-086483BB4A3C}"/>
                  </a:ext>
                </a:extLst>
              </p:cNvPr>
              <p:cNvSpPr/>
              <p:nvPr/>
            </p:nvSpPr>
            <p:spPr>
              <a:xfrm>
                <a:off x="5529966" y="1480680"/>
                <a:ext cx="1965874" cy="3208140"/>
              </a:xfrm>
              <a:prstGeom prst="roundRect">
                <a:avLst>
                  <a:gd name="adj" fmla="val 10000"/>
                </a:avLst>
              </a:prstGeom>
              <a:gradFill>
                <a:gsLst>
                  <a:gs pos="0">
                    <a:srgbClr val="8D653C"/>
                  </a:gs>
                  <a:gs pos="100000">
                    <a:srgbClr val="DEC2AD"/>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464;p46">
                <a:extLst>
                  <a:ext uri="{FF2B5EF4-FFF2-40B4-BE49-F238E27FC236}">
                    <a16:creationId xmlns:a16="http://schemas.microsoft.com/office/drawing/2014/main" id="{E9E66B7D-5862-609C-9A69-B9790ADDC2CD}"/>
                  </a:ext>
                </a:extLst>
              </p:cNvPr>
              <p:cNvSpPr txBox="1"/>
              <p:nvPr/>
            </p:nvSpPr>
            <p:spPr>
              <a:xfrm>
                <a:off x="5587544" y="1538258"/>
                <a:ext cx="1850718" cy="3092984"/>
              </a:xfrm>
              <a:prstGeom prst="rect">
                <a:avLst/>
              </a:prstGeom>
              <a:noFill/>
              <a:ln>
                <a:noFill/>
              </a:ln>
            </p:spPr>
            <p:txBody>
              <a:bodyPr spcFirstLastPara="1" wrap="square" lIns="35550" tIns="26650" rIns="35550" bIns="266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s-AR" b="0" i="0" u="none" strike="noStrike" cap="none" dirty="0">
                    <a:solidFill>
                      <a:srgbClr val="000000"/>
                    </a:solidFill>
                    <a:latin typeface="Calibri"/>
                    <a:ea typeface="Calibri"/>
                    <a:cs typeface="Calibri"/>
                    <a:sym typeface="Calibri"/>
                  </a:rPr>
                  <a:t>Jerárquica hacia arriba.</a:t>
                </a:r>
                <a:endParaRPr b="0" i="0" u="none" strike="noStrike" cap="none" dirty="0">
                  <a:solidFill>
                    <a:srgbClr val="000000"/>
                  </a:solidFill>
                  <a:latin typeface="Calibri"/>
                  <a:ea typeface="Calibri"/>
                  <a:cs typeface="Calibri"/>
                  <a:sym typeface="Calibri"/>
                </a:endParaRPr>
              </a:p>
            </p:txBody>
          </p:sp>
        </p:grpSp>
        <p:sp>
          <p:nvSpPr>
            <p:cNvPr id="6" name="Google Shape;465;p46">
              <a:extLst>
                <a:ext uri="{FF2B5EF4-FFF2-40B4-BE49-F238E27FC236}">
                  <a16:creationId xmlns:a16="http://schemas.microsoft.com/office/drawing/2014/main" id="{A2AE4576-8972-B9D0-FCB5-B22FF8662ED0}"/>
                </a:ext>
              </a:extLst>
            </p:cNvPr>
            <p:cNvSpPr/>
            <p:nvPr/>
          </p:nvSpPr>
          <p:spPr>
            <a:xfrm>
              <a:off x="8918374" y="1725300"/>
              <a:ext cx="2692906"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466;p46">
              <a:extLst>
                <a:ext uri="{FF2B5EF4-FFF2-40B4-BE49-F238E27FC236}">
                  <a16:creationId xmlns:a16="http://schemas.microsoft.com/office/drawing/2014/main" id="{9CC2E6A2-ADE9-03A8-F55D-D20B3D4E0AA6}"/>
                </a:ext>
              </a:extLst>
            </p:cNvPr>
            <p:cNvSpPr txBox="1"/>
            <p:nvPr/>
          </p:nvSpPr>
          <p:spPr>
            <a:xfrm>
              <a:off x="8902498" y="1725300"/>
              <a:ext cx="2692906" cy="1480680"/>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s-AR" sz="2800" b="0" i="0" u="none" strike="noStrike" cap="none">
                  <a:solidFill>
                    <a:srgbClr val="000000"/>
                  </a:solidFill>
                  <a:latin typeface="Arial"/>
                  <a:ea typeface="Arial"/>
                  <a:cs typeface="Arial"/>
                  <a:sym typeface="Arial"/>
                </a:rPr>
                <a:t>Planning Poker</a:t>
              </a:r>
              <a:endParaRPr sz="1400" b="0" i="0" u="none" strike="noStrike" cap="none">
                <a:solidFill>
                  <a:srgbClr val="000000"/>
                </a:solidFill>
                <a:latin typeface="Arial"/>
                <a:ea typeface="Arial"/>
                <a:cs typeface="Arial"/>
                <a:sym typeface="Arial"/>
              </a:endParaRPr>
            </a:p>
          </p:txBody>
        </p:sp>
        <p:sp>
          <p:nvSpPr>
            <p:cNvPr id="8" name="Google Shape;467;p46">
              <a:extLst>
                <a:ext uri="{FF2B5EF4-FFF2-40B4-BE49-F238E27FC236}">
                  <a16:creationId xmlns:a16="http://schemas.microsoft.com/office/drawing/2014/main" id="{39838DB8-2B36-CC5B-BA23-6C250158591A}"/>
                </a:ext>
              </a:extLst>
            </p:cNvPr>
            <p:cNvSpPr/>
            <p:nvPr/>
          </p:nvSpPr>
          <p:spPr>
            <a:xfrm>
              <a:off x="9234886" y="3321136"/>
              <a:ext cx="2154325" cy="3208140"/>
            </a:xfrm>
            <a:prstGeom prst="roundRect">
              <a:avLst>
                <a:gd name="adj" fmla="val 10000"/>
              </a:avLst>
            </a:prstGeom>
            <a:gradFill>
              <a:gsLst>
                <a:gs pos="0">
                  <a:srgbClr val="8D653C"/>
                </a:gs>
                <a:gs pos="100000">
                  <a:srgbClr val="DEC2AD"/>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468;p46">
              <a:extLst>
                <a:ext uri="{FF2B5EF4-FFF2-40B4-BE49-F238E27FC236}">
                  <a16:creationId xmlns:a16="http://schemas.microsoft.com/office/drawing/2014/main" id="{070531AB-435F-4487-E2CB-712FE9CFE576}"/>
                </a:ext>
              </a:extLst>
            </p:cNvPr>
            <p:cNvSpPr txBox="1"/>
            <p:nvPr/>
          </p:nvSpPr>
          <p:spPr>
            <a:xfrm>
              <a:off x="9234886" y="3321136"/>
              <a:ext cx="2028130" cy="3092984"/>
            </a:xfrm>
            <a:prstGeom prst="rect">
              <a:avLst/>
            </a:prstGeom>
            <a:noFill/>
            <a:ln>
              <a:noFill/>
            </a:ln>
          </p:spPr>
          <p:txBody>
            <a:bodyPr spcFirstLastPara="1" wrap="square" lIns="35550" tIns="26650" rIns="35550" bIns="26650"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s-AR" b="0" i="0" u="none" strike="noStrike" cap="none" dirty="0">
                  <a:solidFill>
                    <a:srgbClr val="000000"/>
                  </a:solidFill>
                  <a:latin typeface="Calibri"/>
                  <a:ea typeface="Calibri"/>
                  <a:cs typeface="Calibri"/>
                  <a:sym typeface="Calibri"/>
                </a:rPr>
                <a:t>Basada en consenso</a:t>
              </a:r>
              <a:r>
                <a:rPr lang="es-AR" dirty="0">
                  <a:solidFill>
                    <a:srgbClr val="000000"/>
                  </a:solidFill>
                  <a:latin typeface="Calibri"/>
                  <a:ea typeface="Calibri"/>
                  <a:cs typeface="Calibri"/>
                  <a:sym typeface="Calibri"/>
                </a:rPr>
                <a:t>.</a:t>
              </a:r>
            </a:p>
            <a:p>
              <a:pPr marL="0" marR="0" lvl="0" indent="0" algn="ctr" rtl="0">
                <a:lnSpc>
                  <a:spcPct val="90000"/>
                </a:lnSpc>
                <a:spcBef>
                  <a:spcPts val="0"/>
                </a:spcBef>
                <a:spcAft>
                  <a:spcPts val="0"/>
                </a:spcAft>
                <a:buClr>
                  <a:srgbClr val="000000"/>
                </a:buClr>
                <a:buSzPts val="1400"/>
                <a:buFont typeface="Arial"/>
                <a:buNone/>
              </a:pPr>
              <a:r>
                <a:rPr lang="es-AR" b="0" i="0" u="none" strike="noStrike" cap="none" dirty="0">
                  <a:solidFill>
                    <a:srgbClr val="000000"/>
                  </a:solidFill>
                  <a:latin typeface="Calibri"/>
                  <a:ea typeface="Calibri"/>
                  <a:cs typeface="Calibri"/>
                  <a:sym typeface="Calibri"/>
                </a:rPr>
                <a:t>Incluye todo el equipo de desarrollo.</a:t>
              </a:r>
            </a:p>
            <a:p>
              <a:pPr marL="0" marR="0" lvl="0" indent="0" algn="ctr" rtl="0">
                <a:lnSpc>
                  <a:spcPct val="90000"/>
                </a:lnSpc>
                <a:spcBef>
                  <a:spcPts val="0"/>
                </a:spcBef>
                <a:spcAft>
                  <a:spcPts val="0"/>
                </a:spcAft>
                <a:buClr>
                  <a:srgbClr val="000000"/>
                </a:buClr>
                <a:buSzPts val="1400"/>
                <a:buFont typeface="Arial"/>
                <a:buNone/>
              </a:pPr>
              <a:r>
                <a:rPr lang="es-AR" dirty="0">
                  <a:solidFill>
                    <a:srgbClr val="000000"/>
                  </a:solidFill>
                  <a:latin typeface="Calibri"/>
                  <a:ea typeface="Calibri"/>
                  <a:cs typeface="Calibri"/>
                  <a:sym typeface="Calibri"/>
                </a:rPr>
                <a:t>I</a:t>
              </a:r>
              <a:r>
                <a:rPr lang="es-AR" b="0" i="0" u="none" strike="noStrike" cap="none" dirty="0">
                  <a:solidFill>
                    <a:srgbClr val="000000"/>
                  </a:solidFill>
                  <a:latin typeface="Calibri"/>
                  <a:ea typeface="Calibri"/>
                  <a:cs typeface="Calibri"/>
                  <a:sym typeface="Calibri"/>
                </a:rPr>
                <a:t>terativa.</a:t>
              </a:r>
              <a:endParaRPr b="0" i="0" u="none" strike="noStrike" cap="none" dirty="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8829825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BF07684-9BA4-BB43-2470-FFE695BC659E}"/>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89A8F552-1550-1BBB-BBBB-B4399869915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A2AEBD12-3A7A-D800-22D2-612E91D7A1A6}"/>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B4C5954A-2FFC-0F79-2D2A-5099D78DC3B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007F1F46-267A-9617-5121-9090E4CE92E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34</a:t>
            </a:fld>
            <a:endParaRPr lang="es-AR"/>
          </a:p>
        </p:txBody>
      </p:sp>
      <p:sp>
        <p:nvSpPr>
          <p:cNvPr id="163" name="Google Shape;163;p4">
            <a:extLst>
              <a:ext uri="{FF2B5EF4-FFF2-40B4-BE49-F238E27FC236}">
                <a16:creationId xmlns:a16="http://schemas.microsoft.com/office/drawing/2014/main" id="{51E48956-54B3-A4D9-37F8-CF42156A1B14}"/>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Juicio experto</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Se basa en la opinión y el conocimiento acumulado de un individuo o grupos que poseen experiencia y pericia relevante en el desarrollo de software, tecnologías específicas, dominios de negocio o gestión de proyectos.</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Consiste en solicitar a una o varias personas consideradas "</a:t>
            </a:r>
            <a:r>
              <a:rPr lang="es-ES" sz="2400" b="1" dirty="0">
                <a:solidFill>
                  <a:schemeClr val="tx1"/>
                </a:solidFill>
              </a:rPr>
              <a:t>expertas</a:t>
            </a:r>
            <a:r>
              <a:rPr lang="es-ES" sz="2400" dirty="0">
                <a:solidFill>
                  <a:schemeClr val="tx1"/>
                </a:solidFill>
              </a:rPr>
              <a:t>" que proporcionen una estimación del esfuerzo, tiempo, costo o complejidad necesaria para completar una tarea, característica, módulo o proyecto de software determinado. Los expertos en general no son anónimos.</a:t>
            </a: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161101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E1A97456-5943-299F-62C9-E9CB3B241BD8}"/>
            </a:ext>
          </a:extLst>
        </p:cNvPr>
        <p:cNvGrpSpPr/>
        <p:nvPr/>
      </p:nvGrpSpPr>
      <p:grpSpPr>
        <a:xfrm>
          <a:off x="0" y="0"/>
          <a:ext cx="0" cy="0"/>
          <a:chOff x="0" y="0"/>
          <a:chExt cx="0" cy="0"/>
        </a:xfrm>
      </p:grpSpPr>
      <p:pic>
        <p:nvPicPr>
          <p:cNvPr id="2" name="Google Shape;487;p29" descr="Diagrama&#10;&#10;El contenido generado por IA puede ser incorrecto.">
            <a:extLst>
              <a:ext uri="{FF2B5EF4-FFF2-40B4-BE49-F238E27FC236}">
                <a16:creationId xmlns:a16="http://schemas.microsoft.com/office/drawing/2014/main" id="{58D83D9F-5023-14A0-1F8B-0DF4DD364FC6}"/>
              </a:ext>
            </a:extLst>
          </p:cNvPr>
          <p:cNvPicPr preferRelativeResize="0"/>
          <p:nvPr/>
        </p:nvPicPr>
        <p:blipFill rotWithShape="1">
          <a:blip r:embed="rId3">
            <a:alphaModFix/>
          </a:blip>
          <a:srcRect t="16697" b="9321"/>
          <a:stretch>
            <a:fillRect/>
          </a:stretch>
        </p:blipFill>
        <p:spPr>
          <a:xfrm>
            <a:off x="3555447" y="1862495"/>
            <a:ext cx="5081105" cy="4295365"/>
          </a:xfrm>
          <a:prstGeom prst="rect">
            <a:avLst/>
          </a:prstGeom>
          <a:noFill/>
          <a:ln>
            <a:noFill/>
          </a:ln>
        </p:spPr>
      </p:pic>
      <p:sp>
        <p:nvSpPr>
          <p:cNvPr id="159" name="Google Shape;159;p4">
            <a:extLst>
              <a:ext uri="{FF2B5EF4-FFF2-40B4-BE49-F238E27FC236}">
                <a16:creationId xmlns:a16="http://schemas.microsoft.com/office/drawing/2014/main" id="{E709A9CB-AE04-0E21-A358-849147117E3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994E1BA6-3D99-2CE9-FB5B-F8F37AB89204}"/>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C8C2A64E-F23C-AA49-ED03-1927D18633B0}"/>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0E1DF15A-A5E2-2C99-ADB6-E39865B5A8D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35</a:t>
            </a:fld>
            <a:endParaRPr lang="es-AR"/>
          </a:p>
        </p:txBody>
      </p:sp>
      <p:sp>
        <p:nvSpPr>
          <p:cNvPr id="163" name="Google Shape;163;p4">
            <a:extLst>
              <a:ext uri="{FF2B5EF4-FFF2-40B4-BE49-F238E27FC236}">
                <a16:creationId xmlns:a16="http://schemas.microsoft.com/office/drawing/2014/main" id="{D7686A44-34EF-1D49-814F-7A2A95B7DE4A}"/>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Juicio experto</a:t>
            </a:r>
          </a:p>
          <a:p>
            <a:pPr marL="354013" lvl="0" indent="0" algn="just">
              <a:lnSpc>
                <a:spcPct val="85000"/>
              </a:lnSpc>
              <a:spcBef>
                <a:spcPts val="0"/>
              </a:spcBef>
              <a:spcAft>
                <a:spcPts val="1200"/>
              </a:spcAft>
              <a:buClr>
                <a:srgbClr val="C00000"/>
              </a:buClr>
              <a:buNone/>
            </a:pPr>
            <a:endParaRPr lang="es-ES"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1005107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FB5D700-523C-DCEF-AEB3-AA74AD0A27D7}"/>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1988CE5-8AB5-786B-8437-C7690B5D79B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C203A46F-ADCD-3D82-E8B7-459933576DC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AE10318F-CEE1-C2C5-1A5D-FD034ACDDB12}"/>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A92D895E-1B23-C074-BBC3-D6551FB3ADA4}"/>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36</a:t>
            </a:fld>
            <a:endParaRPr lang="es-AR"/>
          </a:p>
        </p:txBody>
      </p:sp>
      <p:sp>
        <p:nvSpPr>
          <p:cNvPr id="163" name="Google Shape;163;p4">
            <a:extLst>
              <a:ext uri="{FF2B5EF4-FFF2-40B4-BE49-F238E27FC236}">
                <a16:creationId xmlns:a16="http://schemas.microsoft.com/office/drawing/2014/main" id="{B89A3D51-4C65-7FD6-7829-5F018247F465}"/>
              </a:ext>
            </a:extLst>
          </p:cNvPr>
          <p:cNvSpPr txBox="1">
            <a:spLocks noGrp="1"/>
          </p:cNvSpPr>
          <p:nvPr>
            <p:ph type="body" idx="4294967295"/>
          </p:nvPr>
        </p:nvSpPr>
        <p:spPr>
          <a:xfrm>
            <a:off x="1030288" y="1958360"/>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Técnica Delphi</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Método estructurado de comunicación y pronóstico que se basa en la agregación de opiniones de un panel de expertos (más de uno siempre) para llegar a un consenso sobre una estimación.</a:t>
            </a:r>
          </a:p>
          <a:p>
            <a:pPr marL="633413" lvl="0" indent="-2794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Se caracteriza por:</a:t>
            </a:r>
          </a:p>
          <a:p>
            <a:pPr marL="900113" lvl="0" indent="-266700" algn="just">
              <a:lnSpc>
                <a:spcPct val="85000"/>
              </a:lnSpc>
              <a:spcBef>
                <a:spcPts val="0"/>
              </a:spcBef>
              <a:spcAft>
                <a:spcPts val="0"/>
              </a:spcAft>
              <a:buClrTx/>
              <a:buFont typeface="Arial" panose="020B0604020202020204" pitchFamily="34" charset="0"/>
              <a:buChar char="•"/>
            </a:pPr>
            <a:r>
              <a:rPr lang="es-ES" u="sng" dirty="0">
                <a:solidFill>
                  <a:schemeClr val="tx1"/>
                </a:solidFill>
              </a:rPr>
              <a:t>Anonimato</a:t>
            </a:r>
            <a:r>
              <a:rPr lang="es-ES" dirty="0">
                <a:solidFill>
                  <a:schemeClr val="tx1"/>
                </a:solidFill>
              </a:rPr>
              <a:t>: las identidades de los expertos que participan se mantienen anónimas. Esto reduce la influencia de personalidades dominantes y permite que cada experto exprese sus opiniones libremente.</a:t>
            </a:r>
          </a:p>
          <a:p>
            <a:pPr marL="900113" lvl="0" indent="-266700" algn="just">
              <a:lnSpc>
                <a:spcPct val="85000"/>
              </a:lnSpc>
              <a:spcBef>
                <a:spcPts val="0"/>
              </a:spcBef>
              <a:spcAft>
                <a:spcPts val="0"/>
              </a:spcAft>
              <a:buClrTx/>
              <a:buFont typeface="Arial" panose="020B0604020202020204" pitchFamily="34" charset="0"/>
              <a:buChar char="•"/>
            </a:pPr>
            <a:r>
              <a:rPr lang="es-ES" u="sng" dirty="0">
                <a:solidFill>
                  <a:schemeClr val="tx1"/>
                </a:solidFill>
              </a:rPr>
              <a:t>Iteración</a:t>
            </a:r>
            <a:r>
              <a:rPr lang="es-ES" dirty="0">
                <a:solidFill>
                  <a:schemeClr val="tx1"/>
                </a:solidFill>
              </a:rPr>
              <a:t>: el proceso se lleva a cabo en múltiples rondas. En cada ronda, los expertos proporcionan sus estimaciones iniciales y las justificaciones de la estimación.</a:t>
            </a:r>
          </a:p>
          <a:p>
            <a:pPr marL="900113" lvl="0" indent="-266700" algn="just">
              <a:lnSpc>
                <a:spcPct val="85000"/>
              </a:lnSpc>
              <a:spcBef>
                <a:spcPts val="0"/>
              </a:spcBef>
              <a:spcAft>
                <a:spcPts val="0"/>
              </a:spcAft>
              <a:buClrTx/>
              <a:buFont typeface="Arial" panose="020B0604020202020204" pitchFamily="34" charset="0"/>
              <a:buChar char="•"/>
            </a:pPr>
            <a:r>
              <a:rPr lang="es-ES" u="sng" dirty="0">
                <a:solidFill>
                  <a:schemeClr val="tx1"/>
                </a:solidFill>
              </a:rPr>
              <a:t>Retroalimentación controlada</a:t>
            </a:r>
            <a:r>
              <a:rPr lang="es-ES" dirty="0">
                <a:solidFill>
                  <a:schemeClr val="tx1"/>
                </a:solidFill>
              </a:rPr>
              <a:t>: después de cada ronda, un facilitador recopila, resume y distribuye las respuestas a todos los expertos.</a:t>
            </a:r>
          </a:p>
          <a:p>
            <a:pPr marL="900113" lvl="0" indent="-266700" algn="just">
              <a:lnSpc>
                <a:spcPct val="85000"/>
              </a:lnSpc>
              <a:spcBef>
                <a:spcPts val="0"/>
              </a:spcBef>
              <a:spcAft>
                <a:spcPts val="0"/>
              </a:spcAft>
              <a:buClrTx/>
              <a:buFont typeface="Arial" panose="020B0604020202020204" pitchFamily="34" charset="0"/>
              <a:buChar char="•"/>
            </a:pPr>
            <a:r>
              <a:rPr lang="es-ES" u="sng" dirty="0">
                <a:solidFill>
                  <a:schemeClr val="tx1"/>
                </a:solidFill>
              </a:rPr>
              <a:t>Búsqueda de consenso</a:t>
            </a:r>
            <a:r>
              <a:rPr lang="es-ES" dirty="0">
                <a:solidFill>
                  <a:schemeClr val="tx1"/>
                </a:solidFill>
              </a:rPr>
              <a:t>: los expertos revisan y ajustan sus estimaciones en las rondas siguientes. El proceso continúa hasta alcanzar un consenso razonable de estimación.</a:t>
            </a:r>
          </a:p>
          <a:p>
            <a:pPr marL="354013" lvl="0" indent="0" algn="just">
              <a:lnSpc>
                <a:spcPct val="85000"/>
              </a:lnSpc>
              <a:spcBef>
                <a:spcPts val="0"/>
              </a:spcBef>
              <a:spcAft>
                <a:spcPts val="1200"/>
              </a:spcAft>
              <a:buClr>
                <a:srgbClr val="C00000"/>
              </a:buClr>
              <a:buNone/>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1321815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
                                            <p:txEl>
                                              <p:pRg st="3" end="3"/>
                                            </p:txEl>
                                          </p:spTgt>
                                        </p:tgtEl>
                                        <p:attrNameLst>
                                          <p:attrName>style.visibility</p:attrName>
                                        </p:attrNameLst>
                                      </p:cBhvr>
                                      <p:to>
                                        <p:strVal val="visible"/>
                                      </p:to>
                                    </p:set>
                                    <p:animEffect transition="in" filter="fade">
                                      <p:cBhvr>
                                        <p:cTn id="10" dur="500"/>
                                        <p:tgtEl>
                                          <p:spTgt spid="16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3">
                                            <p:txEl>
                                              <p:pRg st="4" end="4"/>
                                            </p:txEl>
                                          </p:spTgt>
                                        </p:tgtEl>
                                        <p:attrNameLst>
                                          <p:attrName>style.visibility</p:attrName>
                                        </p:attrNameLst>
                                      </p:cBhvr>
                                      <p:to>
                                        <p:strVal val="visible"/>
                                      </p:to>
                                    </p:set>
                                    <p:animEffect transition="in" filter="fade">
                                      <p:cBhvr>
                                        <p:cTn id="15" dur="500"/>
                                        <p:tgtEl>
                                          <p:spTgt spid="16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3">
                                            <p:txEl>
                                              <p:pRg st="5" end="5"/>
                                            </p:txEl>
                                          </p:spTgt>
                                        </p:tgtEl>
                                        <p:attrNameLst>
                                          <p:attrName>style.visibility</p:attrName>
                                        </p:attrNameLst>
                                      </p:cBhvr>
                                      <p:to>
                                        <p:strVal val="visible"/>
                                      </p:to>
                                    </p:set>
                                    <p:animEffect transition="in" filter="fade">
                                      <p:cBhvr>
                                        <p:cTn id="20" dur="500"/>
                                        <p:tgtEl>
                                          <p:spTgt spid="16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3">
                                            <p:txEl>
                                              <p:pRg st="6" end="6"/>
                                            </p:txEl>
                                          </p:spTgt>
                                        </p:tgtEl>
                                        <p:attrNameLst>
                                          <p:attrName>style.visibility</p:attrName>
                                        </p:attrNameLst>
                                      </p:cBhvr>
                                      <p:to>
                                        <p:strVal val="visible"/>
                                      </p:to>
                                    </p:set>
                                    <p:animEffect transition="in" filter="fade">
                                      <p:cBhvr>
                                        <p:cTn id="25" dur="500"/>
                                        <p:tgtEl>
                                          <p:spTgt spid="1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B32A303-C1DE-B82A-B4DC-E295C5196EB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5CDDEE20-3C04-ACA6-7395-EF7A66E10BE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16F15578-83CB-0414-D017-36719B70EFC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1DB9D316-C8B7-7AE6-50ED-11D7CC0EAEA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0052583B-A01C-24B7-E2F2-FE238F25759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37</a:t>
            </a:fld>
            <a:endParaRPr lang="es-AR"/>
          </a:p>
        </p:txBody>
      </p:sp>
      <p:sp>
        <p:nvSpPr>
          <p:cNvPr id="163" name="Google Shape;163;p4">
            <a:extLst>
              <a:ext uri="{FF2B5EF4-FFF2-40B4-BE49-F238E27FC236}">
                <a16:creationId xmlns:a16="http://schemas.microsoft.com/office/drawing/2014/main" id="{BD4F6A35-1889-20A9-934A-76942CEBFE82}"/>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Noto Sans Symbols"/>
              <a:buChar char="❖"/>
            </a:pPr>
            <a:r>
              <a:rPr lang="es-ES" sz="2800" dirty="0">
                <a:solidFill>
                  <a:schemeClr val="tx1"/>
                </a:solidFill>
              </a:rPr>
              <a:t>División de trabajo (top-</a:t>
            </a:r>
            <a:r>
              <a:rPr lang="es-ES" sz="2800" dirty="0" err="1">
                <a:solidFill>
                  <a:schemeClr val="tx1"/>
                </a:solidFill>
              </a:rPr>
              <a:t>down</a:t>
            </a:r>
            <a:r>
              <a:rPr lang="es-ES" sz="2800" dirty="0">
                <a:solidFill>
                  <a:schemeClr val="tx1"/>
                </a:solidFill>
              </a:rPr>
              <a:t>)</a:t>
            </a:r>
          </a:p>
          <a:p>
            <a:pPr marL="633413" lvl="0" indent="-279400"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Consiste en descomponer un proyecto de software grande y complejo en componentes o actividades más pequeños, manejables y, por lo tanto, más fáciles de estimar de manera individual.</a:t>
            </a:r>
          </a:p>
          <a:p>
            <a:pPr marL="633413" lvl="0" indent="-2794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En esencia, el proceso implica:</a:t>
            </a:r>
          </a:p>
          <a:p>
            <a:pPr marL="900113" lvl="0" indent="-266700" algn="just">
              <a:lnSpc>
                <a:spcPct val="85000"/>
              </a:lnSpc>
              <a:spcBef>
                <a:spcPts val="0"/>
              </a:spcBef>
              <a:spcAft>
                <a:spcPts val="0"/>
              </a:spcAft>
              <a:buClrTx/>
              <a:buFont typeface="+mj-lt"/>
              <a:buAutoNum type="arabicPeriod"/>
            </a:pPr>
            <a:r>
              <a:rPr lang="es-ES" u="sng" dirty="0">
                <a:solidFill>
                  <a:schemeClr val="tx1"/>
                </a:solidFill>
              </a:rPr>
              <a:t>Descomposición</a:t>
            </a:r>
            <a:r>
              <a:rPr lang="es-ES" dirty="0">
                <a:solidFill>
                  <a:schemeClr val="tx1"/>
                </a:solidFill>
              </a:rPr>
              <a:t>: el proyecto de software se divide jerárquicamente en elementos de trabajo progresivamente más pequeños. La descomposición puede basarse en las funciones del software, las actividades del proceso de desarrollo (como análisis, diseño, codificación, pruebas) o una combinación de ambos.</a:t>
            </a:r>
          </a:p>
          <a:p>
            <a:pPr marL="900113" lvl="0" indent="-266700" algn="just">
              <a:lnSpc>
                <a:spcPct val="85000"/>
              </a:lnSpc>
              <a:spcBef>
                <a:spcPts val="0"/>
              </a:spcBef>
              <a:spcAft>
                <a:spcPts val="0"/>
              </a:spcAft>
              <a:buClrTx/>
              <a:buFont typeface="+mj-lt"/>
              <a:buAutoNum type="arabicPeriod"/>
            </a:pPr>
            <a:r>
              <a:rPr lang="es-ES" u="sng" dirty="0">
                <a:solidFill>
                  <a:schemeClr val="tx1"/>
                </a:solidFill>
              </a:rPr>
              <a:t>Estimación de las Partes</a:t>
            </a:r>
            <a:r>
              <a:rPr lang="es-ES" dirty="0">
                <a:solidFill>
                  <a:schemeClr val="tx1"/>
                </a:solidFill>
              </a:rPr>
              <a:t>: se estima el esfuerzo, el costo y/o la duración requerida para cada una de estas partes individuales. La estimación de estas partes más pequeñas tiende a ser más precisa que intentar estimar el proyecto completo de una sola vez, ya que la complejidad se reduce y es más fácil visualizar el trabajo involucrado.</a:t>
            </a:r>
          </a:p>
          <a:p>
            <a:pPr marL="900113" lvl="0" indent="-266700" algn="just">
              <a:lnSpc>
                <a:spcPct val="85000"/>
              </a:lnSpc>
              <a:spcBef>
                <a:spcPts val="0"/>
              </a:spcBef>
              <a:spcAft>
                <a:spcPts val="0"/>
              </a:spcAft>
              <a:buClrTx/>
              <a:buFont typeface="+mj-lt"/>
              <a:buAutoNum type="arabicPeriod"/>
            </a:pPr>
            <a:r>
              <a:rPr lang="es-ES" u="sng" dirty="0">
                <a:solidFill>
                  <a:schemeClr val="tx1"/>
                </a:solidFill>
              </a:rPr>
              <a:t>Composición (Agregación)</a:t>
            </a:r>
            <a:r>
              <a:rPr lang="es-ES" dirty="0">
                <a:solidFill>
                  <a:schemeClr val="tx1"/>
                </a:solidFill>
              </a:rPr>
              <a:t>: las estimaciones de las partes individuales se suman o combinan para obtener una estimación global del proyecto completo.</a:t>
            </a:r>
          </a:p>
          <a:p>
            <a:pPr marL="354013" lvl="0" indent="0" algn="just">
              <a:lnSpc>
                <a:spcPct val="85000"/>
              </a:lnSpc>
              <a:spcBef>
                <a:spcPts val="0"/>
              </a:spcBef>
              <a:spcAft>
                <a:spcPts val="1200"/>
              </a:spcAft>
              <a:buClr>
                <a:srgbClr val="C00000"/>
              </a:buClr>
              <a:buNone/>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86419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
                                            <p:txEl>
                                              <p:pRg st="3" end="3"/>
                                            </p:txEl>
                                          </p:spTgt>
                                        </p:tgtEl>
                                        <p:attrNameLst>
                                          <p:attrName>style.visibility</p:attrName>
                                        </p:attrNameLst>
                                      </p:cBhvr>
                                      <p:to>
                                        <p:strVal val="visible"/>
                                      </p:to>
                                    </p:set>
                                    <p:animEffect transition="in" filter="fade">
                                      <p:cBhvr>
                                        <p:cTn id="10" dur="500"/>
                                        <p:tgtEl>
                                          <p:spTgt spid="16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3">
                                            <p:txEl>
                                              <p:pRg st="4" end="4"/>
                                            </p:txEl>
                                          </p:spTgt>
                                        </p:tgtEl>
                                        <p:attrNameLst>
                                          <p:attrName>style.visibility</p:attrName>
                                        </p:attrNameLst>
                                      </p:cBhvr>
                                      <p:to>
                                        <p:strVal val="visible"/>
                                      </p:to>
                                    </p:set>
                                    <p:animEffect transition="in" filter="fade">
                                      <p:cBhvr>
                                        <p:cTn id="15" dur="500"/>
                                        <p:tgtEl>
                                          <p:spTgt spid="16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3">
                                            <p:txEl>
                                              <p:pRg st="5" end="5"/>
                                            </p:txEl>
                                          </p:spTgt>
                                        </p:tgtEl>
                                        <p:attrNameLst>
                                          <p:attrName>style.visibility</p:attrName>
                                        </p:attrNameLst>
                                      </p:cBhvr>
                                      <p:to>
                                        <p:strVal val="visible"/>
                                      </p:to>
                                    </p:set>
                                    <p:animEffect transition="in" filter="fade">
                                      <p:cBhvr>
                                        <p:cTn id="20" dur="500"/>
                                        <p:tgtEl>
                                          <p:spTgt spid="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5B21C956-03E8-E874-A6A4-DE5BFF8AAB6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725F55E4-EC4B-694C-BC44-033E67BB825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6E84581B-6D28-5C64-8108-F74EA28E07C8}"/>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D78DD29E-66F8-254B-4F9C-A4A394813BD5}"/>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1351A683-3343-5584-8A0C-2479EF026063}"/>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38</a:t>
            </a:fld>
            <a:endParaRPr lang="es-AR"/>
          </a:p>
        </p:txBody>
      </p:sp>
      <p:sp>
        <p:nvSpPr>
          <p:cNvPr id="163" name="Google Shape;163;p4">
            <a:extLst>
              <a:ext uri="{FF2B5EF4-FFF2-40B4-BE49-F238E27FC236}">
                <a16:creationId xmlns:a16="http://schemas.microsoft.com/office/drawing/2014/main" id="{01C9C6B9-EA22-2621-0FBC-4768B7C209EA}"/>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err="1">
                <a:solidFill>
                  <a:schemeClr val="tx1"/>
                </a:solidFill>
              </a:rPr>
              <a:t>Planning</a:t>
            </a:r>
            <a:r>
              <a:rPr lang="es-ES" sz="2800" dirty="0">
                <a:solidFill>
                  <a:schemeClr val="tx1"/>
                </a:solidFill>
              </a:rPr>
              <a:t> </a:t>
            </a:r>
            <a:r>
              <a:rPr lang="es-ES" sz="2800" dirty="0" err="1">
                <a:solidFill>
                  <a:schemeClr val="tx1"/>
                </a:solidFill>
              </a:rPr>
              <a:t>Poker</a:t>
            </a:r>
            <a:endParaRPr lang="es-ES" sz="2800" dirty="0">
              <a:solidFill>
                <a:schemeClr val="tx1"/>
              </a:solidFill>
            </a:endParaRP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Es una técnica de estimación colaborativa y basada en el consenso utilizada en el desarrollo de software ágil, especialmente en los marcos de trabajo Scrum. </a:t>
            </a:r>
          </a:p>
          <a:p>
            <a:pPr marL="633413" lvl="0" indent="-279400"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Su objetivo es obtener estimaciones más precisas del esfuerzo requerido para las historias de usuario o elementos del backlog, fomentando la participación y el entendimiento compartido del equipo.</a:t>
            </a:r>
          </a:p>
          <a:p>
            <a:pPr marL="633413" lvl="0" indent="-2794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Características:</a:t>
            </a:r>
          </a:p>
          <a:p>
            <a:pPr marL="898525" indent="-265113" algn="just">
              <a:lnSpc>
                <a:spcPct val="85000"/>
              </a:lnSpc>
              <a:spcBef>
                <a:spcPts val="0"/>
              </a:spcBef>
              <a:spcAft>
                <a:spcPts val="300"/>
              </a:spcAft>
              <a:buClrTx/>
              <a:buFont typeface="Arial" panose="020B0604020202020204" pitchFamily="34" charset="0"/>
              <a:buChar char="•"/>
            </a:pPr>
            <a:r>
              <a:rPr lang="es-ES" sz="2200" dirty="0">
                <a:solidFill>
                  <a:schemeClr val="tx1"/>
                </a:solidFill>
              </a:rPr>
              <a:t>Participan todas las personas comprometidas en el desarrollo.</a:t>
            </a:r>
          </a:p>
          <a:p>
            <a:pPr marL="898525" indent="-265113" algn="just">
              <a:lnSpc>
                <a:spcPct val="85000"/>
              </a:lnSpc>
              <a:spcBef>
                <a:spcPts val="0"/>
              </a:spcBef>
              <a:spcAft>
                <a:spcPts val="300"/>
              </a:spcAft>
              <a:buClrTx/>
              <a:buFont typeface="Arial" panose="020B0604020202020204" pitchFamily="34" charset="0"/>
              <a:buChar char="•"/>
            </a:pPr>
            <a:r>
              <a:rPr lang="es-ES" sz="2200" dirty="0">
                <a:solidFill>
                  <a:schemeClr val="tx1"/>
                </a:solidFill>
              </a:rPr>
              <a:t>Se hace sobre cada una de las historias de usuario de un Sprint. </a:t>
            </a:r>
          </a:p>
          <a:p>
            <a:pPr marL="898525" indent="-265113" algn="just">
              <a:lnSpc>
                <a:spcPct val="85000"/>
              </a:lnSpc>
              <a:spcBef>
                <a:spcPts val="0"/>
              </a:spcBef>
              <a:spcAft>
                <a:spcPts val="300"/>
              </a:spcAft>
              <a:buClrTx/>
              <a:buFont typeface="Arial" panose="020B0604020202020204" pitchFamily="34" charset="0"/>
              <a:buChar char="•"/>
            </a:pPr>
            <a:r>
              <a:rPr lang="es-ES" sz="2200" dirty="0">
                <a:solidFill>
                  <a:schemeClr val="tx1"/>
                </a:solidFill>
              </a:rPr>
              <a:t>Se llama así porque se utilizan cartas numeradas (serie de Fibonacci).</a:t>
            </a:r>
          </a:p>
          <a:p>
            <a:pPr marL="354013" lvl="0" indent="0" algn="just">
              <a:lnSpc>
                <a:spcPct val="85000"/>
              </a:lnSpc>
              <a:spcBef>
                <a:spcPts val="0"/>
              </a:spcBef>
              <a:spcAft>
                <a:spcPts val="1200"/>
              </a:spcAft>
              <a:buClr>
                <a:srgbClr val="C00000"/>
              </a:buClr>
              <a:buNone/>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pic>
        <p:nvPicPr>
          <p:cNvPr id="2" name="Google Shape;513;g238efec14d4_0_23" descr="Imagen de la pantalla de un celular con letras y números&#10;&#10;El contenido generado por IA puede ser incorrecto.">
            <a:extLst>
              <a:ext uri="{FF2B5EF4-FFF2-40B4-BE49-F238E27FC236}">
                <a16:creationId xmlns:a16="http://schemas.microsoft.com/office/drawing/2014/main" id="{04639B14-7B21-91E8-D5C5-1C5DB0F2998F}"/>
              </a:ext>
            </a:extLst>
          </p:cNvPr>
          <p:cNvPicPr preferRelativeResize="0"/>
          <p:nvPr/>
        </p:nvPicPr>
        <p:blipFill rotWithShape="1">
          <a:blip r:embed="rId3">
            <a:alphaModFix/>
          </a:blip>
          <a:srcRect/>
          <a:stretch/>
        </p:blipFill>
        <p:spPr>
          <a:xfrm>
            <a:off x="8663553" y="2291418"/>
            <a:ext cx="3162102" cy="2467303"/>
          </a:xfrm>
          <a:prstGeom prst="rect">
            <a:avLst/>
          </a:prstGeom>
          <a:noFill/>
          <a:ln>
            <a:noFill/>
          </a:ln>
        </p:spPr>
      </p:pic>
    </p:spTree>
    <p:extLst>
      <p:ext uri="{BB962C8B-B14F-4D97-AF65-F5344CB8AC3E}">
        <p14:creationId xmlns:p14="http://schemas.microsoft.com/office/powerpoint/2010/main" val="37940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3">
                                            <p:txEl>
                                              <p:pRg st="4" end="4"/>
                                            </p:txEl>
                                          </p:spTgt>
                                        </p:tgtEl>
                                        <p:attrNameLst>
                                          <p:attrName>style.visibility</p:attrName>
                                        </p:attrNameLst>
                                      </p:cBhvr>
                                      <p:to>
                                        <p:strVal val="visible"/>
                                      </p:to>
                                    </p:set>
                                    <p:animEffect transition="in" filter="fade">
                                      <p:cBhvr>
                                        <p:cTn id="15" dur="500"/>
                                        <p:tgtEl>
                                          <p:spTgt spid="16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3">
                                            <p:txEl>
                                              <p:pRg st="5" end="5"/>
                                            </p:txEl>
                                          </p:spTgt>
                                        </p:tgtEl>
                                        <p:attrNameLst>
                                          <p:attrName>style.visibility</p:attrName>
                                        </p:attrNameLst>
                                      </p:cBhvr>
                                      <p:to>
                                        <p:strVal val="visible"/>
                                      </p:to>
                                    </p:set>
                                    <p:animEffect transition="in" filter="fade">
                                      <p:cBhvr>
                                        <p:cTn id="18" dur="500"/>
                                        <p:tgtEl>
                                          <p:spTgt spid="16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63">
                                            <p:txEl>
                                              <p:pRg st="6" end="6"/>
                                            </p:txEl>
                                          </p:spTgt>
                                        </p:tgtEl>
                                        <p:attrNameLst>
                                          <p:attrName>style.visibility</p:attrName>
                                        </p:attrNameLst>
                                      </p:cBhvr>
                                      <p:to>
                                        <p:strVal val="visible"/>
                                      </p:to>
                                    </p:set>
                                    <p:animEffect transition="in" filter="fade">
                                      <p:cBhvr>
                                        <p:cTn id="21" dur="500"/>
                                        <p:tgtEl>
                                          <p:spTgt spid="16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C7B7385B-9F90-C50E-E65A-AEE59422CE31}"/>
            </a:ext>
          </a:extLst>
        </p:cNvPr>
        <p:cNvGrpSpPr/>
        <p:nvPr/>
      </p:nvGrpSpPr>
      <p:grpSpPr>
        <a:xfrm>
          <a:off x="0" y="0"/>
          <a:ext cx="0" cy="0"/>
          <a:chOff x="0" y="0"/>
          <a:chExt cx="0" cy="0"/>
        </a:xfrm>
      </p:grpSpPr>
      <p:pic>
        <p:nvPicPr>
          <p:cNvPr id="3" name="Google Shape;520;p32" descr="Escala de tiempo&#10;&#10;El contenido generado por IA puede ser incorrecto.">
            <a:extLst>
              <a:ext uri="{FF2B5EF4-FFF2-40B4-BE49-F238E27FC236}">
                <a16:creationId xmlns:a16="http://schemas.microsoft.com/office/drawing/2014/main" id="{952DE816-4E5E-C532-D1DC-2C81BFEF6D69}"/>
              </a:ext>
            </a:extLst>
          </p:cNvPr>
          <p:cNvPicPr preferRelativeResize="0"/>
          <p:nvPr/>
        </p:nvPicPr>
        <p:blipFill rotWithShape="1">
          <a:blip r:embed="rId3">
            <a:alphaModFix/>
          </a:blip>
          <a:srcRect l="5868" t="9855" r="7233" b="9778"/>
          <a:stretch>
            <a:fillRect/>
          </a:stretch>
        </p:blipFill>
        <p:spPr>
          <a:xfrm>
            <a:off x="4364703" y="1780969"/>
            <a:ext cx="4144297" cy="4494674"/>
          </a:xfrm>
          <a:prstGeom prst="rect">
            <a:avLst/>
          </a:prstGeom>
          <a:noFill/>
          <a:ln>
            <a:noFill/>
          </a:ln>
        </p:spPr>
      </p:pic>
      <p:sp>
        <p:nvSpPr>
          <p:cNvPr id="159" name="Google Shape;159;p4">
            <a:extLst>
              <a:ext uri="{FF2B5EF4-FFF2-40B4-BE49-F238E27FC236}">
                <a16:creationId xmlns:a16="http://schemas.microsoft.com/office/drawing/2014/main" id="{508CC59F-5908-C443-4566-3236C8E36EB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1CD1EE22-A942-BE30-0291-A6DEC00416F3}"/>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45BDC1C2-F1DB-C6D4-FED0-D35989B4D9CA}"/>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2FF47B02-9EE9-2BEC-BACA-C9AD6BB2236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39</a:t>
            </a:fld>
            <a:endParaRPr lang="es-AR"/>
          </a:p>
        </p:txBody>
      </p:sp>
      <p:sp>
        <p:nvSpPr>
          <p:cNvPr id="163" name="Google Shape;163;p4">
            <a:extLst>
              <a:ext uri="{FF2B5EF4-FFF2-40B4-BE49-F238E27FC236}">
                <a16:creationId xmlns:a16="http://schemas.microsoft.com/office/drawing/2014/main" id="{09CD5715-A2BF-6871-0F30-1298CDA7684A}"/>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err="1">
                <a:solidFill>
                  <a:schemeClr val="tx1"/>
                </a:solidFill>
              </a:rPr>
              <a:t>Planning</a:t>
            </a:r>
            <a:r>
              <a:rPr lang="es-ES" sz="2800" dirty="0">
                <a:solidFill>
                  <a:schemeClr val="tx1"/>
                </a:solidFill>
              </a:rPr>
              <a:t> </a:t>
            </a:r>
            <a:r>
              <a:rPr lang="es-ES" sz="2800" dirty="0" err="1">
                <a:solidFill>
                  <a:schemeClr val="tx1"/>
                </a:solidFill>
              </a:rPr>
              <a:t>Poker</a:t>
            </a:r>
            <a:r>
              <a:rPr lang="es-ES" sz="2800" dirty="0">
                <a:solidFill>
                  <a:schemeClr val="tx1"/>
                </a:solidFill>
              </a:rPr>
              <a:t> - Pasos</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
        <p:nvSpPr>
          <p:cNvPr id="5" name="CuadroTexto 4">
            <a:extLst>
              <a:ext uri="{FF2B5EF4-FFF2-40B4-BE49-F238E27FC236}">
                <a16:creationId xmlns:a16="http://schemas.microsoft.com/office/drawing/2014/main" id="{48ED182B-DE90-3E13-186E-D8D55015B909}"/>
              </a:ext>
            </a:extLst>
          </p:cNvPr>
          <p:cNvSpPr txBox="1"/>
          <p:nvPr/>
        </p:nvSpPr>
        <p:spPr>
          <a:xfrm>
            <a:off x="520997" y="5810865"/>
            <a:ext cx="6098582" cy="369332"/>
          </a:xfrm>
          <a:prstGeom prst="rect">
            <a:avLst/>
          </a:prstGeom>
          <a:noFill/>
        </p:spPr>
        <p:txBody>
          <a:bodyPr wrap="square">
            <a:spAutoFit/>
          </a:bodyPr>
          <a:lstStyle/>
          <a:p>
            <a:r>
              <a:rPr lang="es-AR" sz="1800" b="0" i="0" u="sng" strike="noStrike" cap="none" dirty="0">
                <a:solidFill>
                  <a:srgbClr val="C00000"/>
                </a:solidFill>
                <a:highlight>
                  <a:srgbClr val="FFFFFF"/>
                </a:highlight>
                <a:latin typeface="+mn-lt"/>
                <a:ea typeface="Arial"/>
                <a:cs typeface="Arial"/>
                <a:sym typeface="Arial"/>
                <a:hlinkClick r:id="rId4">
                  <a:extLst>
                    <a:ext uri="{A12FA001-AC4F-418D-AE19-62706E023703}">
                      <ahyp:hlinkClr xmlns:ahyp="http://schemas.microsoft.com/office/drawing/2018/hyperlinkcolor" val="tx"/>
                    </a:ext>
                  </a:extLst>
                </a:hlinkClick>
              </a:rPr>
              <a:t>https://planningpokeronline.com</a:t>
            </a:r>
            <a:r>
              <a:rPr lang="es-AR" sz="1800" b="0" i="0" u="sng" strike="noStrike" cap="none" dirty="0">
                <a:solidFill>
                  <a:srgbClr val="C00000"/>
                </a:solidFill>
                <a:highlight>
                  <a:srgbClr val="FFFFFF"/>
                </a:highlight>
                <a:latin typeface="+mn-lt"/>
                <a:ea typeface="Arial"/>
                <a:cs typeface="Arial"/>
                <a:sym typeface="Arial"/>
              </a:rPr>
              <a:t>/</a:t>
            </a:r>
            <a:endParaRPr lang="es-ES" dirty="0">
              <a:solidFill>
                <a:srgbClr val="C00000"/>
              </a:solidFill>
              <a:latin typeface="+mn-lt"/>
            </a:endParaRPr>
          </a:p>
        </p:txBody>
      </p:sp>
    </p:spTree>
    <p:extLst>
      <p:ext uri="{BB962C8B-B14F-4D97-AF65-F5344CB8AC3E}">
        <p14:creationId xmlns:p14="http://schemas.microsoft.com/office/powerpoint/2010/main" val="2811673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43607D2-8B11-07F8-26AB-C51F4A826079}"/>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E73706A7-7337-D83A-D250-882E3BBCE0D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88C60EBA-1DE1-9916-73E6-7EB15658983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3DDEC38E-1439-0296-E973-23FC7680309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9A6EB0C5-116A-CED7-EDC5-FA4D6C1CA182}"/>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40</a:t>
            </a:fld>
            <a:endParaRPr lang="es-AR"/>
          </a:p>
        </p:txBody>
      </p:sp>
      <p:sp>
        <p:nvSpPr>
          <p:cNvPr id="163" name="Google Shape;163;p4">
            <a:extLst>
              <a:ext uri="{FF2B5EF4-FFF2-40B4-BE49-F238E27FC236}">
                <a16:creationId xmlns:a16="http://schemas.microsoft.com/office/drawing/2014/main" id="{C9F532FB-58AC-AB23-4EA9-69E13CFE44D5}"/>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err="1">
                <a:solidFill>
                  <a:schemeClr val="tx1"/>
                </a:solidFill>
              </a:rPr>
              <a:t>Planning</a:t>
            </a:r>
            <a:r>
              <a:rPr lang="es-ES" sz="2800" dirty="0">
                <a:solidFill>
                  <a:schemeClr val="tx1"/>
                </a:solidFill>
              </a:rPr>
              <a:t> </a:t>
            </a:r>
            <a:r>
              <a:rPr lang="es-ES" sz="2800" dirty="0" err="1">
                <a:solidFill>
                  <a:schemeClr val="tx1"/>
                </a:solidFill>
              </a:rPr>
              <a:t>Poker</a:t>
            </a:r>
            <a:r>
              <a:rPr lang="es-ES" sz="2800" dirty="0">
                <a:solidFill>
                  <a:schemeClr val="tx1"/>
                </a:solidFill>
              </a:rPr>
              <a:t> - Ejemplo</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
        <p:nvSpPr>
          <p:cNvPr id="2" name="Google Shape;532;g358b18b06f9_0_43">
            <a:extLst>
              <a:ext uri="{FF2B5EF4-FFF2-40B4-BE49-F238E27FC236}">
                <a16:creationId xmlns:a16="http://schemas.microsoft.com/office/drawing/2014/main" id="{35B760BC-753B-8152-F504-D01FA901980E}"/>
              </a:ext>
            </a:extLst>
          </p:cNvPr>
          <p:cNvSpPr txBox="1"/>
          <p:nvPr/>
        </p:nvSpPr>
        <p:spPr>
          <a:xfrm>
            <a:off x="1373113" y="2648918"/>
            <a:ext cx="9839400" cy="3062347"/>
          </a:xfrm>
          <a:prstGeom prst="rect">
            <a:avLst/>
          </a:prstGeom>
          <a:noFill/>
          <a:ln>
            <a:solidFill>
              <a:schemeClr val="accent1"/>
            </a:solid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2100"/>
              <a:buFont typeface="Arial"/>
              <a:buNone/>
            </a:pPr>
            <a:r>
              <a:rPr lang="es-AR" sz="2100" b="1" i="0" u="none" strike="noStrike" cap="none" dirty="0">
                <a:solidFill>
                  <a:schemeClr val="dk1"/>
                </a:solidFill>
                <a:highlight>
                  <a:srgbClr val="FFFFFF"/>
                </a:highlight>
                <a:latin typeface="+mn-lt"/>
                <a:ea typeface="Arial"/>
                <a:cs typeface="Arial"/>
                <a:sym typeface="Arial"/>
              </a:rPr>
              <a:t>Historia de usuario: </a:t>
            </a:r>
            <a:r>
              <a:rPr lang="es-AR" sz="2100" i="0" u="none" strike="noStrike" cap="none" dirty="0">
                <a:solidFill>
                  <a:schemeClr val="dk1"/>
                </a:solidFill>
                <a:highlight>
                  <a:srgbClr val="FFFFFF"/>
                </a:highlight>
                <a:latin typeface="+mn-lt"/>
                <a:ea typeface="Arial"/>
                <a:cs typeface="Arial"/>
                <a:sym typeface="Arial"/>
              </a:rPr>
              <a:t>Como administrador</a:t>
            </a:r>
            <a:r>
              <a:rPr lang="es-AR" sz="2100" dirty="0">
                <a:solidFill>
                  <a:schemeClr val="dk1"/>
                </a:solidFill>
                <a:highlight>
                  <a:srgbClr val="FFFFFF"/>
                </a:highlight>
                <a:latin typeface="+mn-lt"/>
                <a:ea typeface="Arial"/>
                <a:cs typeface="Arial"/>
                <a:sym typeface="Arial"/>
              </a:rPr>
              <a:t> </a:t>
            </a:r>
            <a:r>
              <a:rPr lang="es-AR" sz="2100" i="0" u="none" strike="noStrike" cap="none" dirty="0">
                <a:solidFill>
                  <a:schemeClr val="dk1"/>
                </a:solidFill>
                <a:highlight>
                  <a:srgbClr val="FFFFFF"/>
                </a:highlight>
                <a:latin typeface="+mn-lt"/>
                <a:ea typeface="Arial"/>
                <a:cs typeface="Arial"/>
                <a:sym typeface="Arial"/>
              </a:rPr>
              <a:t>quiero generar informes mensuales sobre la actividad de los usuarios y el rendimiento de las ventas.</a:t>
            </a:r>
            <a:endParaRPr sz="2100" i="0" u="none" strike="noStrike" cap="none" dirty="0">
              <a:solidFill>
                <a:schemeClr val="dk1"/>
              </a:solidFill>
              <a:highlight>
                <a:srgbClr val="FFFFFF"/>
              </a:highlight>
              <a:latin typeface="+mn-lt"/>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mn-lt"/>
              <a:ea typeface="Arial"/>
              <a:cs typeface="Arial"/>
              <a:sym typeface="Arial"/>
            </a:endParaRPr>
          </a:p>
          <a:p>
            <a:pPr marL="0" marR="0" lvl="0" indent="0" algn="just" rtl="0">
              <a:lnSpc>
                <a:spcPct val="100000"/>
              </a:lnSpc>
              <a:spcBef>
                <a:spcPts val="0"/>
              </a:spcBef>
              <a:spcAft>
                <a:spcPts val="0"/>
              </a:spcAft>
              <a:buClr>
                <a:srgbClr val="000000"/>
              </a:buClr>
              <a:buSzPts val="2100"/>
              <a:buFont typeface="Arial"/>
              <a:buNone/>
            </a:pPr>
            <a:r>
              <a:rPr lang="es-AR" sz="2100" b="1" i="0" u="none" strike="noStrike" cap="none" dirty="0">
                <a:solidFill>
                  <a:schemeClr val="dk1"/>
                </a:solidFill>
                <a:highlight>
                  <a:srgbClr val="FFFFFF"/>
                </a:highlight>
                <a:latin typeface="+mn-lt"/>
                <a:ea typeface="Arial"/>
                <a:cs typeface="Arial"/>
                <a:sym typeface="Arial"/>
              </a:rPr>
              <a:t>Estimación:</a:t>
            </a:r>
            <a:r>
              <a:rPr lang="es-AR" sz="2100" b="0" i="0" u="none" strike="noStrike" cap="none" dirty="0">
                <a:solidFill>
                  <a:schemeClr val="dk1"/>
                </a:solidFill>
                <a:highlight>
                  <a:srgbClr val="FFFFFF"/>
                </a:highlight>
                <a:latin typeface="+mn-lt"/>
                <a:ea typeface="Arial"/>
                <a:cs typeface="Arial"/>
                <a:sym typeface="Arial"/>
              </a:rPr>
              <a:t> 8 puntos de historia (secuencia de Fibonacci).</a:t>
            </a:r>
            <a:endParaRPr sz="2100" b="0" i="0" u="none" strike="noStrike" cap="none" dirty="0">
              <a:solidFill>
                <a:schemeClr val="dk1"/>
              </a:solidFill>
              <a:highlight>
                <a:srgbClr val="FFFFFF"/>
              </a:highlight>
              <a:latin typeface="+mn-lt"/>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mn-lt"/>
              <a:ea typeface="Arial"/>
              <a:cs typeface="Arial"/>
              <a:sym typeface="Arial"/>
            </a:endParaRPr>
          </a:p>
          <a:p>
            <a:pPr marL="0" marR="0" lvl="0" indent="0" algn="just" rtl="0">
              <a:lnSpc>
                <a:spcPct val="100000"/>
              </a:lnSpc>
              <a:spcBef>
                <a:spcPts val="0"/>
              </a:spcBef>
              <a:spcAft>
                <a:spcPts val="0"/>
              </a:spcAft>
              <a:buClr>
                <a:srgbClr val="000000"/>
              </a:buClr>
              <a:buSzPts val="2100"/>
              <a:buFont typeface="Arial"/>
              <a:buNone/>
            </a:pPr>
            <a:r>
              <a:rPr lang="es-AR" sz="2100" b="1" i="0" u="none" strike="noStrike" cap="none" dirty="0">
                <a:solidFill>
                  <a:schemeClr val="dk1"/>
                </a:solidFill>
                <a:highlight>
                  <a:srgbClr val="FFFFFF"/>
                </a:highlight>
                <a:latin typeface="+mn-lt"/>
                <a:ea typeface="Arial"/>
                <a:cs typeface="Arial"/>
                <a:sym typeface="Arial"/>
              </a:rPr>
              <a:t>Justificación:</a:t>
            </a:r>
            <a:r>
              <a:rPr lang="es-AR" sz="2100" b="0" i="0" u="none" strike="noStrike" cap="none" dirty="0">
                <a:solidFill>
                  <a:schemeClr val="dk1"/>
                </a:solidFill>
                <a:highlight>
                  <a:srgbClr val="FFFFFF"/>
                </a:highlight>
                <a:latin typeface="+mn-lt"/>
                <a:ea typeface="Arial"/>
                <a:cs typeface="Arial"/>
                <a:sym typeface="Arial"/>
              </a:rPr>
              <a:t> El equipo considera que esta historia de usuario es una tarea compleja. Requiere diseñar e implementar funcionalidades de informes, recopilar y agregar datos de múltiples fuentes y generar información valiosa. La complejidad y el esfuerzo que esto implica resultan en una estimación más alta.</a:t>
            </a:r>
            <a:endParaRPr sz="2300" b="0" i="0" u="none" strike="noStrike" cap="none" dirty="0">
              <a:solidFill>
                <a:srgbClr val="000000"/>
              </a:solidFill>
              <a:latin typeface="+mn-lt"/>
              <a:ea typeface="Arial"/>
              <a:cs typeface="Arial"/>
              <a:sym typeface="Arial"/>
            </a:endParaRPr>
          </a:p>
        </p:txBody>
      </p:sp>
    </p:spTree>
    <p:extLst>
      <p:ext uri="{BB962C8B-B14F-4D97-AF65-F5344CB8AC3E}">
        <p14:creationId xmlns:p14="http://schemas.microsoft.com/office/powerpoint/2010/main" val="1524457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6388484-53FD-0B26-74A7-6D5DD7DEEBB6}"/>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0BBA7873-1783-BECA-B627-97E5C420F22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Técnicas de estimación </a:t>
            </a:r>
          </a:p>
        </p:txBody>
      </p:sp>
      <p:sp>
        <p:nvSpPr>
          <p:cNvPr id="160" name="Google Shape;160;p4">
            <a:extLst>
              <a:ext uri="{FF2B5EF4-FFF2-40B4-BE49-F238E27FC236}">
                <a16:creationId xmlns:a16="http://schemas.microsoft.com/office/drawing/2014/main" id="{76363E35-F495-E665-5A48-3C53C537A471}"/>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133F3DC8-33FA-595A-1345-198F342245C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92E2AC4E-D533-C017-E4C8-CA111D3BBFE6}"/>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41</a:t>
            </a:fld>
            <a:endParaRPr lang="es-AR"/>
          </a:p>
        </p:txBody>
      </p:sp>
      <p:sp>
        <p:nvSpPr>
          <p:cNvPr id="163" name="Google Shape;163;p4">
            <a:extLst>
              <a:ext uri="{FF2B5EF4-FFF2-40B4-BE49-F238E27FC236}">
                <a16:creationId xmlns:a16="http://schemas.microsoft.com/office/drawing/2014/main" id="{F5F80CE6-251B-E1EF-84F9-4DE9B8A6E052}"/>
              </a:ext>
            </a:extLst>
          </p:cNvPr>
          <p:cNvSpPr txBox="1">
            <a:spLocks noGrp="1"/>
          </p:cNvSpPr>
          <p:nvPr>
            <p:ph type="body" idx="4294967295"/>
          </p:nvPr>
        </p:nvSpPr>
        <p:spPr>
          <a:xfrm>
            <a:off x="1006809" y="1757426"/>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¿Cuándo usar cada técnica?</a:t>
            </a: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grpSp>
        <p:nvGrpSpPr>
          <p:cNvPr id="5" name="Google Shape;451;p46">
            <a:extLst>
              <a:ext uri="{FF2B5EF4-FFF2-40B4-BE49-F238E27FC236}">
                <a16:creationId xmlns:a16="http://schemas.microsoft.com/office/drawing/2014/main" id="{05E58208-46AA-D335-8FE0-37BBB7188DF5}"/>
              </a:ext>
            </a:extLst>
          </p:cNvPr>
          <p:cNvGrpSpPr/>
          <p:nvPr/>
        </p:nvGrpSpPr>
        <p:grpSpPr>
          <a:xfrm>
            <a:off x="1096963" y="2044027"/>
            <a:ext cx="10436276" cy="4251746"/>
            <a:chOff x="252947" y="1577050"/>
            <a:chExt cx="11358333" cy="5083850"/>
          </a:xfrm>
        </p:grpSpPr>
        <p:grpSp>
          <p:nvGrpSpPr>
            <p:cNvPr id="6" name="Google Shape;452;p46">
              <a:extLst>
                <a:ext uri="{FF2B5EF4-FFF2-40B4-BE49-F238E27FC236}">
                  <a16:creationId xmlns:a16="http://schemas.microsoft.com/office/drawing/2014/main" id="{AA497381-FAF7-5C5E-42B9-EF40D9EEB203}"/>
                </a:ext>
              </a:extLst>
            </p:cNvPr>
            <p:cNvGrpSpPr/>
            <p:nvPr/>
          </p:nvGrpSpPr>
          <p:grpSpPr>
            <a:xfrm>
              <a:off x="252947" y="1577050"/>
              <a:ext cx="8482656" cy="5083850"/>
              <a:chOff x="945" y="-148250"/>
              <a:chExt cx="7740629" cy="5083850"/>
            </a:xfrm>
          </p:grpSpPr>
          <p:sp>
            <p:nvSpPr>
              <p:cNvPr id="11" name="Google Shape;453;p46">
                <a:extLst>
                  <a:ext uri="{FF2B5EF4-FFF2-40B4-BE49-F238E27FC236}">
                    <a16:creationId xmlns:a16="http://schemas.microsoft.com/office/drawing/2014/main" id="{1BA5D0A7-9721-BA3E-9BB6-96A793187FE6}"/>
                  </a:ext>
                </a:extLst>
              </p:cNvPr>
              <p:cNvSpPr/>
              <p:nvPr/>
            </p:nvSpPr>
            <p:spPr>
              <a:xfrm>
                <a:off x="945" y="0"/>
                <a:ext cx="2457342"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454;p46">
                <a:extLst>
                  <a:ext uri="{FF2B5EF4-FFF2-40B4-BE49-F238E27FC236}">
                    <a16:creationId xmlns:a16="http://schemas.microsoft.com/office/drawing/2014/main" id="{0C2BCBAE-5C60-FBC8-82B5-FCA9AB0851D6}"/>
                  </a:ext>
                </a:extLst>
              </p:cNvPr>
              <p:cNvSpPr txBox="1"/>
              <p:nvPr/>
            </p:nvSpPr>
            <p:spPr>
              <a:xfrm>
                <a:off x="945" y="-148250"/>
                <a:ext cx="2457342" cy="964985"/>
              </a:xfrm>
              <a:prstGeom prst="rect">
                <a:avLst/>
              </a:prstGeom>
              <a:noFill/>
              <a:ln>
                <a:noFill/>
              </a:ln>
            </p:spPr>
            <p:txBody>
              <a:bodyPr spcFirstLastPara="1" wrap="square" lIns="72000" tIns="106675" rIns="72000" bIns="106675" anchor="ctr" anchorCtr="0">
                <a:noAutofit/>
              </a:bodyPr>
              <a:lstStyle/>
              <a:p>
                <a:pPr marR="0" lvl="0" algn="ctr" defTabSz="0" rtl="0">
                  <a:lnSpc>
                    <a:spcPct val="90000"/>
                  </a:lnSpc>
                  <a:spcBef>
                    <a:spcPts val="0"/>
                  </a:spcBef>
                  <a:spcAft>
                    <a:spcPts val="0"/>
                  </a:spcAft>
                  <a:buClr>
                    <a:srgbClr val="000000"/>
                  </a:buClr>
                  <a:buSzPts val="2800"/>
                  <a:buFont typeface="Arial"/>
                  <a:buNone/>
                </a:pPr>
                <a:r>
                  <a:rPr lang="es-AR" sz="2200" b="0" i="0" u="none" strike="noStrike" cap="none" dirty="0">
                    <a:solidFill>
                      <a:srgbClr val="000000"/>
                    </a:solidFill>
                    <a:latin typeface="Arial"/>
                    <a:ea typeface="Arial"/>
                    <a:cs typeface="Arial"/>
                    <a:sym typeface="Arial"/>
                  </a:rPr>
                  <a:t>Juicio experto</a:t>
                </a:r>
                <a:endParaRPr sz="2200" b="0" i="0" u="none" strike="noStrike" cap="none" dirty="0">
                  <a:solidFill>
                    <a:srgbClr val="000000"/>
                  </a:solidFill>
                  <a:latin typeface="Arial"/>
                  <a:ea typeface="Arial"/>
                  <a:cs typeface="Arial"/>
                  <a:sym typeface="Arial"/>
                </a:endParaRPr>
              </a:p>
            </p:txBody>
          </p:sp>
          <p:sp>
            <p:nvSpPr>
              <p:cNvPr id="13" name="Google Shape;455;p46">
                <a:extLst>
                  <a:ext uri="{FF2B5EF4-FFF2-40B4-BE49-F238E27FC236}">
                    <a16:creationId xmlns:a16="http://schemas.microsoft.com/office/drawing/2014/main" id="{BAB5D6F7-CC3E-51EA-E760-EA746FADE422}"/>
                  </a:ext>
                </a:extLst>
              </p:cNvPr>
              <p:cNvSpPr/>
              <p:nvPr/>
            </p:nvSpPr>
            <p:spPr>
              <a:xfrm>
                <a:off x="77904" y="558028"/>
                <a:ext cx="2314284" cy="4245949"/>
              </a:xfrm>
              <a:prstGeom prst="roundRect">
                <a:avLst>
                  <a:gd name="adj" fmla="val 10000"/>
                </a:avLst>
              </a:prstGeom>
              <a:gradFill>
                <a:gsLst>
                  <a:gs pos="0">
                    <a:srgbClr val="A74646"/>
                  </a:gs>
                  <a:gs pos="100000">
                    <a:srgbClr val="EDA8A8"/>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456;p46">
                <a:extLst>
                  <a:ext uri="{FF2B5EF4-FFF2-40B4-BE49-F238E27FC236}">
                    <a16:creationId xmlns:a16="http://schemas.microsoft.com/office/drawing/2014/main" id="{270EF0AB-3282-82D8-2AD6-78A1003A27F3}"/>
                  </a:ext>
                </a:extLst>
              </p:cNvPr>
              <p:cNvSpPr txBox="1"/>
              <p:nvPr/>
            </p:nvSpPr>
            <p:spPr>
              <a:xfrm>
                <a:off x="77905" y="816736"/>
                <a:ext cx="2277542" cy="3814507"/>
              </a:xfrm>
              <a:prstGeom prst="rect">
                <a:avLst/>
              </a:prstGeom>
              <a:noFill/>
              <a:ln>
                <a:noFill/>
              </a:ln>
            </p:spPr>
            <p:txBody>
              <a:bodyPr spcFirstLastPara="1" wrap="square" lIns="0" tIns="26650" rIns="0" bIns="26650" anchor="ctr" anchorCtr="0">
                <a:noAutofit/>
              </a:bodyPr>
              <a:lstStyle/>
              <a:p>
                <a:pPr marL="93663" marR="0" lvl="0" indent="-93663" algn="just" rtl="0">
                  <a:lnSpc>
                    <a:spcPct val="90000"/>
                  </a:lnSpc>
                  <a:spcBef>
                    <a:spcPts val="0"/>
                  </a:spcBef>
                  <a:spcAft>
                    <a:spcPts val="0"/>
                  </a:spcAft>
                  <a:buClr>
                    <a:srgbClr val="000000"/>
                  </a:buClr>
                  <a:buSzPts val="1400"/>
                  <a:buFont typeface="Arial" panose="020B0604020202020204" pitchFamily="34" charset="0"/>
                  <a:buChar char="•"/>
                </a:pPr>
                <a:r>
                  <a:rPr lang="es-ES" sz="1400" dirty="0">
                    <a:solidFill>
                      <a:schemeClr val="dk1"/>
                    </a:solidFill>
                    <a:latin typeface="Calibri"/>
                    <a:ea typeface="Calibri"/>
                    <a:cs typeface="Calibri"/>
                    <a:sym typeface="Calibri"/>
                  </a:rPr>
                  <a:t>P</a:t>
                </a:r>
                <a:r>
                  <a:rPr lang="es-ES" sz="1400" b="0" i="0" u="none" strike="noStrike" cap="none" dirty="0">
                    <a:solidFill>
                      <a:schemeClr val="dk1"/>
                    </a:solidFill>
                    <a:latin typeface="Calibri"/>
                    <a:ea typeface="Calibri"/>
                    <a:cs typeface="Calibri"/>
                    <a:sym typeface="Calibri"/>
                  </a:rPr>
                  <a:t>rimeras etapas del proyecto, cuando la información es limitada o el alcance es aún vago. </a:t>
                </a:r>
              </a:p>
              <a:p>
                <a:pPr marL="93663" marR="0" lvl="0" indent="-93663" algn="just" rtl="0">
                  <a:lnSpc>
                    <a:spcPct val="90000"/>
                  </a:lnSpc>
                  <a:spcBef>
                    <a:spcPts val="0"/>
                  </a:spcBef>
                  <a:spcAft>
                    <a:spcPts val="0"/>
                  </a:spcAft>
                  <a:buClr>
                    <a:srgbClr val="000000"/>
                  </a:buClr>
                  <a:buSzPts val="1400"/>
                  <a:buFont typeface="Arial" panose="020B0604020202020204" pitchFamily="34" charset="0"/>
                  <a:buChar char="•"/>
                </a:pPr>
                <a:r>
                  <a:rPr lang="es-ES" sz="1400" b="0" i="0" u="none" strike="noStrike" cap="none" dirty="0">
                    <a:solidFill>
                      <a:schemeClr val="dk1"/>
                    </a:solidFill>
                    <a:latin typeface="Calibri"/>
                    <a:ea typeface="Calibri"/>
                    <a:cs typeface="Calibri"/>
                    <a:sym typeface="Calibri"/>
                  </a:rPr>
                  <a:t>Proyectos pequeños o de corta duración donde la inversión en técnicas más elaboradas no se justifica. </a:t>
                </a:r>
              </a:p>
              <a:p>
                <a:pPr marL="93663" marR="0" lvl="0" indent="-93663" algn="just" rtl="0">
                  <a:lnSpc>
                    <a:spcPct val="90000"/>
                  </a:lnSpc>
                  <a:spcBef>
                    <a:spcPts val="0"/>
                  </a:spcBef>
                  <a:spcAft>
                    <a:spcPts val="0"/>
                  </a:spcAft>
                  <a:buClr>
                    <a:srgbClr val="000000"/>
                  </a:buClr>
                  <a:buSzPts val="1400"/>
                  <a:buFont typeface="Arial" panose="020B0604020202020204" pitchFamily="34" charset="0"/>
                  <a:buChar char="•"/>
                </a:pPr>
                <a:r>
                  <a:rPr lang="es-ES" sz="1400" b="0" i="0" u="none" strike="noStrike" cap="none" dirty="0">
                    <a:solidFill>
                      <a:schemeClr val="dk1"/>
                    </a:solidFill>
                    <a:latin typeface="Calibri"/>
                    <a:ea typeface="Calibri"/>
                    <a:cs typeface="Calibri"/>
                    <a:sym typeface="Calibri"/>
                  </a:rPr>
                  <a:t>Si se necesita una estimación rápida y la precisión extrema no es crítica. </a:t>
                </a:r>
              </a:p>
              <a:p>
                <a:pPr marL="93663" marR="0" lvl="0" indent="-93663" algn="just" rtl="0">
                  <a:lnSpc>
                    <a:spcPct val="90000"/>
                  </a:lnSpc>
                  <a:spcBef>
                    <a:spcPts val="0"/>
                  </a:spcBef>
                  <a:spcAft>
                    <a:spcPts val="0"/>
                  </a:spcAft>
                  <a:buClr>
                    <a:srgbClr val="000000"/>
                  </a:buClr>
                  <a:buSzPts val="1400"/>
                  <a:buFont typeface="Arial" panose="020B0604020202020204" pitchFamily="34" charset="0"/>
                  <a:buChar char="•"/>
                </a:pPr>
                <a:r>
                  <a:rPr lang="es-ES" sz="1400" dirty="0">
                    <a:solidFill>
                      <a:schemeClr val="dk1"/>
                    </a:solidFill>
                    <a:latin typeface="Calibri"/>
                    <a:ea typeface="Calibri"/>
                    <a:cs typeface="Calibri"/>
                    <a:sym typeface="Calibri"/>
                  </a:rPr>
                  <a:t>T</a:t>
                </a:r>
                <a:r>
                  <a:rPr lang="es-ES" sz="1400" b="0" i="0" u="none" strike="noStrike" cap="none" dirty="0">
                    <a:solidFill>
                      <a:schemeClr val="dk1"/>
                    </a:solidFill>
                    <a:latin typeface="Calibri"/>
                    <a:ea typeface="Calibri"/>
                    <a:cs typeface="Calibri"/>
                    <a:sym typeface="Calibri"/>
                  </a:rPr>
                  <a:t>areas o proyectos altamente especializados donde pocas personas poseen el conocimiento necesario. </a:t>
                </a:r>
              </a:p>
              <a:p>
                <a:pPr marL="93663" marR="0" lvl="0" indent="-93663" algn="just" rtl="0">
                  <a:lnSpc>
                    <a:spcPct val="90000"/>
                  </a:lnSpc>
                  <a:spcBef>
                    <a:spcPts val="0"/>
                  </a:spcBef>
                  <a:spcAft>
                    <a:spcPts val="0"/>
                  </a:spcAft>
                  <a:buClr>
                    <a:srgbClr val="000000"/>
                  </a:buClr>
                  <a:buSzPts val="1400"/>
                  <a:buFont typeface="Arial" panose="020B0604020202020204" pitchFamily="34" charset="0"/>
                  <a:buChar char="•"/>
                </a:pPr>
                <a:r>
                  <a:rPr lang="es-ES" sz="1400" b="0" i="0" u="none" strike="noStrike" cap="none" dirty="0">
                    <a:solidFill>
                      <a:schemeClr val="dk1"/>
                    </a:solidFill>
                    <a:latin typeface="Calibri"/>
                    <a:ea typeface="Calibri"/>
                    <a:cs typeface="Calibri"/>
                    <a:sym typeface="Calibri"/>
                  </a:rPr>
                  <a:t>Como punto de partida para refinar con otras técnicas más adelante.</a:t>
                </a:r>
              </a:p>
            </p:txBody>
          </p:sp>
          <p:sp>
            <p:nvSpPr>
              <p:cNvPr id="15" name="Google Shape;457;p46">
                <a:extLst>
                  <a:ext uri="{FF2B5EF4-FFF2-40B4-BE49-F238E27FC236}">
                    <a16:creationId xmlns:a16="http://schemas.microsoft.com/office/drawing/2014/main" id="{0BEE28C2-9AB3-BCD2-F928-CDB023FF7194}"/>
                  </a:ext>
                </a:extLst>
              </p:cNvPr>
              <p:cNvSpPr/>
              <p:nvPr/>
            </p:nvSpPr>
            <p:spPr>
              <a:xfrm>
                <a:off x="2642588" y="0"/>
                <a:ext cx="2457342"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458;p46">
                <a:extLst>
                  <a:ext uri="{FF2B5EF4-FFF2-40B4-BE49-F238E27FC236}">
                    <a16:creationId xmlns:a16="http://schemas.microsoft.com/office/drawing/2014/main" id="{D42B7708-315C-95E3-3C82-83D1E2971E0A}"/>
                  </a:ext>
                </a:extLst>
              </p:cNvPr>
              <p:cNvSpPr txBox="1"/>
              <p:nvPr/>
            </p:nvSpPr>
            <p:spPr>
              <a:xfrm>
                <a:off x="2642588" y="-148250"/>
                <a:ext cx="2457342" cy="964985"/>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s-AR" sz="2200" b="0" i="0" u="none" strike="noStrike" cap="none" dirty="0">
                    <a:solidFill>
                      <a:srgbClr val="000000"/>
                    </a:solidFill>
                    <a:latin typeface="Arial"/>
                    <a:ea typeface="Arial"/>
                    <a:cs typeface="Arial"/>
                    <a:sym typeface="Arial"/>
                  </a:rPr>
                  <a:t>Técnica Delphi</a:t>
                </a:r>
                <a:endParaRPr sz="2200" b="0" i="0" u="none" strike="noStrike" cap="none" dirty="0">
                  <a:solidFill>
                    <a:srgbClr val="000000"/>
                  </a:solidFill>
                  <a:latin typeface="Arial"/>
                  <a:ea typeface="Arial"/>
                  <a:cs typeface="Arial"/>
                  <a:sym typeface="Arial"/>
                </a:endParaRPr>
              </a:p>
            </p:txBody>
          </p:sp>
          <p:sp>
            <p:nvSpPr>
              <p:cNvPr id="17" name="Google Shape;459;p46">
                <a:extLst>
                  <a:ext uri="{FF2B5EF4-FFF2-40B4-BE49-F238E27FC236}">
                    <a16:creationId xmlns:a16="http://schemas.microsoft.com/office/drawing/2014/main" id="{A0D239B1-2D52-E357-5CD0-1F2891CDAB06}"/>
                  </a:ext>
                </a:extLst>
              </p:cNvPr>
              <p:cNvSpPr/>
              <p:nvPr/>
            </p:nvSpPr>
            <p:spPr>
              <a:xfrm>
                <a:off x="2727924" y="558037"/>
                <a:ext cx="2314758" cy="4245705"/>
              </a:xfrm>
              <a:prstGeom prst="roundRect">
                <a:avLst>
                  <a:gd name="adj" fmla="val 10000"/>
                </a:avLst>
              </a:prstGeom>
              <a:gradFill>
                <a:gsLst>
                  <a:gs pos="0">
                    <a:srgbClr val="FF8401"/>
                  </a:gs>
                  <a:gs pos="100000">
                    <a:srgbClr val="FFB374"/>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460;p46">
                <a:extLst>
                  <a:ext uri="{FF2B5EF4-FFF2-40B4-BE49-F238E27FC236}">
                    <a16:creationId xmlns:a16="http://schemas.microsoft.com/office/drawing/2014/main" id="{C522EAFE-C174-7872-712D-3FF902EEFFE9}"/>
                  </a:ext>
                </a:extLst>
              </p:cNvPr>
              <p:cNvSpPr txBox="1"/>
              <p:nvPr/>
            </p:nvSpPr>
            <p:spPr>
              <a:xfrm>
                <a:off x="2713436" y="558028"/>
                <a:ext cx="2324731" cy="4245705"/>
              </a:xfrm>
              <a:prstGeom prst="rect">
                <a:avLst/>
              </a:prstGeom>
              <a:noFill/>
              <a:ln>
                <a:noFill/>
              </a:ln>
            </p:spPr>
            <p:txBody>
              <a:bodyPr spcFirstLastPara="1" wrap="square" lIns="0" tIns="26650" rIns="0" bIns="26650" anchor="ctr" anchorCtr="0">
                <a:noAutofit/>
              </a:bodyPr>
              <a:lstStyle>
                <a:defPPr>
                  <a:defRPr lang="en-US"/>
                </a:defPPr>
                <a:lvl1pPr marL="93663" marR="0" lvl="0" indent="-93663" algn="just">
                  <a:lnSpc>
                    <a:spcPct val="90000"/>
                  </a:lnSpc>
                  <a:spcBef>
                    <a:spcPts val="0"/>
                  </a:spcBef>
                  <a:spcAft>
                    <a:spcPts val="0"/>
                  </a:spcAft>
                  <a:buClr>
                    <a:srgbClr val="000000"/>
                  </a:buClr>
                  <a:buSzPts val="1400"/>
                  <a:buFont typeface="Arial" panose="020B0604020202020204" pitchFamily="34" charset="0"/>
                  <a:buChar char="•"/>
                  <a:defRPr sz="1400">
                    <a:solidFill>
                      <a:schemeClr val="dk1"/>
                    </a:solidFill>
                    <a:latin typeface="Calibri"/>
                    <a:ea typeface="Calibri"/>
                    <a:cs typeface="Calibri"/>
                  </a:defRPr>
                </a:lvl1pPr>
              </a:lstStyle>
              <a:p>
                <a:r>
                  <a:rPr lang="es-ES" dirty="0">
                    <a:sym typeface="Calibri"/>
                  </a:rPr>
                  <a:t>Si se busca obtener un consenso de un grupo diverso de expertos, incluso si están geográficamente dispersos. </a:t>
                </a:r>
                <a:endParaRPr lang="es-ES" dirty="0"/>
              </a:p>
              <a:p>
                <a:r>
                  <a:rPr lang="es-ES" dirty="0">
                    <a:sym typeface="Calibri"/>
                  </a:rPr>
                  <a:t>Proyectos complejos o de alto riesgo donde el sesgo de una sola persona o las dinámicas grupales pueden influir negativamente. </a:t>
                </a:r>
              </a:p>
              <a:p>
                <a:r>
                  <a:rPr lang="es-ES" dirty="0">
                    <a:sym typeface="Calibri"/>
                  </a:rPr>
                  <a:t>Si no hay datos históricos suficientes y se depende en gran medida de la experiencia subjetiva. </a:t>
                </a:r>
                <a:endParaRPr lang="es-ES" dirty="0"/>
              </a:p>
              <a:p>
                <a:r>
                  <a:rPr lang="es-ES" dirty="0">
                    <a:sym typeface="Calibri"/>
                  </a:rPr>
                  <a:t>Para mitigar el efecto de la personalidad dominante en las discusiones grupales, ya que las respuestas son anónimas. </a:t>
                </a:r>
              </a:p>
            </p:txBody>
          </p:sp>
          <p:sp>
            <p:nvSpPr>
              <p:cNvPr id="19" name="Google Shape;461;p46">
                <a:extLst>
                  <a:ext uri="{FF2B5EF4-FFF2-40B4-BE49-F238E27FC236}">
                    <a16:creationId xmlns:a16="http://schemas.microsoft.com/office/drawing/2014/main" id="{A0A922FA-8F8D-785F-F7DC-07B1473C0064}"/>
                  </a:ext>
                </a:extLst>
              </p:cNvPr>
              <p:cNvSpPr/>
              <p:nvPr/>
            </p:nvSpPr>
            <p:spPr>
              <a:xfrm>
                <a:off x="5284232" y="0"/>
                <a:ext cx="2457342"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462;p46">
                <a:extLst>
                  <a:ext uri="{FF2B5EF4-FFF2-40B4-BE49-F238E27FC236}">
                    <a16:creationId xmlns:a16="http://schemas.microsoft.com/office/drawing/2014/main" id="{989763F0-7C29-58CC-D6CF-878BD2311E68}"/>
                  </a:ext>
                </a:extLst>
              </p:cNvPr>
              <p:cNvSpPr txBox="1"/>
              <p:nvPr/>
            </p:nvSpPr>
            <p:spPr>
              <a:xfrm>
                <a:off x="5284232" y="-148250"/>
                <a:ext cx="2457342" cy="964985"/>
              </a:xfrm>
              <a:prstGeom prst="rect">
                <a:avLst/>
              </a:prstGeom>
              <a:noFill/>
              <a:ln>
                <a:noFill/>
              </a:ln>
            </p:spPr>
            <p:txBody>
              <a:bodyPr spcFirstLastPara="1" wrap="square" lIns="36000" tIns="106675" rIns="36000" bIns="10667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s-AR" sz="2200" b="0" i="0" u="none" strike="noStrike" cap="none" dirty="0">
                    <a:solidFill>
                      <a:srgbClr val="000000"/>
                    </a:solidFill>
                    <a:latin typeface="Arial"/>
                    <a:ea typeface="Arial"/>
                    <a:cs typeface="Arial"/>
                    <a:sym typeface="Arial"/>
                  </a:rPr>
                  <a:t>División de Trabajo</a:t>
                </a:r>
                <a:endParaRPr sz="2200" b="0" i="0" u="none" strike="noStrike" cap="none" dirty="0">
                  <a:solidFill>
                    <a:srgbClr val="000000"/>
                  </a:solidFill>
                  <a:latin typeface="Arial"/>
                  <a:ea typeface="Arial"/>
                  <a:cs typeface="Arial"/>
                  <a:sym typeface="Arial"/>
                </a:endParaRPr>
              </a:p>
            </p:txBody>
          </p:sp>
          <p:sp>
            <p:nvSpPr>
              <p:cNvPr id="21" name="Google Shape;463;p46">
                <a:extLst>
                  <a:ext uri="{FF2B5EF4-FFF2-40B4-BE49-F238E27FC236}">
                    <a16:creationId xmlns:a16="http://schemas.microsoft.com/office/drawing/2014/main" id="{6523CE84-5DEC-6C07-270F-148CD9086B09}"/>
                  </a:ext>
                </a:extLst>
              </p:cNvPr>
              <p:cNvSpPr/>
              <p:nvPr/>
            </p:nvSpPr>
            <p:spPr>
              <a:xfrm>
                <a:off x="5369568" y="558037"/>
                <a:ext cx="2314758" cy="4245705"/>
              </a:xfrm>
              <a:prstGeom prst="roundRect">
                <a:avLst>
                  <a:gd name="adj" fmla="val 10000"/>
                </a:avLst>
              </a:prstGeom>
              <a:gradFill>
                <a:gsLst>
                  <a:gs pos="0">
                    <a:srgbClr val="8D653C"/>
                  </a:gs>
                  <a:gs pos="100000">
                    <a:srgbClr val="DEC2AD"/>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 name="Google Shape;465;p46">
              <a:extLst>
                <a:ext uri="{FF2B5EF4-FFF2-40B4-BE49-F238E27FC236}">
                  <a16:creationId xmlns:a16="http://schemas.microsoft.com/office/drawing/2014/main" id="{493C6FD2-760A-879F-6517-A5D73FC7F60E}"/>
                </a:ext>
              </a:extLst>
            </p:cNvPr>
            <p:cNvSpPr/>
            <p:nvPr/>
          </p:nvSpPr>
          <p:spPr>
            <a:xfrm>
              <a:off x="8918374" y="1725300"/>
              <a:ext cx="2692906" cy="4935600"/>
            </a:xfrm>
            <a:prstGeom prst="roundRect">
              <a:avLst>
                <a:gd name="adj" fmla="val 10000"/>
              </a:avLst>
            </a:prstGeom>
            <a:gradFill>
              <a:gsLst>
                <a:gs pos="0">
                  <a:srgbClr val="E0CCCC"/>
                </a:gs>
                <a:gs pos="100000">
                  <a:srgbClr val="F7DFDF"/>
                </a:gs>
              </a:gsLst>
              <a:lin ang="162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466;p46">
              <a:extLst>
                <a:ext uri="{FF2B5EF4-FFF2-40B4-BE49-F238E27FC236}">
                  <a16:creationId xmlns:a16="http://schemas.microsoft.com/office/drawing/2014/main" id="{CC2F64E5-C2E1-4D50-A604-330C9E1E1CD3}"/>
                </a:ext>
              </a:extLst>
            </p:cNvPr>
            <p:cNvSpPr txBox="1"/>
            <p:nvPr/>
          </p:nvSpPr>
          <p:spPr>
            <a:xfrm>
              <a:off x="8902498" y="1577050"/>
              <a:ext cx="2692906" cy="964985"/>
            </a:xfrm>
            <a:prstGeom prst="rect">
              <a:avLst/>
            </a:prstGeom>
            <a:noFill/>
            <a:ln>
              <a:noFill/>
            </a:ln>
          </p:spPr>
          <p:txBody>
            <a:bodyPr spcFirstLastPara="1" wrap="square" lIns="106675" tIns="106675" rIns="106675" bIns="106675" anchor="ctr" anchorCtr="0">
              <a:noAutofit/>
            </a:bodyPr>
            <a:lstStyle/>
            <a:p>
              <a:pPr marL="0" marR="0" lvl="0" indent="0" algn="ctr" rtl="0">
                <a:lnSpc>
                  <a:spcPct val="90000"/>
                </a:lnSpc>
                <a:spcBef>
                  <a:spcPts val="0"/>
                </a:spcBef>
                <a:spcAft>
                  <a:spcPts val="0"/>
                </a:spcAft>
                <a:buClr>
                  <a:srgbClr val="000000"/>
                </a:buClr>
                <a:buSzPts val="2800"/>
                <a:buFont typeface="Arial"/>
                <a:buNone/>
              </a:pPr>
              <a:r>
                <a:rPr lang="es-AR" sz="2200" b="0" i="0" u="none" strike="noStrike" cap="none" dirty="0" err="1">
                  <a:solidFill>
                    <a:srgbClr val="000000"/>
                  </a:solidFill>
                  <a:latin typeface="Arial"/>
                  <a:ea typeface="Arial"/>
                  <a:cs typeface="Arial"/>
                  <a:sym typeface="Arial"/>
                </a:rPr>
                <a:t>Planning</a:t>
              </a:r>
              <a:r>
                <a:rPr lang="es-AR" sz="2200" b="0" i="0" u="none" strike="noStrike" cap="none" dirty="0">
                  <a:solidFill>
                    <a:srgbClr val="000000"/>
                  </a:solidFill>
                  <a:latin typeface="Arial"/>
                  <a:ea typeface="Arial"/>
                  <a:cs typeface="Arial"/>
                  <a:sym typeface="Arial"/>
                </a:rPr>
                <a:t> </a:t>
              </a:r>
              <a:r>
                <a:rPr lang="es-AR" sz="2200" b="0" i="0" u="none" strike="noStrike" cap="none" dirty="0" err="1">
                  <a:solidFill>
                    <a:srgbClr val="000000"/>
                  </a:solidFill>
                  <a:latin typeface="Arial"/>
                  <a:ea typeface="Arial"/>
                  <a:cs typeface="Arial"/>
                  <a:sym typeface="Arial"/>
                </a:rPr>
                <a:t>Poker</a:t>
              </a:r>
              <a:endParaRPr sz="2200" b="0" i="0" u="none" strike="noStrike" cap="none" dirty="0">
                <a:solidFill>
                  <a:srgbClr val="000000"/>
                </a:solidFill>
                <a:latin typeface="Arial"/>
                <a:ea typeface="Arial"/>
                <a:cs typeface="Arial"/>
                <a:sym typeface="Arial"/>
              </a:endParaRPr>
            </a:p>
          </p:txBody>
        </p:sp>
        <p:sp>
          <p:nvSpPr>
            <p:cNvPr id="9" name="Google Shape;467;p46">
              <a:extLst>
                <a:ext uri="{FF2B5EF4-FFF2-40B4-BE49-F238E27FC236}">
                  <a16:creationId xmlns:a16="http://schemas.microsoft.com/office/drawing/2014/main" id="{EFA2C86A-8896-4B67-2997-9120BEE06660}"/>
                </a:ext>
              </a:extLst>
            </p:cNvPr>
            <p:cNvSpPr/>
            <p:nvPr/>
          </p:nvSpPr>
          <p:spPr>
            <a:xfrm>
              <a:off x="9014679" y="2283337"/>
              <a:ext cx="2536654" cy="4245705"/>
            </a:xfrm>
            <a:prstGeom prst="roundRect">
              <a:avLst>
                <a:gd name="adj" fmla="val 10000"/>
              </a:avLst>
            </a:prstGeom>
            <a:gradFill>
              <a:gsLst>
                <a:gs pos="0">
                  <a:srgbClr val="8D653C"/>
                </a:gs>
                <a:gs pos="100000">
                  <a:srgbClr val="DEC2AD"/>
                </a:gs>
              </a:gsLst>
              <a:lin ang="16200000" scaled="0"/>
            </a:gradFill>
            <a:ln>
              <a:noFill/>
            </a:ln>
            <a:effectLst>
              <a:outerShdw blurRad="40000" dist="23000" dir="5400000"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 name="Google Shape;460;p46">
            <a:extLst>
              <a:ext uri="{FF2B5EF4-FFF2-40B4-BE49-F238E27FC236}">
                <a16:creationId xmlns:a16="http://schemas.microsoft.com/office/drawing/2014/main" id="{D03F3282-BDA5-E5DE-89BF-063AF234E841}"/>
              </a:ext>
            </a:extLst>
          </p:cNvPr>
          <p:cNvSpPr txBox="1"/>
          <p:nvPr/>
        </p:nvSpPr>
        <p:spPr>
          <a:xfrm>
            <a:off x="6493134" y="2614870"/>
            <a:ext cx="2340773" cy="3550785"/>
          </a:xfrm>
          <a:prstGeom prst="rect">
            <a:avLst/>
          </a:prstGeom>
          <a:noFill/>
          <a:ln>
            <a:noFill/>
          </a:ln>
        </p:spPr>
        <p:txBody>
          <a:bodyPr spcFirstLastPara="1" wrap="square" lIns="0" tIns="26650" rIns="0" bIns="26650" anchor="ctr" anchorCtr="0">
            <a:noAutofit/>
          </a:bodyPr>
          <a:lstStyle>
            <a:defPPr>
              <a:defRPr lang="en-US"/>
            </a:defPPr>
            <a:lvl1pPr marL="93663" marR="0" lvl="0" indent="-93663" algn="just">
              <a:lnSpc>
                <a:spcPct val="90000"/>
              </a:lnSpc>
              <a:spcBef>
                <a:spcPts val="0"/>
              </a:spcBef>
              <a:spcAft>
                <a:spcPts val="0"/>
              </a:spcAft>
              <a:buClr>
                <a:srgbClr val="000000"/>
              </a:buClr>
              <a:buSzPts val="1400"/>
              <a:buFont typeface="Arial" panose="020B0604020202020204" pitchFamily="34" charset="0"/>
              <a:buChar char="•"/>
              <a:defRPr sz="1400">
                <a:solidFill>
                  <a:schemeClr val="dk1"/>
                </a:solidFill>
                <a:latin typeface="Calibri"/>
                <a:ea typeface="Calibri"/>
                <a:cs typeface="Calibri"/>
              </a:defRPr>
            </a:lvl1pPr>
          </a:lstStyle>
          <a:p>
            <a:r>
              <a:rPr lang="es-ES" dirty="0">
                <a:sym typeface="Calibri"/>
              </a:rPr>
              <a:t>Proyectos grandes y complejos que necesitan ser descompuestos en componentes manejables. </a:t>
            </a:r>
          </a:p>
          <a:p>
            <a:r>
              <a:rPr lang="es-ES" dirty="0">
                <a:sym typeface="Calibri"/>
              </a:rPr>
              <a:t>Si se requiere un alto nivel de detalle y visibilidad sobre el alcance del proyecto. </a:t>
            </a:r>
          </a:p>
          <a:p>
            <a:r>
              <a:rPr lang="es-ES" dirty="0">
                <a:sym typeface="Calibri"/>
              </a:rPr>
              <a:t>Para asignar responsabilidades claras a equipos o individuos para partes específicas del proyecto. </a:t>
            </a:r>
          </a:p>
          <a:p>
            <a:r>
              <a:rPr lang="es-ES" dirty="0">
                <a:sym typeface="Calibri"/>
              </a:rPr>
              <a:t>Como base para la planificación, seguimiento y control del proyecto. </a:t>
            </a:r>
          </a:p>
          <a:p>
            <a:r>
              <a:rPr lang="es-ES" dirty="0">
                <a:sym typeface="Calibri"/>
              </a:rPr>
              <a:t>Se suele usar junto con otras técnicas una vez que las tareas de bajo nivel han sido definidas. </a:t>
            </a:r>
          </a:p>
        </p:txBody>
      </p:sp>
      <p:sp>
        <p:nvSpPr>
          <p:cNvPr id="24" name="Google Shape;460;p46">
            <a:extLst>
              <a:ext uri="{FF2B5EF4-FFF2-40B4-BE49-F238E27FC236}">
                <a16:creationId xmlns:a16="http://schemas.microsoft.com/office/drawing/2014/main" id="{FDF8F11D-4DDA-CBED-3AB5-E19DAF9E9B7B}"/>
              </a:ext>
            </a:extLst>
          </p:cNvPr>
          <p:cNvSpPr txBox="1"/>
          <p:nvPr/>
        </p:nvSpPr>
        <p:spPr>
          <a:xfrm>
            <a:off x="9125702" y="2612200"/>
            <a:ext cx="2340773" cy="3550785"/>
          </a:xfrm>
          <a:prstGeom prst="rect">
            <a:avLst/>
          </a:prstGeom>
          <a:noFill/>
          <a:ln>
            <a:noFill/>
          </a:ln>
        </p:spPr>
        <p:txBody>
          <a:bodyPr spcFirstLastPara="1" wrap="square" lIns="0" tIns="26650" rIns="0" bIns="26650" anchor="ctr" anchorCtr="0">
            <a:noAutofit/>
          </a:bodyPr>
          <a:lstStyle>
            <a:defPPr>
              <a:defRPr lang="en-US"/>
            </a:defPPr>
            <a:lvl1pPr marL="93663" marR="0" lvl="0" indent="-93663" algn="just">
              <a:lnSpc>
                <a:spcPct val="90000"/>
              </a:lnSpc>
              <a:spcBef>
                <a:spcPts val="0"/>
              </a:spcBef>
              <a:spcAft>
                <a:spcPts val="0"/>
              </a:spcAft>
              <a:buClr>
                <a:srgbClr val="000000"/>
              </a:buClr>
              <a:buSzPts val="1400"/>
              <a:buFont typeface="Arial" panose="020B0604020202020204" pitchFamily="34" charset="0"/>
              <a:buChar char="•"/>
              <a:defRPr sz="1400">
                <a:solidFill>
                  <a:schemeClr val="dk1"/>
                </a:solidFill>
                <a:latin typeface="Calibri"/>
                <a:ea typeface="Calibri"/>
                <a:cs typeface="Calibri"/>
              </a:defRPr>
            </a:lvl1pPr>
          </a:lstStyle>
          <a:p>
            <a:r>
              <a:rPr lang="es-ES" dirty="0">
                <a:sym typeface="Calibri"/>
              </a:rPr>
              <a:t>Si se usan metodologías ágiles, para estimar HU o elementos del backlog. </a:t>
            </a:r>
          </a:p>
          <a:p>
            <a:r>
              <a:rPr lang="es-ES" dirty="0">
                <a:sym typeface="Calibri"/>
              </a:rPr>
              <a:t>Si se desea fomentar la colaboración y el consenso dentro del equipo.</a:t>
            </a:r>
          </a:p>
          <a:p>
            <a:r>
              <a:rPr lang="es-ES" dirty="0">
                <a:sym typeface="Calibri"/>
              </a:rPr>
              <a:t>Para identificar y discutir suposiciones, dependencias y riesgos de las tareas de forma proactiva.</a:t>
            </a:r>
          </a:p>
          <a:p>
            <a:r>
              <a:rPr lang="es-ES" dirty="0">
                <a:sym typeface="Calibri"/>
              </a:rPr>
              <a:t>Si se busca que el equipo sea dueño de sus propias estimaciones (mayor precisión y compromiso). </a:t>
            </a:r>
          </a:p>
          <a:p>
            <a:r>
              <a:rPr lang="es-ES" dirty="0">
                <a:sym typeface="Calibri"/>
              </a:rPr>
              <a:t>Elementos que varían en complejidad y requieren una discusión abierta para ser bien entendidos.</a:t>
            </a:r>
          </a:p>
        </p:txBody>
      </p:sp>
    </p:spTree>
    <p:extLst>
      <p:ext uri="{BB962C8B-B14F-4D97-AF65-F5344CB8AC3E}">
        <p14:creationId xmlns:p14="http://schemas.microsoft.com/office/powerpoint/2010/main" val="16841536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A119476-D8C2-72F1-F95E-4974236D8703}"/>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2D30E8C-48D6-85A4-718D-CD38072A05D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63BFCD43-7AE9-2582-03FC-0ABA598E797F}"/>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74A9B134-625D-CA11-9AB0-FD98061755E4}"/>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6EF5244C-ACD2-1423-D528-DD45C253A7BF}"/>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42</a:t>
            </a:fld>
            <a:endParaRPr lang="es-AR"/>
          </a:p>
        </p:txBody>
      </p:sp>
      <p:sp>
        <p:nvSpPr>
          <p:cNvPr id="163" name="Google Shape;163;p4">
            <a:extLst>
              <a:ext uri="{FF2B5EF4-FFF2-40B4-BE49-F238E27FC236}">
                <a16:creationId xmlns:a16="http://schemas.microsoft.com/office/drawing/2014/main" id="{6130FD27-FF2E-D3E9-F1AA-C79A5F8C37F4}"/>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(Constructive </a:t>
            </a:r>
            <a:r>
              <a:rPr lang="es-ES" sz="2800" dirty="0" err="1">
                <a:solidFill>
                  <a:schemeClr val="tx1"/>
                </a:solidFill>
              </a:rPr>
              <a:t>Cost</a:t>
            </a:r>
            <a:r>
              <a:rPr lang="es-ES" sz="2800" dirty="0">
                <a:solidFill>
                  <a:schemeClr val="tx1"/>
                </a:solidFill>
              </a:rPr>
              <a:t> </a:t>
            </a:r>
            <a:r>
              <a:rPr lang="es-ES" sz="2800" dirty="0" err="1">
                <a:solidFill>
                  <a:schemeClr val="tx1"/>
                </a:solidFill>
              </a:rPr>
              <a:t>Model</a:t>
            </a:r>
            <a:r>
              <a:rPr lang="es-ES" sz="2800" dirty="0">
                <a:solidFill>
                  <a:schemeClr val="tx1"/>
                </a:solidFill>
              </a:rPr>
              <a:t>) </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Modelo de estimación de costos para proyectos de software, desarrollado por Barry Boehm. </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Utiliza fórmulas matemáticas para predecir el esfuerzo, el tiempo y el costo de un proyecto de software en función de su tamaño, complejidad y otros factores.</a:t>
            </a:r>
          </a:p>
          <a:p>
            <a:pPr marL="620713" lvl="0" indent="-357188"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Características:</a:t>
            </a:r>
          </a:p>
          <a:p>
            <a:pPr marL="898525" lvl="0" indent="-277813" algn="just">
              <a:lnSpc>
                <a:spcPct val="85000"/>
              </a:lnSpc>
              <a:spcBef>
                <a:spcPts val="0"/>
              </a:spcBef>
              <a:spcAft>
                <a:spcPts val="0"/>
              </a:spcAft>
              <a:buClrTx/>
              <a:buFont typeface="Arial" panose="020B0604020202020204" pitchFamily="34" charset="0"/>
              <a:buChar char="•"/>
            </a:pPr>
            <a:r>
              <a:rPr lang="es-ES" sz="2400" dirty="0">
                <a:solidFill>
                  <a:schemeClr val="tx1"/>
                </a:solidFill>
              </a:rPr>
              <a:t>Se basa en la experiencia y en datos de proyectos reales. </a:t>
            </a:r>
          </a:p>
          <a:p>
            <a:pPr marL="898525" lvl="0" indent="-277813" algn="just">
              <a:lnSpc>
                <a:spcPct val="85000"/>
              </a:lnSpc>
              <a:spcBef>
                <a:spcPts val="0"/>
              </a:spcBef>
              <a:spcAft>
                <a:spcPts val="0"/>
              </a:spcAft>
              <a:buClrTx/>
              <a:buFont typeface="Arial" panose="020B0604020202020204" pitchFamily="34" charset="0"/>
              <a:buChar char="•"/>
            </a:pPr>
            <a:r>
              <a:rPr lang="es-ES" sz="2400" dirty="0">
                <a:solidFill>
                  <a:schemeClr val="tx1"/>
                </a:solidFill>
              </a:rPr>
              <a:t>Considera factores como el tamaño del proyecto, la complejidad del código, la experiencia del equipo y el entorno de desarrollo. </a:t>
            </a:r>
          </a:p>
          <a:p>
            <a:pPr marL="898525" lvl="0" indent="-277813" algn="just">
              <a:lnSpc>
                <a:spcPct val="85000"/>
              </a:lnSpc>
              <a:spcBef>
                <a:spcPts val="0"/>
              </a:spcBef>
              <a:spcAft>
                <a:spcPts val="0"/>
              </a:spcAft>
              <a:buClrTx/>
              <a:buFont typeface="Arial" panose="020B0604020202020204" pitchFamily="34" charset="0"/>
              <a:buChar char="•"/>
            </a:pPr>
            <a:r>
              <a:rPr lang="es-ES" sz="2400" dirty="0">
                <a:solidFill>
                  <a:schemeClr val="tx1"/>
                </a:solidFill>
              </a:rPr>
              <a:t>Ofrece diferentes niveles de detalle para la estimación, desde modelos básicos hasta modelos detallados.</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
        <p:nvSpPr>
          <p:cNvPr id="4" name="CuadroTexto 3">
            <a:extLst>
              <a:ext uri="{FF2B5EF4-FFF2-40B4-BE49-F238E27FC236}">
                <a16:creationId xmlns:a16="http://schemas.microsoft.com/office/drawing/2014/main" id="{8FAAD69A-EE7C-1E10-4E09-E112633D2245}"/>
              </a:ext>
            </a:extLst>
          </p:cNvPr>
          <p:cNvSpPr txBox="1"/>
          <p:nvPr/>
        </p:nvSpPr>
        <p:spPr>
          <a:xfrm>
            <a:off x="6341807" y="6036780"/>
            <a:ext cx="6666270" cy="303416"/>
          </a:xfrm>
          <a:prstGeom prst="rect">
            <a:avLst/>
          </a:prstGeom>
          <a:noFill/>
        </p:spPr>
        <p:txBody>
          <a:bodyPr wrap="square">
            <a:spAutoFit/>
          </a:bodyPr>
          <a:lstStyle/>
          <a:p>
            <a:pPr marL="457200" marR="0" lvl="0" indent="0" algn="l" rtl="0">
              <a:lnSpc>
                <a:spcPct val="85000"/>
              </a:lnSpc>
              <a:spcBef>
                <a:spcPts val="0"/>
              </a:spcBef>
              <a:spcAft>
                <a:spcPts val="0"/>
              </a:spcAft>
              <a:buClr>
                <a:srgbClr val="000000"/>
              </a:buClr>
              <a:buSzPts val="2400"/>
              <a:buFont typeface="Arial"/>
              <a:buNone/>
            </a:pPr>
            <a:r>
              <a:rPr lang="es-AR" sz="1600" b="0" i="0" u="sng" strike="noStrike" cap="none" dirty="0">
                <a:solidFill>
                  <a:srgbClr val="C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https://strs.grc.nasa.gov/repository/forms/cocomo-calculation</a:t>
            </a:r>
            <a:r>
              <a:rPr lang="es-AR" sz="1600" b="0" i="0" u="sng" strike="noStrike" cap="none" dirty="0">
                <a:solidFill>
                  <a:srgbClr val="C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a:t>
            </a:r>
            <a:endParaRPr lang="es-AR" sz="1600" b="0" i="0" u="none" strike="noStrike" cap="none" dirty="0">
              <a:solidFill>
                <a:srgbClr val="C00000"/>
              </a:solidFill>
              <a:latin typeface="Calibri"/>
              <a:ea typeface="Calibri"/>
              <a:cs typeface="Calibri"/>
              <a:sym typeface="Calibri"/>
            </a:endParaRPr>
          </a:p>
        </p:txBody>
      </p:sp>
    </p:spTree>
    <p:extLst>
      <p:ext uri="{BB962C8B-B14F-4D97-AF65-F5344CB8AC3E}">
        <p14:creationId xmlns:p14="http://schemas.microsoft.com/office/powerpoint/2010/main" val="59810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3">
                                            <p:txEl>
                                              <p:pRg st="4" end="4"/>
                                            </p:txEl>
                                          </p:spTgt>
                                        </p:tgtEl>
                                        <p:attrNameLst>
                                          <p:attrName>style.visibility</p:attrName>
                                        </p:attrNameLst>
                                      </p:cBhvr>
                                      <p:to>
                                        <p:strVal val="visible"/>
                                      </p:to>
                                    </p:set>
                                    <p:animEffect transition="in" filter="fade">
                                      <p:cBhvr>
                                        <p:cTn id="15" dur="500"/>
                                        <p:tgtEl>
                                          <p:spTgt spid="16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3">
                                            <p:txEl>
                                              <p:pRg st="5" end="5"/>
                                            </p:txEl>
                                          </p:spTgt>
                                        </p:tgtEl>
                                        <p:attrNameLst>
                                          <p:attrName>style.visibility</p:attrName>
                                        </p:attrNameLst>
                                      </p:cBhvr>
                                      <p:to>
                                        <p:strVal val="visible"/>
                                      </p:to>
                                    </p:set>
                                    <p:animEffect transition="in" filter="fade">
                                      <p:cBhvr>
                                        <p:cTn id="18" dur="500"/>
                                        <p:tgtEl>
                                          <p:spTgt spid="16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63">
                                            <p:txEl>
                                              <p:pRg st="6" end="6"/>
                                            </p:txEl>
                                          </p:spTgt>
                                        </p:tgtEl>
                                        <p:attrNameLst>
                                          <p:attrName>style.visibility</p:attrName>
                                        </p:attrNameLst>
                                      </p:cBhvr>
                                      <p:to>
                                        <p:strVal val="visible"/>
                                      </p:to>
                                    </p:set>
                                    <p:animEffect transition="in" filter="fade">
                                      <p:cBhvr>
                                        <p:cTn id="21" dur="500"/>
                                        <p:tgtEl>
                                          <p:spTgt spid="16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9F7019E-AE10-2451-3D9F-890A80008428}"/>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A77165CD-135A-D8E1-AC61-FDBDA7D0CC5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B32A8A7E-141E-A6A8-9FEF-DF71EBE6D0CD}"/>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4CA003A0-3583-C7A9-7D6B-EFA8B04E7CC9}"/>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30A6BC20-A1C2-F3D7-F651-AEAA139C139B}"/>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43</a:t>
            </a:fld>
            <a:endParaRPr lang="es-AR"/>
          </a:p>
        </p:txBody>
      </p:sp>
      <p:sp>
        <p:nvSpPr>
          <p:cNvPr id="163" name="Google Shape;163;p4">
            <a:extLst>
              <a:ext uri="{FF2B5EF4-FFF2-40B4-BE49-F238E27FC236}">
                <a16:creationId xmlns:a16="http://schemas.microsoft.com/office/drawing/2014/main" id="{48FEFCA0-7FA5-3D53-88AC-99C3B8DFD738}"/>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a:t>
            </a:r>
            <a:r>
              <a:rPr lang="es-ES" sz="2800" b="1" dirty="0">
                <a:solidFill>
                  <a:schemeClr val="tx1"/>
                </a:solidFill>
              </a:rPr>
              <a:t>II</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Modelo empírico que derivó de recopilar datos a partir de un gran número de proyectos de software. </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Utilizan fórmulas derivadas empíricamente para predecir costos o esfuerzo requerido en el proyecto.</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Vinculan:</a:t>
            </a:r>
          </a:p>
          <a:p>
            <a:pPr marL="898525" lvl="0" indent="-277813" algn="just">
              <a:lnSpc>
                <a:spcPct val="85000"/>
              </a:lnSpc>
              <a:spcBef>
                <a:spcPts val="0"/>
              </a:spcBef>
              <a:spcAft>
                <a:spcPts val="600"/>
              </a:spcAft>
              <a:buClrTx/>
              <a:buFont typeface="Arial" panose="020B0604020202020204" pitchFamily="34" charset="0"/>
              <a:buChar char="•"/>
            </a:pPr>
            <a:r>
              <a:rPr lang="es-ES" sz="2400" dirty="0">
                <a:solidFill>
                  <a:schemeClr val="tx1"/>
                </a:solidFill>
              </a:rPr>
              <a:t>el tamaño del sistema y los factores del producto, proyecto y equipo </a:t>
            </a:r>
          </a:p>
          <a:p>
            <a:pPr marL="898525" lvl="0" indent="-277813" algn="just">
              <a:lnSpc>
                <a:spcPct val="85000"/>
              </a:lnSpc>
              <a:spcBef>
                <a:spcPts val="0"/>
              </a:spcBef>
              <a:spcAft>
                <a:spcPts val="600"/>
              </a:spcAft>
              <a:buClrTx/>
              <a:buFont typeface="Arial" panose="020B0604020202020204" pitchFamily="34" charset="0"/>
              <a:buChar char="•"/>
            </a:pPr>
            <a:r>
              <a:rPr lang="es-ES" sz="2400" dirty="0">
                <a:solidFill>
                  <a:schemeClr val="tx1"/>
                </a:solidFill>
              </a:rPr>
              <a:t>el esfuerzo para desarrollar el sistema</a:t>
            </a:r>
          </a:p>
          <a:p>
            <a:pPr marL="898525" lvl="0" indent="-277813" algn="just">
              <a:lnSpc>
                <a:spcPct val="85000"/>
              </a:lnSpc>
              <a:spcBef>
                <a:spcPts val="0"/>
              </a:spcBef>
              <a:spcAft>
                <a:spcPts val="0"/>
              </a:spcAft>
              <a:buClrTx/>
              <a:buFont typeface="Arial" panose="020B0604020202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
        <p:nvSpPr>
          <p:cNvPr id="3" name="CuadroTexto 2">
            <a:extLst>
              <a:ext uri="{FF2B5EF4-FFF2-40B4-BE49-F238E27FC236}">
                <a16:creationId xmlns:a16="http://schemas.microsoft.com/office/drawing/2014/main" id="{80ED50BA-0417-1F79-1590-44C211ABE77D}"/>
              </a:ext>
            </a:extLst>
          </p:cNvPr>
          <p:cNvSpPr txBox="1"/>
          <p:nvPr/>
        </p:nvSpPr>
        <p:spPr>
          <a:xfrm>
            <a:off x="8478684" y="6031591"/>
            <a:ext cx="6098458" cy="303416"/>
          </a:xfrm>
          <a:prstGeom prst="rect">
            <a:avLst/>
          </a:prstGeom>
          <a:noFill/>
        </p:spPr>
        <p:txBody>
          <a:bodyPr wrap="square">
            <a:spAutoFit/>
          </a:bodyPr>
          <a:lstStyle/>
          <a:p>
            <a:pPr marL="0" marR="0" lvl="0" indent="0" algn="l" rtl="0">
              <a:lnSpc>
                <a:spcPct val="85000"/>
              </a:lnSpc>
              <a:spcBef>
                <a:spcPts val="1301"/>
              </a:spcBef>
              <a:spcAft>
                <a:spcPts val="0"/>
              </a:spcAft>
              <a:buClr>
                <a:srgbClr val="000000"/>
              </a:buClr>
              <a:buSzPts val="2400"/>
              <a:buFont typeface="Arial"/>
              <a:buNone/>
            </a:pPr>
            <a:r>
              <a:rPr lang="es-AR" sz="1600" b="0" i="0" u="sng" strike="noStrike" cap="none" dirty="0">
                <a:solidFill>
                  <a:srgbClr val="C00000"/>
                </a:solidFill>
                <a:latin typeface="Calibri"/>
                <a:ea typeface="Calibri"/>
                <a:cs typeface="Calibri"/>
                <a:sym typeface="Calibri"/>
              </a:rPr>
              <a:t>http://softwarecost.org/tools/COCOMO/</a:t>
            </a:r>
            <a:endParaRPr lang="es-AR" sz="1600" b="0" i="0" u="none" strike="noStrike" cap="none" dirty="0">
              <a:solidFill>
                <a:srgbClr val="C00000"/>
              </a:solidFill>
              <a:latin typeface="Calibri"/>
              <a:ea typeface="Calibri"/>
              <a:cs typeface="Calibri"/>
              <a:sym typeface="Calibri"/>
            </a:endParaRPr>
          </a:p>
        </p:txBody>
      </p:sp>
    </p:spTree>
    <p:extLst>
      <p:ext uri="{BB962C8B-B14F-4D97-AF65-F5344CB8AC3E}">
        <p14:creationId xmlns:p14="http://schemas.microsoft.com/office/powerpoint/2010/main" val="102292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3">
                                            <p:txEl>
                                              <p:pRg st="4" end="4"/>
                                            </p:txEl>
                                          </p:spTgt>
                                        </p:tgtEl>
                                        <p:attrNameLst>
                                          <p:attrName>style.visibility</p:attrName>
                                        </p:attrNameLst>
                                      </p:cBhvr>
                                      <p:to>
                                        <p:strVal val="visible"/>
                                      </p:to>
                                    </p:set>
                                    <p:animEffect transition="in" filter="fade">
                                      <p:cBhvr>
                                        <p:cTn id="15" dur="500"/>
                                        <p:tgtEl>
                                          <p:spTgt spid="16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3">
                                            <p:txEl>
                                              <p:pRg st="5" end="5"/>
                                            </p:txEl>
                                          </p:spTgt>
                                        </p:tgtEl>
                                        <p:attrNameLst>
                                          <p:attrName>style.visibility</p:attrName>
                                        </p:attrNameLst>
                                      </p:cBhvr>
                                      <p:to>
                                        <p:strVal val="visible"/>
                                      </p:to>
                                    </p:set>
                                    <p:animEffect transition="in" filter="fade">
                                      <p:cBhvr>
                                        <p:cTn id="20" dur="500"/>
                                        <p:tgtEl>
                                          <p:spTgt spid="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1B3F0D7-BE24-E17E-5F5D-11950A3DF75E}"/>
            </a:ext>
          </a:extLst>
        </p:cNvPr>
        <p:cNvGrpSpPr/>
        <p:nvPr/>
      </p:nvGrpSpPr>
      <p:grpSpPr>
        <a:xfrm>
          <a:off x="0" y="0"/>
          <a:ext cx="0" cy="0"/>
          <a:chOff x="0" y="0"/>
          <a:chExt cx="0" cy="0"/>
        </a:xfrm>
      </p:grpSpPr>
      <p:pic>
        <p:nvPicPr>
          <p:cNvPr id="2" name="Google Shape;590;p48">
            <a:extLst>
              <a:ext uri="{FF2B5EF4-FFF2-40B4-BE49-F238E27FC236}">
                <a16:creationId xmlns:a16="http://schemas.microsoft.com/office/drawing/2014/main" id="{3F04BBC6-D1DD-1840-C708-76201A5D2C87}"/>
              </a:ext>
            </a:extLst>
          </p:cNvPr>
          <p:cNvPicPr preferRelativeResize="0"/>
          <p:nvPr/>
        </p:nvPicPr>
        <p:blipFill rotWithShape="1">
          <a:blip r:embed="rId3"/>
          <a:srcRect l="9155" t="25150" r="32395" b="38960"/>
          <a:stretch>
            <a:fillRect/>
          </a:stretch>
        </p:blipFill>
        <p:spPr>
          <a:xfrm>
            <a:off x="1985180" y="2135341"/>
            <a:ext cx="8272440" cy="4085229"/>
          </a:xfrm>
          <a:prstGeom prst="rect">
            <a:avLst/>
          </a:prstGeom>
        </p:spPr>
      </p:pic>
      <p:sp>
        <p:nvSpPr>
          <p:cNvPr id="159" name="Google Shape;159;p4">
            <a:extLst>
              <a:ext uri="{FF2B5EF4-FFF2-40B4-BE49-F238E27FC236}">
                <a16:creationId xmlns:a16="http://schemas.microsoft.com/office/drawing/2014/main" id="{C2656E08-D2E9-7A55-756B-13B7FF2CFD3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348B31B9-B5E6-05E1-FFC7-CA607518BFC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59BA0839-8D01-6C16-1B45-1F5B4CDE50FC}"/>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E331BF9F-321D-9D77-4D6B-FFABF735DD5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44</a:t>
            </a:fld>
            <a:endParaRPr lang="es-AR"/>
          </a:p>
        </p:txBody>
      </p:sp>
      <p:sp>
        <p:nvSpPr>
          <p:cNvPr id="163" name="Google Shape;163;p4">
            <a:extLst>
              <a:ext uri="{FF2B5EF4-FFF2-40B4-BE49-F238E27FC236}">
                <a16:creationId xmlns:a16="http://schemas.microsoft.com/office/drawing/2014/main" id="{C484C4C8-F95C-877F-0587-EAB5D1BE88DA}"/>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a:t>
            </a:r>
            <a:r>
              <a:rPr lang="es-ES" sz="2800" b="1" dirty="0">
                <a:solidFill>
                  <a:schemeClr val="tx1"/>
                </a:solidFill>
              </a:rPr>
              <a:t>II</a:t>
            </a:r>
            <a:r>
              <a:rPr lang="es-ES" sz="2800" dirty="0">
                <a:solidFill>
                  <a:schemeClr val="tx1"/>
                </a:solidFill>
              </a:rPr>
              <a:t> - Modelos</a:t>
            </a:r>
          </a:p>
          <a:p>
            <a:pPr marL="898525" lvl="0" indent="-277813" algn="just">
              <a:lnSpc>
                <a:spcPct val="85000"/>
              </a:lnSpc>
              <a:spcBef>
                <a:spcPts val="0"/>
              </a:spcBef>
              <a:spcAft>
                <a:spcPts val="0"/>
              </a:spcAft>
              <a:buClrTx/>
              <a:buFont typeface="Arial" panose="020B0604020202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813994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8E83D47-5618-C765-C516-BB84CEB84222}"/>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F94058EF-0877-87C1-262B-EA09BC7B369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FEE9EB4E-C070-5D6D-3BAE-E18D9623B90C}"/>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F7C15FAC-6963-8E03-67EF-1933AC1651B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10397B32-7F35-B6B8-9F90-AC57755F4CED}"/>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45</a:t>
            </a:fld>
            <a:endParaRPr lang="es-AR"/>
          </a:p>
        </p:txBody>
      </p:sp>
      <p:sp>
        <p:nvSpPr>
          <p:cNvPr id="163" name="Google Shape;163;p4">
            <a:extLst>
              <a:ext uri="{FF2B5EF4-FFF2-40B4-BE49-F238E27FC236}">
                <a16:creationId xmlns:a16="http://schemas.microsoft.com/office/drawing/2014/main" id="{6311E5D7-28A5-F2AC-8ED5-6ED37B823731}"/>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a:t>
            </a:r>
            <a:r>
              <a:rPr lang="es-ES" sz="2800" b="1" dirty="0">
                <a:solidFill>
                  <a:schemeClr val="tx1"/>
                </a:solidFill>
              </a:rPr>
              <a:t>II </a:t>
            </a:r>
            <a:r>
              <a:rPr lang="es-ES" sz="2800" dirty="0">
                <a:solidFill>
                  <a:schemeClr val="tx1"/>
                </a:solidFill>
              </a:rPr>
              <a:t>– Modelo de composición de aplicación </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Modela el </a:t>
            </a:r>
            <a:r>
              <a:rPr lang="es-ES" sz="2400" i="1" dirty="0">
                <a:solidFill>
                  <a:schemeClr val="tx1"/>
                </a:solidFill>
              </a:rPr>
              <a:t>esfuerzo</a:t>
            </a:r>
            <a:r>
              <a:rPr lang="es-ES" sz="2400" dirty="0">
                <a:solidFill>
                  <a:schemeClr val="tx1"/>
                </a:solidFill>
              </a:rPr>
              <a:t> requerido para desarrollar sistemas creados a partir de componentes de reutilización, y proyectos de creación de prototipos. </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Se basa en una </a:t>
            </a:r>
            <a:r>
              <a:rPr lang="es-ES" sz="2400" i="1" dirty="0">
                <a:solidFill>
                  <a:schemeClr val="tx1"/>
                </a:solidFill>
              </a:rPr>
              <a:t>estimación</a:t>
            </a:r>
            <a:r>
              <a:rPr lang="es-ES" sz="2400" dirty="0">
                <a:solidFill>
                  <a:schemeClr val="tx1"/>
                </a:solidFill>
              </a:rPr>
              <a:t> de  puntos de aplicación (o puntos objetos).</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El número de </a:t>
            </a:r>
            <a:r>
              <a:rPr lang="es-ES" sz="2400" i="1" dirty="0">
                <a:solidFill>
                  <a:schemeClr val="tx1"/>
                </a:solidFill>
              </a:rPr>
              <a:t>puntos de aplicación </a:t>
            </a:r>
            <a:r>
              <a:rPr lang="es-ES" sz="2400" dirty="0">
                <a:solidFill>
                  <a:schemeClr val="tx1"/>
                </a:solidFill>
              </a:rPr>
              <a:t>en un programa es una estimación ponderada del número de pantallas que se despliegan, el número de informes que se producen, el número de módulos en lenguajes de programación imperativa (como Java) y el número de líneas de lenguaje de script (</a:t>
            </a:r>
            <a:r>
              <a:rPr lang="es-ES" sz="2400" i="1" dirty="0">
                <a:solidFill>
                  <a:schemeClr val="tx1"/>
                </a:solidFill>
              </a:rPr>
              <a:t>scripting </a:t>
            </a:r>
            <a:r>
              <a:rPr lang="es-ES" sz="2400" i="1" dirty="0" err="1">
                <a:solidFill>
                  <a:schemeClr val="tx1"/>
                </a:solidFill>
              </a:rPr>
              <a:t>language</a:t>
            </a:r>
            <a:r>
              <a:rPr lang="es-ES" sz="2400" dirty="0">
                <a:solidFill>
                  <a:schemeClr val="tx1"/>
                </a:solidFill>
              </a:rPr>
              <a:t>).</a:t>
            </a:r>
          </a:p>
          <a:p>
            <a:pPr marL="898525" lvl="0" indent="-277813" algn="just">
              <a:lnSpc>
                <a:spcPct val="85000"/>
              </a:lnSpc>
              <a:spcBef>
                <a:spcPts val="0"/>
              </a:spcBef>
              <a:spcAft>
                <a:spcPts val="0"/>
              </a:spcAft>
              <a:buClrTx/>
              <a:buFont typeface="Arial" panose="020B0604020202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chemeClr val="tx1"/>
              </a:solidFill>
            </a:endParaRPr>
          </a:p>
        </p:txBody>
      </p:sp>
      <p:sp>
        <p:nvSpPr>
          <p:cNvPr id="2" name="Google Shape;607;p1">
            <a:extLst>
              <a:ext uri="{FF2B5EF4-FFF2-40B4-BE49-F238E27FC236}">
                <a16:creationId xmlns:a16="http://schemas.microsoft.com/office/drawing/2014/main" id="{4F33981A-AD15-22B0-6478-C7BDFD76D068}"/>
              </a:ext>
            </a:extLst>
          </p:cNvPr>
          <p:cNvSpPr/>
          <p:nvPr/>
        </p:nvSpPr>
        <p:spPr>
          <a:xfrm>
            <a:off x="3709987" y="5383715"/>
            <a:ext cx="4822825" cy="798636"/>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s-AR" sz="2000" b="1" i="0" u="none" strike="noStrike" cap="none" dirty="0">
                <a:latin typeface="Calibri"/>
                <a:ea typeface="Calibri"/>
                <a:cs typeface="Calibri"/>
                <a:sym typeface="Calibri"/>
              </a:rPr>
              <a:t>PM = (NAP x (1-%reutilización/100))/PROD​</a:t>
            </a:r>
            <a:endParaRPr sz="2000" b="0" i="0" u="none" strike="noStrike" cap="none" dirty="0">
              <a:latin typeface="Arial"/>
              <a:ea typeface="Arial"/>
              <a:cs typeface="Arial"/>
              <a:sym typeface="Arial"/>
            </a:endParaRPr>
          </a:p>
        </p:txBody>
      </p:sp>
      <p:sp>
        <p:nvSpPr>
          <p:cNvPr id="4" name="Google Shape;608;p1">
            <a:extLst>
              <a:ext uri="{FF2B5EF4-FFF2-40B4-BE49-F238E27FC236}">
                <a16:creationId xmlns:a16="http://schemas.microsoft.com/office/drawing/2014/main" id="{B6D7C473-CE01-DF0B-22DE-A5269A4D9A48}"/>
              </a:ext>
            </a:extLst>
          </p:cNvPr>
          <p:cNvSpPr/>
          <p:nvPr/>
        </p:nvSpPr>
        <p:spPr>
          <a:xfrm>
            <a:off x="8940964" y="3701845"/>
            <a:ext cx="2388549" cy="2517377"/>
          </a:xfrm>
          <a:prstGeom prst="rect">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0000" tIns="45000" rIns="90000" bIns="45000" anchor="ctr" anchorCtr="0">
            <a:noAutofit/>
          </a:bodyPr>
          <a:lstStyle/>
          <a:p>
            <a:pPr algn="ctr">
              <a:spcBef>
                <a:spcPts val="0"/>
              </a:spcBef>
              <a:spcAft>
                <a:spcPts val="0"/>
              </a:spcAft>
            </a:pPr>
            <a:r>
              <a:rPr lang="es-AR" sz="1600" b="1" u="sng" dirty="0">
                <a:latin typeface="Calibri"/>
                <a:cs typeface="Calibri"/>
                <a:sym typeface="Calibri"/>
              </a:rPr>
              <a:t>Parámetros</a:t>
            </a:r>
            <a:r>
              <a:rPr lang="es-AR" sz="1600" b="1" dirty="0">
                <a:latin typeface="Calibri"/>
                <a:cs typeface="Calibri"/>
                <a:sym typeface="Calibri"/>
              </a:rPr>
              <a:t> </a:t>
            </a:r>
            <a:endParaRPr sz="1600" b="1" dirty="0">
              <a:latin typeface="Calibri"/>
              <a:cs typeface="Calibri"/>
              <a:sym typeface="Arial"/>
            </a:endParaRPr>
          </a:p>
          <a:p>
            <a:pPr algn="ctr">
              <a:spcBef>
                <a:spcPts val="0"/>
              </a:spcBef>
              <a:spcAft>
                <a:spcPts val="0"/>
              </a:spcAft>
            </a:pPr>
            <a:endParaRPr sz="1600" b="1" dirty="0">
              <a:latin typeface="Calibri"/>
              <a:cs typeface="Calibri"/>
              <a:sym typeface="Arial"/>
            </a:endParaRPr>
          </a:p>
          <a:p>
            <a:pPr algn="ctr">
              <a:spcBef>
                <a:spcPts val="0"/>
              </a:spcBef>
              <a:spcAft>
                <a:spcPts val="0"/>
              </a:spcAft>
            </a:pPr>
            <a:r>
              <a:rPr lang="es-AR" sz="1600" b="1" dirty="0">
                <a:latin typeface="Calibri"/>
                <a:cs typeface="Calibri"/>
                <a:sym typeface="Calibri"/>
              </a:rPr>
              <a:t>PM = </a:t>
            </a:r>
            <a:r>
              <a:rPr lang="es-AR" sz="1600" dirty="0">
                <a:latin typeface="Calibri"/>
                <a:cs typeface="Calibri"/>
                <a:sym typeface="Calibri"/>
              </a:rPr>
              <a:t>esfuerzo estimado en personas/mes​.</a:t>
            </a:r>
            <a:endParaRPr sz="1600" dirty="0">
              <a:latin typeface="Calibri"/>
              <a:cs typeface="Calibri"/>
              <a:sym typeface="Arial"/>
            </a:endParaRPr>
          </a:p>
          <a:p>
            <a:pPr algn="ctr">
              <a:spcBef>
                <a:spcPts val="0"/>
              </a:spcBef>
              <a:spcAft>
                <a:spcPts val="0"/>
              </a:spcAft>
            </a:pPr>
            <a:endParaRPr sz="1000" b="1" dirty="0">
              <a:latin typeface="Calibri"/>
              <a:cs typeface="Calibri"/>
              <a:sym typeface="Arial"/>
            </a:endParaRPr>
          </a:p>
          <a:p>
            <a:pPr algn="ctr">
              <a:spcBef>
                <a:spcPts val="0"/>
              </a:spcBef>
              <a:spcAft>
                <a:spcPts val="0"/>
              </a:spcAft>
            </a:pPr>
            <a:r>
              <a:rPr lang="es-AR" sz="1600" b="1" dirty="0">
                <a:latin typeface="Calibri"/>
                <a:cs typeface="Calibri"/>
                <a:sym typeface="Calibri"/>
              </a:rPr>
              <a:t>NAP = </a:t>
            </a:r>
            <a:r>
              <a:rPr lang="es-AR" sz="1600" dirty="0">
                <a:latin typeface="Calibri"/>
                <a:cs typeface="Calibri"/>
                <a:sym typeface="Calibri"/>
              </a:rPr>
              <a:t>total de puntos de aplicación.​</a:t>
            </a:r>
            <a:endParaRPr sz="1600" dirty="0">
              <a:latin typeface="Calibri"/>
              <a:cs typeface="Calibri"/>
              <a:sym typeface="Arial"/>
            </a:endParaRPr>
          </a:p>
          <a:p>
            <a:pPr algn="ctr">
              <a:spcBef>
                <a:spcPts val="0"/>
              </a:spcBef>
              <a:spcAft>
                <a:spcPts val="0"/>
              </a:spcAft>
            </a:pPr>
            <a:endParaRPr sz="1000" b="1" dirty="0">
              <a:latin typeface="Calibri"/>
              <a:cs typeface="Calibri"/>
              <a:sym typeface="Arial"/>
            </a:endParaRPr>
          </a:p>
          <a:p>
            <a:pPr algn="ctr">
              <a:spcBef>
                <a:spcPts val="0"/>
              </a:spcBef>
              <a:spcAft>
                <a:spcPts val="0"/>
              </a:spcAft>
            </a:pPr>
            <a:r>
              <a:rPr lang="es-AR" sz="1600" b="1" dirty="0">
                <a:latin typeface="Calibri"/>
                <a:cs typeface="Calibri"/>
                <a:sym typeface="Calibri"/>
              </a:rPr>
              <a:t>PROD = </a:t>
            </a:r>
            <a:r>
              <a:rPr lang="es-AR" sz="1600" dirty="0">
                <a:latin typeface="Calibri"/>
                <a:cs typeface="Calibri"/>
                <a:sym typeface="Calibri"/>
              </a:rPr>
              <a:t>productividad medida en puntos objeto​.</a:t>
            </a:r>
            <a:endParaRPr sz="1600" dirty="0">
              <a:latin typeface="Calibri"/>
              <a:cs typeface="Calibri"/>
              <a:sym typeface="Arial"/>
            </a:endParaRPr>
          </a:p>
        </p:txBody>
      </p:sp>
    </p:spTree>
    <p:extLst>
      <p:ext uri="{BB962C8B-B14F-4D97-AF65-F5344CB8AC3E}">
        <p14:creationId xmlns:p14="http://schemas.microsoft.com/office/powerpoint/2010/main" val="428822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1171E1FE-B68F-FCF7-C868-CB2823EFD79C}"/>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E91D3795-49FF-69EA-C00C-58A0719282D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01FE43EC-7B36-2D7D-443C-C4B66346204E}"/>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B377BAE0-43FA-72D5-B1C2-C3D64BE31CD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47A8AE2F-63E1-EAAE-B3B2-870ACAFAC7A0}"/>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46</a:t>
            </a:fld>
            <a:endParaRPr lang="es-AR"/>
          </a:p>
        </p:txBody>
      </p:sp>
      <p:sp>
        <p:nvSpPr>
          <p:cNvPr id="163" name="Google Shape;163;p4">
            <a:extLst>
              <a:ext uri="{FF2B5EF4-FFF2-40B4-BE49-F238E27FC236}">
                <a16:creationId xmlns:a16="http://schemas.microsoft.com/office/drawing/2014/main" id="{0F2E3BF2-398C-522C-5C14-89CCAC39530D}"/>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a:t>
            </a:r>
            <a:r>
              <a:rPr lang="es-ES" sz="2800" b="1" dirty="0">
                <a:solidFill>
                  <a:schemeClr val="tx1"/>
                </a:solidFill>
              </a:rPr>
              <a:t>II </a:t>
            </a:r>
            <a:r>
              <a:rPr lang="es-ES" sz="2800" dirty="0">
                <a:solidFill>
                  <a:schemeClr val="tx1"/>
                </a:solidFill>
              </a:rPr>
              <a:t>– Modelo de diseño temprano</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Puede usarse durante las primeras etapas de un proyecto, antes de que esté disponible un  diseño arquitectónico detallado para el sistema. ​</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Supone que se acordaron los requerimientos del usuario y que están en marcha las etapas iniciales del proceso de diseño del sistema</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La meta en esta etapa debe ser elaborar una estimación rápida y aproximada de los costos. </a:t>
            </a:r>
          </a:p>
          <a:p>
            <a:pPr marL="898525" lvl="0" indent="-277813" algn="just">
              <a:lnSpc>
                <a:spcPct val="85000"/>
              </a:lnSpc>
              <a:spcBef>
                <a:spcPts val="0"/>
              </a:spcBef>
              <a:spcAft>
                <a:spcPts val="0"/>
              </a:spcAft>
              <a:buClrTx/>
              <a:buFont typeface="Arial" panose="020B0604020202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chemeClr val="tx1"/>
              </a:solidFill>
            </a:endParaRPr>
          </a:p>
        </p:txBody>
      </p:sp>
      <p:sp>
        <p:nvSpPr>
          <p:cNvPr id="2" name="Google Shape;607;p1">
            <a:extLst>
              <a:ext uri="{FF2B5EF4-FFF2-40B4-BE49-F238E27FC236}">
                <a16:creationId xmlns:a16="http://schemas.microsoft.com/office/drawing/2014/main" id="{FA7406B2-66D9-6FDC-A846-6F25B601E2D6}"/>
              </a:ext>
            </a:extLst>
          </p:cNvPr>
          <p:cNvSpPr/>
          <p:nvPr/>
        </p:nvSpPr>
        <p:spPr>
          <a:xfrm>
            <a:off x="3709987" y="4914097"/>
            <a:ext cx="4822825" cy="798636"/>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0000" tIns="45000" rIns="90000" bIns="45000" anchor="ctr" anchorCtr="0">
            <a:noAutofit/>
          </a:bodyPr>
          <a:lstStyle/>
          <a:p>
            <a:pPr lvl="0" algn="ctr">
              <a:spcBef>
                <a:spcPts val="0"/>
              </a:spcBef>
              <a:spcAft>
                <a:spcPts val="0"/>
              </a:spcAft>
            </a:pPr>
            <a:r>
              <a:rPr lang="pt-BR" sz="2000" b="1" dirty="0">
                <a:latin typeface="Calibri"/>
                <a:ea typeface="Calibri"/>
                <a:cs typeface="Calibri"/>
                <a:sym typeface="Calibri"/>
              </a:rPr>
              <a:t>PM = A x </a:t>
            </a:r>
            <a:r>
              <a:rPr lang="pt-BR" sz="2000" b="1" dirty="0" err="1">
                <a:latin typeface="Calibri"/>
                <a:ea typeface="Calibri"/>
                <a:cs typeface="Calibri"/>
                <a:sym typeface="Calibri"/>
              </a:rPr>
              <a:t>Tamaño</a:t>
            </a:r>
            <a:r>
              <a:rPr lang="es-AR" sz="2000" b="1" baseline="30000" dirty="0">
                <a:latin typeface="Calibri"/>
                <a:ea typeface="Calibri"/>
                <a:cs typeface="Calibri"/>
                <a:sym typeface="Calibri"/>
              </a:rPr>
              <a:t>B</a:t>
            </a:r>
            <a:r>
              <a:rPr lang="pt-BR" sz="2000" b="1" dirty="0">
                <a:latin typeface="Calibri"/>
                <a:ea typeface="Calibri"/>
                <a:cs typeface="Calibri"/>
                <a:sym typeface="Calibri"/>
              </a:rPr>
              <a:t> x M</a:t>
            </a:r>
            <a:r>
              <a:rPr lang="es-AR" sz="2000" b="1" i="0" u="none" strike="noStrike" cap="none" dirty="0">
                <a:latin typeface="Calibri"/>
                <a:ea typeface="Calibri"/>
                <a:cs typeface="Calibri"/>
                <a:sym typeface="Calibri"/>
              </a:rPr>
              <a:t>​</a:t>
            </a:r>
            <a:endParaRPr sz="2000" b="0" i="0" u="none" strike="noStrike" cap="none" dirty="0">
              <a:latin typeface="Arial"/>
              <a:ea typeface="Arial"/>
              <a:cs typeface="Arial"/>
              <a:sym typeface="Arial"/>
            </a:endParaRPr>
          </a:p>
        </p:txBody>
      </p:sp>
      <p:sp>
        <p:nvSpPr>
          <p:cNvPr id="4" name="Google Shape;608;p1">
            <a:extLst>
              <a:ext uri="{FF2B5EF4-FFF2-40B4-BE49-F238E27FC236}">
                <a16:creationId xmlns:a16="http://schemas.microsoft.com/office/drawing/2014/main" id="{7F0EA008-489D-CAFC-2F7F-C560E27B8CEE}"/>
              </a:ext>
            </a:extLst>
          </p:cNvPr>
          <p:cNvSpPr/>
          <p:nvPr/>
        </p:nvSpPr>
        <p:spPr>
          <a:xfrm>
            <a:off x="8844486" y="2634712"/>
            <a:ext cx="3104707" cy="3600010"/>
          </a:xfrm>
          <a:prstGeom prst="rect">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0000" tIns="45000" rIns="90000" bIns="45000" anchor="ctr" anchorCtr="0">
            <a:noAutofit/>
          </a:bodyPr>
          <a:lstStyle/>
          <a:p>
            <a:pPr algn="ctr">
              <a:spcBef>
                <a:spcPts val="0"/>
              </a:spcBef>
              <a:spcAft>
                <a:spcPts val="0"/>
              </a:spcAft>
            </a:pPr>
            <a:r>
              <a:rPr lang="es-AR" sz="1600" b="1" u="sng" dirty="0">
                <a:latin typeface="Calibri"/>
                <a:cs typeface="Calibri"/>
                <a:sym typeface="Calibri"/>
              </a:rPr>
              <a:t>Parámetros</a:t>
            </a:r>
            <a:r>
              <a:rPr lang="es-AR" sz="1600" b="1" dirty="0">
                <a:latin typeface="Calibri"/>
                <a:cs typeface="Calibri"/>
                <a:sym typeface="Calibri"/>
              </a:rPr>
              <a:t> </a:t>
            </a:r>
            <a:endParaRPr sz="1600" b="1" dirty="0">
              <a:latin typeface="Calibri"/>
              <a:cs typeface="Calibri"/>
              <a:sym typeface="Arial"/>
            </a:endParaRPr>
          </a:p>
          <a:p>
            <a:pPr algn="ctr">
              <a:spcBef>
                <a:spcPts val="0"/>
              </a:spcBef>
              <a:spcAft>
                <a:spcPts val="0"/>
              </a:spcAft>
            </a:pPr>
            <a:r>
              <a:rPr lang="es-AR" sz="1600" b="1" dirty="0">
                <a:latin typeface="Calibri"/>
                <a:cs typeface="Calibri"/>
                <a:sym typeface="Calibri"/>
              </a:rPr>
              <a:t>PM = </a:t>
            </a:r>
            <a:r>
              <a:rPr lang="es-AR" sz="1600" dirty="0">
                <a:latin typeface="Calibri"/>
                <a:cs typeface="Calibri"/>
                <a:sym typeface="Calibri"/>
              </a:rPr>
              <a:t>esfuerzo estimado en personas/mes​.</a:t>
            </a:r>
            <a:endParaRPr sz="1600" dirty="0">
              <a:latin typeface="Calibri"/>
              <a:cs typeface="Calibri"/>
              <a:sym typeface="Arial"/>
            </a:endParaRPr>
          </a:p>
          <a:p>
            <a:pPr algn="ctr">
              <a:spcBef>
                <a:spcPts val="0"/>
              </a:spcBef>
              <a:spcAft>
                <a:spcPts val="0"/>
              </a:spcAft>
            </a:pPr>
            <a:r>
              <a:rPr lang="es-ES" sz="1600" b="1" dirty="0">
                <a:latin typeface="Calibri"/>
                <a:cs typeface="Calibri"/>
                <a:sym typeface="Calibri"/>
              </a:rPr>
              <a:t>A = </a:t>
            </a:r>
            <a:r>
              <a:rPr lang="es-ES" sz="1600" dirty="0">
                <a:latin typeface="Calibri"/>
                <a:cs typeface="Calibri"/>
                <a:sym typeface="Calibri"/>
              </a:rPr>
              <a:t>2,94. (según Boehm)</a:t>
            </a:r>
          </a:p>
          <a:p>
            <a:pPr algn="ctr">
              <a:spcBef>
                <a:spcPts val="0"/>
              </a:spcBef>
              <a:spcAft>
                <a:spcPts val="0"/>
              </a:spcAft>
            </a:pPr>
            <a:r>
              <a:rPr lang="es-ES" sz="1600" b="1" dirty="0">
                <a:latin typeface="Calibri"/>
                <a:cs typeface="Calibri"/>
                <a:sym typeface="Calibri"/>
              </a:rPr>
              <a:t>Tamaño = </a:t>
            </a:r>
            <a:r>
              <a:rPr lang="es-ES" sz="1600" dirty="0">
                <a:latin typeface="Calibri"/>
                <a:cs typeface="Calibri"/>
                <a:sym typeface="Calibri"/>
              </a:rPr>
              <a:t>KLDC (miles de líneas de código fuente).</a:t>
            </a:r>
            <a:endParaRPr lang="es-ES" sz="1600" b="1" dirty="0">
              <a:latin typeface="Calibri"/>
              <a:cs typeface="Calibri"/>
              <a:sym typeface="Calibri"/>
            </a:endParaRPr>
          </a:p>
          <a:p>
            <a:pPr algn="ctr">
              <a:spcBef>
                <a:spcPts val="0"/>
              </a:spcBef>
              <a:spcAft>
                <a:spcPts val="0"/>
              </a:spcAft>
            </a:pPr>
            <a:r>
              <a:rPr lang="es-ES" sz="1600" b="1" dirty="0">
                <a:latin typeface="Calibri"/>
                <a:cs typeface="Calibri"/>
                <a:sym typeface="Calibri"/>
              </a:rPr>
              <a:t>B = </a:t>
            </a:r>
            <a:r>
              <a:rPr lang="es-ES" sz="1600" dirty="0">
                <a:latin typeface="Calibri"/>
                <a:cs typeface="Calibri"/>
                <a:sym typeface="Calibri"/>
              </a:rPr>
              <a:t>esfuerzo  requerido conforme aumenta el tamaño del proyecto. Puede variar de 1,1 a 1,24</a:t>
            </a:r>
            <a:endParaRPr lang="es-ES" sz="1600" b="1" dirty="0">
              <a:latin typeface="Calibri"/>
              <a:cs typeface="Calibri"/>
              <a:sym typeface="Calibri"/>
            </a:endParaRPr>
          </a:p>
          <a:p>
            <a:pPr algn="ctr">
              <a:spcBef>
                <a:spcPts val="0"/>
              </a:spcBef>
              <a:spcAft>
                <a:spcPts val="0"/>
              </a:spcAft>
            </a:pPr>
            <a:r>
              <a:rPr lang="es-ES" sz="1600" b="1" dirty="0">
                <a:latin typeface="Calibri"/>
                <a:cs typeface="Calibri"/>
                <a:sym typeface="Calibri"/>
              </a:rPr>
              <a:t>M = </a:t>
            </a:r>
            <a:r>
              <a:rPr lang="es-ES" sz="1600" dirty="0">
                <a:latin typeface="Calibri"/>
                <a:cs typeface="Calibri"/>
                <a:sym typeface="Calibri"/>
              </a:rPr>
              <a:t>definido por 7 atributos de proyecto y proceso que aumentan o disminuyen la estimación. </a:t>
            </a:r>
            <a:r>
              <a:rPr lang="es-ES" sz="1600" dirty="0" err="1">
                <a:latin typeface="Calibri"/>
                <a:cs typeface="Calibri"/>
                <a:sym typeface="Calibri"/>
              </a:rPr>
              <a:t>Ej</a:t>
            </a:r>
            <a:r>
              <a:rPr lang="es-ES" sz="1600" dirty="0">
                <a:latin typeface="Calibri"/>
                <a:cs typeface="Calibri"/>
                <a:sym typeface="Calibri"/>
              </a:rPr>
              <a:t>: fiabilidad y complejidad del producto, etc.</a:t>
            </a:r>
          </a:p>
        </p:txBody>
      </p:sp>
    </p:spTree>
    <p:extLst>
      <p:ext uri="{BB962C8B-B14F-4D97-AF65-F5344CB8AC3E}">
        <p14:creationId xmlns:p14="http://schemas.microsoft.com/office/powerpoint/2010/main" val="420175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xEl>
                                              <p:pRg st="3" end="3"/>
                                            </p:txEl>
                                          </p:spTgt>
                                        </p:tgtEl>
                                        <p:attrNameLst>
                                          <p:attrName>style.visibility</p:attrName>
                                        </p:attrNameLst>
                                      </p:cBhvr>
                                      <p:to>
                                        <p:strVal val="visible"/>
                                      </p:to>
                                    </p:set>
                                    <p:animEffect transition="in" filter="fade">
                                      <p:cBhvr>
                                        <p:cTn id="12" dur="500"/>
                                        <p:tgtEl>
                                          <p:spTgt spid="1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D618BED-84CA-7CE9-984B-80B82693D344}"/>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7670AE9-DA03-7C7B-4C66-362B5B4F910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2ADD756F-8E92-1E22-7BA4-440130662790}"/>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E18F13A0-20B1-2CBB-6124-D2E43AD1FEF7}"/>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0CDDC85B-0495-D3B8-AB76-99D85D80D515}"/>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47</a:t>
            </a:fld>
            <a:endParaRPr lang="es-AR"/>
          </a:p>
        </p:txBody>
      </p:sp>
      <p:sp>
        <p:nvSpPr>
          <p:cNvPr id="163" name="Google Shape;163;p4">
            <a:extLst>
              <a:ext uri="{FF2B5EF4-FFF2-40B4-BE49-F238E27FC236}">
                <a16:creationId xmlns:a16="http://schemas.microsoft.com/office/drawing/2014/main" id="{A6CF87B9-1284-935B-F102-D6AEA6308D2B}"/>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a:t>
            </a:r>
            <a:r>
              <a:rPr lang="es-ES" sz="2800" b="1" dirty="0">
                <a:solidFill>
                  <a:schemeClr val="tx1"/>
                </a:solidFill>
              </a:rPr>
              <a:t>II </a:t>
            </a:r>
            <a:r>
              <a:rPr lang="es-ES" sz="2800" dirty="0">
                <a:solidFill>
                  <a:schemeClr val="tx1"/>
                </a:solidFill>
              </a:rPr>
              <a:t>– Modelo de reutilización</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Se emplea para estimar el esfuerzo requerido al integrar código de reutilización o generado. ​</a:t>
            </a:r>
          </a:p>
          <a:p>
            <a:pPr marL="620713" lvl="0" indent="-3571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Para el código generado automáticamente, el modelo estima el número de persona/mes necesarias para integrar este código. </a:t>
            </a:r>
          </a:p>
          <a:p>
            <a:pPr marL="898525" lvl="0" indent="-277813" algn="just">
              <a:lnSpc>
                <a:spcPct val="85000"/>
              </a:lnSpc>
              <a:spcBef>
                <a:spcPts val="0"/>
              </a:spcBef>
              <a:spcAft>
                <a:spcPts val="0"/>
              </a:spcAft>
              <a:buClrTx/>
              <a:buFont typeface="Arial" panose="020B0604020202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chemeClr val="tx1"/>
              </a:solidFill>
            </a:endParaRPr>
          </a:p>
        </p:txBody>
      </p:sp>
      <p:sp>
        <p:nvSpPr>
          <p:cNvPr id="2" name="Google Shape;607;p1">
            <a:extLst>
              <a:ext uri="{FF2B5EF4-FFF2-40B4-BE49-F238E27FC236}">
                <a16:creationId xmlns:a16="http://schemas.microsoft.com/office/drawing/2014/main" id="{6C46C29F-1798-CBA6-40A4-8AA44C4B7982}"/>
              </a:ext>
            </a:extLst>
          </p:cNvPr>
          <p:cNvSpPr/>
          <p:nvPr/>
        </p:nvSpPr>
        <p:spPr>
          <a:xfrm>
            <a:off x="3570288" y="4176678"/>
            <a:ext cx="4822825" cy="798636"/>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0000" tIns="45000" rIns="90000" bIns="45000" anchor="ctr" anchorCtr="0">
            <a:noAutofit/>
          </a:bodyPr>
          <a:lstStyle/>
          <a:p>
            <a:pPr lvl="0" algn="ctr">
              <a:spcBef>
                <a:spcPts val="0"/>
              </a:spcBef>
              <a:spcAft>
                <a:spcPts val="0"/>
              </a:spcAft>
            </a:pPr>
            <a:r>
              <a:rPr lang="pt-BR" sz="2000" b="1" dirty="0" err="1">
                <a:latin typeface="Calibri"/>
                <a:ea typeface="Calibri"/>
                <a:cs typeface="Calibri"/>
                <a:sym typeface="Calibri"/>
              </a:rPr>
              <a:t>PMauto</a:t>
            </a:r>
            <a:r>
              <a:rPr lang="pt-BR" sz="2000" b="1" dirty="0">
                <a:latin typeface="Calibri"/>
                <a:ea typeface="Calibri"/>
                <a:cs typeface="Calibri"/>
                <a:sym typeface="Calibri"/>
              </a:rPr>
              <a:t> = (ASLOC x AT/100)/ATPROD.</a:t>
            </a:r>
            <a:endParaRPr sz="2000" b="0" i="0" u="none" strike="noStrike" cap="none" dirty="0">
              <a:latin typeface="Arial"/>
              <a:ea typeface="Arial"/>
              <a:cs typeface="Arial"/>
              <a:sym typeface="Arial"/>
            </a:endParaRPr>
          </a:p>
        </p:txBody>
      </p:sp>
      <p:sp>
        <p:nvSpPr>
          <p:cNvPr id="4" name="Google Shape;608;p1">
            <a:extLst>
              <a:ext uri="{FF2B5EF4-FFF2-40B4-BE49-F238E27FC236}">
                <a16:creationId xmlns:a16="http://schemas.microsoft.com/office/drawing/2014/main" id="{F1F692F7-19D6-1215-A631-D8FA2D033496}"/>
              </a:ext>
            </a:extLst>
          </p:cNvPr>
          <p:cNvSpPr/>
          <p:nvPr/>
        </p:nvSpPr>
        <p:spPr>
          <a:xfrm>
            <a:off x="8800242" y="3071806"/>
            <a:ext cx="3057462" cy="3162916"/>
          </a:xfrm>
          <a:prstGeom prst="rect">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0000" tIns="45000" rIns="90000" bIns="45000" anchor="ctr" anchorCtr="0">
            <a:noAutofit/>
          </a:bodyPr>
          <a:lstStyle/>
          <a:p>
            <a:pPr algn="ctr">
              <a:spcBef>
                <a:spcPts val="0"/>
              </a:spcBef>
              <a:spcAft>
                <a:spcPts val="0"/>
              </a:spcAft>
            </a:pPr>
            <a:r>
              <a:rPr lang="es-AR" sz="1600" b="1" u="sng" dirty="0">
                <a:latin typeface="Calibri"/>
                <a:cs typeface="Calibri"/>
                <a:sym typeface="Calibri"/>
              </a:rPr>
              <a:t>Parámetros</a:t>
            </a:r>
            <a:r>
              <a:rPr lang="es-AR" sz="1600" b="1" dirty="0">
                <a:latin typeface="Calibri"/>
                <a:cs typeface="Calibri"/>
                <a:sym typeface="Calibri"/>
              </a:rPr>
              <a:t> </a:t>
            </a:r>
          </a:p>
          <a:p>
            <a:pPr algn="ctr">
              <a:spcBef>
                <a:spcPts val="0"/>
              </a:spcBef>
              <a:spcAft>
                <a:spcPts val="0"/>
              </a:spcAft>
            </a:pPr>
            <a:endParaRPr sz="1000" b="1" dirty="0">
              <a:latin typeface="Calibri"/>
              <a:cs typeface="Calibri"/>
              <a:sym typeface="Arial"/>
            </a:endParaRPr>
          </a:p>
          <a:p>
            <a:pPr algn="ctr">
              <a:spcBef>
                <a:spcPts val="0"/>
              </a:spcBef>
              <a:spcAft>
                <a:spcPts val="0"/>
              </a:spcAft>
            </a:pPr>
            <a:r>
              <a:rPr lang="es-AR" sz="1600" b="1" dirty="0">
                <a:latin typeface="Calibri"/>
                <a:cs typeface="Calibri"/>
                <a:sym typeface="Calibri"/>
              </a:rPr>
              <a:t>PM = </a:t>
            </a:r>
            <a:r>
              <a:rPr lang="es-AR" sz="1600" dirty="0">
                <a:latin typeface="Calibri"/>
                <a:cs typeface="Calibri"/>
                <a:sym typeface="Calibri"/>
              </a:rPr>
              <a:t>esfuerzo estimado en personas/mes​.</a:t>
            </a:r>
          </a:p>
          <a:p>
            <a:pPr algn="ctr">
              <a:spcBef>
                <a:spcPts val="0"/>
              </a:spcBef>
              <a:spcAft>
                <a:spcPts val="0"/>
              </a:spcAft>
            </a:pPr>
            <a:endParaRPr sz="1000" dirty="0">
              <a:latin typeface="Calibri"/>
              <a:cs typeface="Calibri"/>
              <a:sym typeface="Arial"/>
            </a:endParaRPr>
          </a:p>
          <a:p>
            <a:pPr algn="ctr">
              <a:spcBef>
                <a:spcPts val="0"/>
              </a:spcBef>
              <a:spcAft>
                <a:spcPts val="0"/>
              </a:spcAft>
            </a:pPr>
            <a:r>
              <a:rPr lang="es-ES" sz="1600" b="1" dirty="0">
                <a:latin typeface="Calibri"/>
                <a:cs typeface="Calibri"/>
                <a:sym typeface="Calibri"/>
              </a:rPr>
              <a:t>AT = </a:t>
            </a:r>
            <a:r>
              <a:rPr lang="es-ES" sz="1600" dirty="0">
                <a:latin typeface="Calibri"/>
                <a:cs typeface="Calibri"/>
                <a:sym typeface="Calibri"/>
              </a:rPr>
              <a:t>% de código adaptado que se genera automáticamente.</a:t>
            </a:r>
          </a:p>
          <a:p>
            <a:pPr algn="ctr">
              <a:spcBef>
                <a:spcPts val="0"/>
              </a:spcBef>
              <a:spcAft>
                <a:spcPts val="0"/>
              </a:spcAft>
            </a:pPr>
            <a:endParaRPr lang="es-ES" sz="1000" b="1" dirty="0">
              <a:latin typeface="Calibri"/>
              <a:cs typeface="Calibri"/>
              <a:sym typeface="Calibri"/>
            </a:endParaRPr>
          </a:p>
          <a:p>
            <a:pPr algn="ctr">
              <a:spcBef>
                <a:spcPts val="0"/>
              </a:spcBef>
              <a:spcAft>
                <a:spcPts val="0"/>
              </a:spcAft>
            </a:pPr>
            <a:r>
              <a:rPr lang="es-ES" sz="1600" b="1" dirty="0">
                <a:latin typeface="Calibri"/>
                <a:cs typeface="Calibri"/>
                <a:sym typeface="Calibri"/>
              </a:rPr>
              <a:t>ATPROD = </a:t>
            </a:r>
            <a:r>
              <a:rPr lang="es-ES" sz="1600" dirty="0">
                <a:latin typeface="Calibri"/>
                <a:cs typeface="Calibri"/>
                <a:sym typeface="Calibri"/>
              </a:rPr>
              <a:t>productividad de los ingenieros que integran el código.</a:t>
            </a:r>
          </a:p>
          <a:p>
            <a:pPr algn="ctr">
              <a:spcBef>
                <a:spcPts val="0"/>
              </a:spcBef>
              <a:spcAft>
                <a:spcPts val="0"/>
              </a:spcAft>
            </a:pPr>
            <a:endParaRPr lang="es-ES" sz="1000" b="1" dirty="0">
              <a:latin typeface="Calibri"/>
              <a:cs typeface="Calibri"/>
              <a:sym typeface="Calibri"/>
            </a:endParaRPr>
          </a:p>
          <a:p>
            <a:pPr algn="ctr">
              <a:spcBef>
                <a:spcPts val="0"/>
              </a:spcBef>
              <a:spcAft>
                <a:spcPts val="0"/>
              </a:spcAft>
            </a:pPr>
            <a:r>
              <a:rPr lang="es-ES" sz="1600" b="1" dirty="0">
                <a:latin typeface="Calibri"/>
                <a:cs typeface="Calibri"/>
                <a:sym typeface="Calibri"/>
              </a:rPr>
              <a:t>ASLOC = </a:t>
            </a:r>
            <a:r>
              <a:rPr lang="es-ES" sz="1600" dirty="0" err="1">
                <a:latin typeface="Calibri"/>
                <a:cs typeface="Calibri"/>
                <a:sym typeface="Calibri"/>
              </a:rPr>
              <a:t>nro</a:t>
            </a:r>
            <a:r>
              <a:rPr lang="es-ES" sz="1600" dirty="0">
                <a:latin typeface="Calibri"/>
                <a:cs typeface="Calibri"/>
                <a:sym typeface="Calibri"/>
              </a:rPr>
              <a:t> de líneas de código en los componentes que deben ser adaptadas.</a:t>
            </a:r>
          </a:p>
        </p:txBody>
      </p:sp>
    </p:spTree>
    <p:extLst>
      <p:ext uri="{BB962C8B-B14F-4D97-AF65-F5344CB8AC3E}">
        <p14:creationId xmlns:p14="http://schemas.microsoft.com/office/powerpoint/2010/main" val="161829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xEl>
                                              <p:pRg st="2" end="2"/>
                                            </p:txEl>
                                          </p:spTgt>
                                        </p:tgtEl>
                                        <p:attrNameLst>
                                          <p:attrName>style.visibility</p:attrName>
                                        </p:attrNameLst>
                                      </p:cBhvr>
                                      <p:to>
                                        <p:strVal val="visible"/>
                                      </p:to>
                                    </p:set>
                                    <p:animEffect transition="in" filter="fade">
                                      <p:cBhvr>
                                        <p:cTn id="7" dur="500"/>
                                        <p:tgtEl>
                                          <p:spTgt spid="1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3A5E236-2434-4B97-A250-934A14FD0461}"/>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C1648A21-1A25-D2D1-392F-717765EC383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1E0EC80E-F161-1009-8C8C-3A17EB1617A5}"/>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C3F224F9-EA0E-ED3E-2ACF-1720682384E8}"/>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0FCA7C66-2524-3DCC-DDE4-34017FE54207}"/>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48</a:t>
            </a:fld>
            <a:endParaRPr lang="es-AR"/>
          </a:p>
        </p:txBody>
      </p:sp>
      <p:sp>
        <p:nvSpPr>
          <p:cNvPr id="163" name="Google Shape;163;p4">
            <a:extLst>
              <a:ext uri="{FF2B5EF4-FFF2-40B4-BE49-F238E27FC236}">
                <a16:creationId xmlns:a16="http://schemas.microsoft.com/office/drawing/2014/main" id="{9F97979A-F01B-A73E-99C1-C6A80C91240F}"/>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a:t>
            </a:r>
            <a:r>
              <a:rPr lang="es-ES" sz="2800" b="1" dirty="0">
                <a:solidFill>
                  <a:schemeClr val="tx1"/>
                </a:solidFill>
              </a:rPr>
              <a:t>II </a:t>
            </a:r>
            <a:r>
              <a:rPr lang="es-ES" sz="2800" dirty="0">
                <a:solidFill>
                  <a:schemeClr val="tx1"/>
                </a:solidFill>
              </a:rPr>
              <a:t>– Modelo de </a:t>
            </a:r>
            <a:r>
              <a:rPr lang="es-ES" sz="2800" dirty="0" err="1">
                <a:solidFill>
                  <a:schemeClr val="tx1"/>
                </a:solidFill>
              </a:rPr>
              <a:t>post-arquitectura</a:t>
            </a:r>
            <a:endParaRPr lang="es-ES" sz="2800" dirty="0">
              <a:solidFill>
                <a:schemeClr val="tx1"/>
              </a:solidFill>
            </a:endParaRPr>
          </a:p>
          <a:p>
            <a:pPr marL="620713" lvl="0" indent="-357188"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Se usa cuando está disponible un diseño arquitectónico inicial (se conoce la estructura). Entonces es posible hacer estimaciones para cada parte del sistema.</a:t>
            </a:r>
          </a:p>
          <a:p>
            <a:pPr marL="620713" lvl="0" indent="-357188"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Las estimaciones están basadas en la misma fórmula básica</a:t>
            </a:r>
          </a:p>
          <a:p>
            <a:pPr marL="633413" lvl="0" indent="0" algn="just">
              <a:lnSpc>
                <a:spcPct val="85000"/>
              </a:lnSpc>
              <a:spcBef>
                <a:spcPts val="0"/>
              </a:spcBef>
              <a:spcAft>
                <a:spcPts val="300"/>
              </a:spcAft>
              <a:buClr>
                <a:srgbClr val="C00000"/>
              </a:buClr>
              <a:buNone/>
              <a:tabLst>
                <a:tab pos="633413" algn="l"/>
              </a:tabLst>
            </a:pPr>
            <a:r>
              <a:rPr lang="es-ES" sz="2400" dirty="0">
                <a:solidFill>
                  <a:schemeClr val="tx1"/>
                </a:solidFill>
              </a:rPr>
              <a:t>pero se utiliza un conjunto más extenso de atributos de M.</a:t>
            </a:r>
          </a:p>
          <a:p>
            <a:pPr marL="633413" lvl="0" indent="-368300" algn="just">
              <a:lnSpc>
                <a:spcPct val="85000"/>
              </a:lnSpc>
              <a:spcBef>
                <a:spcPts val="0"/>
              </a:spcBef>
              <a:spcAft>
                <a:spcPts val="300"/>
              </a:spcAft>
              <a:buClr>
                <a:srgbClr val="C00000"/>
              </a:buClr>
              <a:buFont typeface="Noto Sans Symbols2" panose="020B0502040504020204" pitchFamily="34" charset="0"/>
              <a:buChar char="»"/>
              <a:tabLst>
                <a:tab pos="633413" algn="l"/>
              </a:tabLst>
            </a:pPr>
            <a:r>
              <a:rPr lang="es-ES" sz="2400" dirty="0">
                <a:solidFill>
                  <a:schemeClr val="tx1"/>
                </a:solidFill>
              </a:rPr>
              <a:t>La estimación del número de líneas de código se calcula utilizando tres componentes:​</a:t>
            </a:r>
          </a:p>
          <a:p>
            <a:pPr marL="811213" lvl="0" indent="-280988" algn="just">
              <a:lnSpc>
                <a:spcPct val="85000"/>
              </a:lnSpc>
              <a:spcBef>
                <a:spcPts val="0"/>
              </a:spcBef>
              <a:spcAft>
                <a:spcPts val="300"/>
              </a:spcAft>
              <a:buClrTx/>
              <a:buFont typeface="Arial" panose="020B0604020202020204" pitchFamily="34" charset="0"/>
              <a:buChar char="•"/>
              <a:tabLst>
                <a:tab pos="633413" algn="l"/>
              </a:tabLst>
            </a:pPr>
            <a:r>
              <a:rPr lang="es-ES" b="1" dirty="0">
                <a:solidFill>
                  <a:schemeClr val="tx1"/>
                </a:solidFill>
              </a:rPr>
              <a:t>líneas nuevas</a:t>
            </a:r>
            <a:r>
              <a:rPr lang="es-ES" dirty="0">
                <a:solidFill>
                  <a:schemeClr val="tx1"/>
                </a:solidFill>
              </a:rPr>
              <a:t> de código a desarrollar.​</a:t>
            </a:r>
          </a:p>
          <a:p>
            <a:pPr marL="811213" lvl="0" indent="-280988" algn="just">
              <a:lnSpc>
                <a:spcPct val="85000"/>
              </a:lnSpc>
              <a:spcBef>
                <a:spcPts val="0"/>
              </a:spcBef>
              <a:spcAft>
                <a:spcPts val="300"/>
              </a:spcAft>
              <a:buClrTx/>
              <a:buFont typeface="Arial" panose="020B0604020202020204" pitchFamily="34" charset="0"/>
              <a:buChar char="•"/>
              <a:tabLst>
                <a:tab pos="633413" algn="l"/>
              </a:tabLst>
            </a:pPr>
            <a:r>
              <a:rPr lang="es-ES" dirty="0">
                <a:solidFill>
                  <a:schemeClr val="tx1"/>
                </a:solidFill>
              </a:rPr>
              <a:t>líneas de código fuente </a:t>
            </a:r>
            <a:r>
              <a:rPr lang="es-ES" b="1" dirty="0">
                <a:solidFill>
                  <a:schemeClr val="tx1"/>
                </a:solidFill>
              </a:rPr>
              <a:t>equivalentes</a:t>
            </a:r>
            <a:r>
              <a:rPr lang="es-ES" dirty="0">
                <a:solidFill>
                  <a:schemeClr val="tx1"/>
                </a:solidFill>
              </a:rPr>
              <a:t> (ESLOC), calculadas usando el nivel de reutilización.​</a:t>
            </a:r>
          </a:p>
          <a:p>
            <a:pPr marL="811213" lvl="0" indent="-280988" algn="just">
              <a:lnSpc>
                <a:spcPct val="85000"/>
              </a:lnSpc>
              <a:spcBef>
                <a:spcPts val="0"/>
              </a:spcBef>
              <a:spcAft>
                <a:spcPts val="600"/>
              </a:spcAft>
              <a:buClrTx/>
              <a:buFont typeface="Arial" panose="020B0604020202020204" pitchFamily="34" charset="0"/>
              <a:buChar char="•"/>
              <a:tabLst>
                <a:tab pos="633413" algn="l"/>
              </a:tabLst>
            </a:pPr>
            <a:r>
              <a:rPr lang="es-ES" dirty="0">
                <a:solidFill>
                  <a:schemeClr val="tx1"/>
                </a:solidFill>
              </a:rPr>
              <a:t>líneas de código que </a:t>
            </a:r>
            <a:r>
              <a:rPr lang="es-ES" b="1" dirty="0">
                <a:solidFill>
                  <a:schemeClr val="tx1"/>
                </a:solidFill>
              </a:rPr>
              <a:t>tienen que modificarse </a:t>
            </a:r>
            <a:r>
              <a:rPr lang="es-ES" dirty="0">
                <a:solidFill>
                  <a:schemeClr val="tx1"/>
                </a:solidFill>
              </a:rPr>
              <a:t>debido a cambios en los requerimientos.​</a:t>
            </a:r>
            <a:endParaRPr lang="es-ES" sz="2400" dirty="0">
              <a:solidFill>
                <a:schemeClr val="tx1"/>
              </a:solidFill>
            </a:endParaRPr>
          </a:p>
          <a:p>
            <a:pPr marL="633413" lvl="0" indent="-368300" algn="just">
              <a:lnSpc>
                <a:spcPct val="85000"/>
              </a:lnSpc>
              <a:spcBef>
                <a:spcPts val="0"/>
              </a:spcBef>
              <a:spcAft>
                <a:spcPts val="300"/>
              </a:spcAft>
              <a:buClr>
                <a:srgbClr val="C00000"/>
              </a:buClr>
              <a:buFont typeface="Noto Sans Symbols2" panose="020B0502040504020204" pitchFamily="34" charset="0"/>
              <a:buChar char="»"/>
              <a:tabLst>
                <a:tab pos="633413" algn="l"/>
              </a:tabLst>
            </a:pPr>
            <a:r>
              <a:rPr lang="es-ES" sz="2400" dirty="0">
                <a:solidFill>
                  <a:schemeClr val="tx1"/>
                </a:solidFill>
              </a:rPr>
              <a:t>Estas estimaciones se añaden para obtener el tamaño del código (KLDC).</a:t>
            </a:r>
          </a:p>
          <a:p>
            <a:pPr marL="633413" lvl="0" indent="-368300" algn="just">
              <a:lnSpc>
                <a:spcPct val="85000"/>
              </a:lnSpc>
              <a:spcBef>
                <a:spcPts val="0"/>
              </a:spcBef>
              <a:spcAft>
                <a:spcPts val="300"/>
              </a:spcAft>
              <a:buClr>
                <a:srgbClr val="C00000"/>
              </a:buClr>
              <a:buFont typeface="Noto Sans Symbols2" panose="020B0502040504020204" pitchFamily="34" charset="0"/>
              <a:buChar char="»"/>
              <a:tabLst>
                <a:tab pos="633413" algn="l"/>
              </a:tabLst>
            </a:pPr>
            <a:endParaRPr lang="es-ES" sz="2400" dirty="0">
              <a:solidFill>
                <a:schemeClr val="tx1"/>
              </a:solidFill>
            </a:endParaRPr>
          </a:p>
          <a:p>
            <a:pPr marL="263525" lvl="0" indent="0" algn="just">
              <a:lnSpc>
                <a:spcPct val="85000"/>
              </a:lnSpc>
              <a:spcBef>
                <a:spcPts val="0"/>
              </a:spcBef>
              <a:spcAft>
                <a:spcPts val="1200"/>
              </a:spcAft>
              <a:buClr>
                <a:srgbClr val="C00000"/>
              </a:buClr>
              <a:buNone/>
            </a:pPr>
            <a:r>
              <a:rPr lang="es-ES" sz="2400" dirty="0">
                <a:solidFill>
                  <a:schemeClr val="tx1"/>
                </a:solidFill>
              </a:rPr>
              <a:t> </a:t>
            </a:r>
          </a:p>
          <a:p>
            <a:pPr marL="442913" lvl="0" indent="0" algn="ctr">
              <a:lnSpc>
                <a:spcPct val="85000"/>
              </a:lnSpc>
              <a:spcBef>
                <a:spcPts val="0"/>
              </a:spcBef>
              <a:spcAft>
                <a:spcPts val="1200"/>
              </a:spcAft>
              <a:buClr>
                <a:srgbClr val="C00000"/>
              </a:buClr>
              <a:buNone/>
            </a:pPr>
            <a:endParaRPr lang="es-ES" sz="2400" dirty="0">
              <a:solidFill>
                <a:schemeClr val="tx1"/>
              </a:solidFill>
            </a:endParaRPr>
          </a:p>
        </p:txBody>
      </p:sp>
      <p:sp>
        <p:nvSpPr>
          <p:cNvPr id="2" name="Google Shape;607;p1">
            <a:extLst>
              <a:ext uri="{FF2B5EF4-FFF2-40B4-BE49-F238E27FC236}">
                <a16:creationId xmlns:a16="http://schemas.microsoft.com/office/drawing/2014/main" id="{5497EB6A-6693-88AD-88C8-881E81A382BA}"/>
              </a:ext>
            </a:extLst>
          </p:cNvPr>
          <p:cNvSpPr/>
          <p:nvPr/>
        </p:nvSpPr>
        <p:spPr>
          <a:xfrm>
            <a:off x="9100934" y="3370008"/>
            <a:ext cx="2933750" cy="528057"/>
          </a:xfrm>
          <a:prstGeom prst="roundRect">
            <a:avLst>
              <a:gd name="adj" fmla="val 16667"/>
            </a:avLst>
          </a:prstGeom>
          <a:solidFill>
            <a:schemeClr val="accent2">
              <a:lumMod val="40000"/>
              <a:lumOff val="60000"/>
            </a:schemeClr>
          </a:solidFill>
          <a:ln w="25400" cap="flat" cmpd="sng">
            <a:solidFill>
              <a:srgbClr val="C00000"/>
            </a:solidFill>
            <a:prstDash val="solid"/>
            <a:round/>
            <a:headEnd type="none" w="sm" len="sm"/>
            <a:tailEnd type="none" w="sm" len="sm"/>
          </a:ln>
        </p:spPr>
        <p:txBody>
          <a:bodyPr spcFirstLastPara="1" wrap="square" lIns="90000" tIns="45000" rIns="90000" bIns="45000" anchor="ctr" anchorCtr="0">
            <a:noAutofit/>
          </a:bodyPr>
          <a:lstStyle/>
          <a:p>
            <a:pPr lvl="0" algn="ctr">
              <a:spcBef>
                <a:spcPts val="0"/>
              </a:spcBef>
              <a:spcAft>
                <a:spcPts val="0"/>
              </a:spcAft>
            </a:pPr>
            <a:r>
              <a:rPr lang="pt-BR" sz="2000" b="1" dirty="0">
                <a:latin typeface="Calibri"/>
                <a:ea typeface="Calibri"/>
                <a:cs typeface="Calibri"/>
                <a:sym typeface="Calibri"/>
              </a:rPr>
              <a:t>PM = A x </a:t>
            </a:r>
            <a:r>
              <a:rPr lang="pt-BR" sz="2000" b="1" dirty="0" err="1">
                <a:latin typeface="Calibri"/>
                <a:ea typeface="Calibri"/>
                <a:cs typeface="Calibri"/>
                <a:sym typeface="Calibri"/>
              </a:rPr>
              <a:t>Tamaño</a:t>
            </a:r>
            <a:r>
              <a:rPr lang="pt-BR" sz="2000" b="1" baseline="30000" dirty="0" err="1">
                <a:latin typeface="Calibri"/>
                <a:ea typeface="Calibri"/>
                <a:cs typeface="Calibri"/>
                <a:sym typeface="Calibri"/>
              </a:rPr>
              <a:t>B</a:t>
            </a:r>
            <a:r>
              <a:rPr lang="pt-BR" sz="2000" b="1" dirty="0">
                <a:latin typeface="Calibri"/>
                <a:ea typeface="Calibri"/>
                <a:cs typeface="Calibri"/>
                <a:sym typeface="Calibri"/>
              </a:rPr>
              <a:t> x M​</a:t>
            </a:r>
            <a:endParaRPr lang="pt-BR" sz="2000" dirty="0">
              <a:latin typeface="Arial"/>
              <a:ea typeface="Arial"/>
              <a:cs typeface="Arial"/>
              <a:sym typeface="Arial"/>
            </a:endParaRPr>
          </a:p>
        </p:txBody>
      </p:sp>
    </p:spTree>
    <p:extLst>
      <p:ext uri="{BB962C8B-B14F-4D97-AF65-F5344CB8AC3E}">
        <p14:creationId xmlns:p14="http://schemas.microsoft.com/office/powerpoint/2010/main" val="147496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63">
                                            <p:txEl>
                                              <p:pRg st="2" end="2"/>
                                            </p:txEl>
                                          </p:spTgt>
                                        </p:tgtEl>
                                        <p:attrNameLst>
                                          <p:attrName>style.visibility</p:attrName>
                                        </p:attrNameLst>
                                      </p:cBhvr>
                                      <p:to>
                                        <p:strVal val="visible"/>
                                      </p:to>
                                    </p:set>
                                    <p:animEffect transition="in" filter="fade">
                                      <p:cBhvr>
                                        <p:cTn id="10" dur="500"/>
                                        <p:tgtEl>
                                          <p:spTgt spid="16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3">
                                            <p:txEl>
                                              <p:pRg st="3" end="3"/>
                                            </p:txEl>
                                          </p:spTgt>
                                        </p:tgtEl>
                                        <p:attrNameLst>
                                          <p:attrName>style.visibility</p:attrName>
                                        </p:attrNameLst>
                                      </p:cBhvr>
                                      <p:to>
                                        <p:strVal val="visible"/>
                                      </p:to>
                                    </p:set>
                                    <p:animEffect transition="in" filter="fade">
                                      <p:cBhvr>
                                        <p:cTn id="13" dur="500"/>
                                        <p:tgtEl>
                                          <p:spTgt spid="16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3">
                                            <p:txEl>
                                              <p:pRg st="4" end="4"/>
                                            </p:txEl>
                                          </p:spTgt>
                                        </p:tgtEl>
                                        <p:attrNameLst>
                                          <p:attrName>style.visibility</p:attrName>
                                        </p:attrNameLst>
                                      </p:cBhvr>
                                      <p:to>
                                        <p:strVal val="visible"/>
                                      </p:to>
                                    </p:set>
                                    <p:animEffect transition="in" filter="fade">
                                      <p:cBhvr>
                                        <p:cTn id="18" dur="500"/>
                                        <p:tgtEl>
                                          <p:spTgt spid="16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3">
                                            <p:txEl>
                                              <p:pRg st="5" end="5"/>
                                            </p:txEl>
                                          </p:spTgt>
                                        </p:tgtEl>
                                        <p:attrNameLst>
                                          <p:attrName>style.visibility</p:attrName>
                                        </p:attrNameLst>
                                      </p:cBhvr>
                                      <p:to>
                                        <p:strVal val="visible"/>
                                      </p:to>
                                    </p:set>
                                    <p:animEffect transition="in" filter="fade">
                                      <p:cBhvr>
                                        <p:cTn id="23" dur="500"/>
                                        <p:tgtEl>
                                          <p:spTgt spid="16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3">
                                            <p:txEl>
                                              <p:pRg st="6" end="6"/>
                                            </p:txEl>
                                          </p:spTgt>
                                        </p:tgtEl>
                                        <p:attrNameLst>
                                          <p:attrName>style.visibility</p:attrName>
                                        </p:attrNameLst>
                                      </p:cBhvr>
                                      <p:to>
                                        <p:strVal val="visible"/>
                                      </p:to>
                                    </p:set>
                                    <p:animEffect transition="in" filter="fade">
                                      <p:cBhvr>
                                        <p:cTn id="28" dur="500"/>
                                        <p:tgtEl>
                                          <p:spTgt spid="16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3">
                                            <p:txEl>
                                              <p:pRg st="7" end="7"/>
                                            </p:txEl>
                                          </p:spTgt>
                                        </p:tgtEl>
                                        <p:attrNameLst>
                                          <p:attrName>style.visibility</p:attrName>
                                        </p:attrNameLst>
                                      </p:cBhvr>
                                      <p:to>
                                        <p:strVal val="visible"/>
                                      </p:to>
                                    </p:set>
                                    <p:animEffect transition="in" filter="fade">
                                      <p:cBhvr>
                                        <p:cTn id="33" dur="500"/>
                                        <p:tgtEl>
                                          <p:spTgt spid="16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63">
                                            <p:txEl>
                                              <p:pRg st="8" end="8"/>
                                            </p:txEl>
                                          </p:spTgt>
                                        </p:tgtEl>
                                        <p:attrNameLst>
                                          <p:attrName>style.visibility</p:attrName>
                                        </p:attrNameLst>
                                      </p:cBhvr>
                                      <p:to>
                                        <p:strVal val="visible"/>
                                      </p:to>
                                    </p:set>
                                    <p:animEffect transition="in" filter="fade">
                                      <p:cBhvr>
                                        <p:cTn id="38" dur="500"/>
                                        <p:tgtEl>
                                          <p:spTgt spid="1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F9B5160-A498-7629-3566-27E8A50B1661}"/>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3557AF7E-1CFE-B264-4CD3-5CF8CD58F0A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empíricos de estimación </a:t>
            </a:r>
          </a:p>
        </p:txBody>
      </p:sp>
      <p:sp>
        <p:nvSpPr>
          <p:cNvPr id="160" name="Google Shape;160;p4">
            <a:extLst>
              <a:ext uri="{FF2B5EF4-FFF2-40B4-BE49-F238E27FC236}">
                <a16:creationId xmlns:a16="http://schemas.microsoft.com/office/drawing/2014/main" id="{C2F7E852-F843-39AA-FD2B-6C8956E4E5CA}"/>
              </a:ext>
            </a:extLst>
          </p:cNvPr>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p>
        </p:txBody>
      </p:sp>
      <p:sp>
        <p:nvSpPr>
          <p:cNvPr id="161" name="Google Shape;161;p4">
            <a:extLst>
              <a:ext uri="{FF2B5EF4-FFF2-40B4-BE49-F238E27FC236}">
                <a16:creationId xmlns:a16="http://schemas.microsoft.com/office/drawing/2014/main" id="{0D1822DE-E395-0C3D-4278-B8834A14B81D}"/>
              </a:ext>
            </a:extLst>
          </p:cNvPr>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dirty="0"/>
              <a:t>INGENIERÍA DE SOFTWARE II</a:t>
            </a:r>
          </a:p>
        </p:txBody>
      </p:sp>
      <p:sp>
        <p:nvSpPr>
          <p:cNvPr id="162" name="Google Shape;162;p4">
            <a:extLst>
              <a:ext uri="{FF2B5EF4-FFF2-40B4-BE49-F238E27FC236}">
                <a16:creationId xmlns:a16="http://schemas.microsoft.com/office/drawing/2014/main" id="{976E4031-2225-86F9-9A22-AEF754857551}"/>
              </a:ext>
            </a:extLst>
          </p:cNvPr>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smtClean="0"/>
              <a:t>49</a:t>
            </a:fld>
            <a:endParaRPr lang="es-AR"/>
          </a:p>
        </p:txBody>
      </p:sp>
      <p:sp>
        <p:nvSpPr>
          <p:cNvPr id="163" name="Google Shape;163;p4">
            <a:extLst>
              <a:ext uri="{FF2B5EF4-FFF2-40B4-BE49-F238E27FC236}">
                <a16:creationId xmlns:a16="http://schemas.microsoft.com/office/drawing/2014/main" id="{5D11B4BB-BC44-764A-27AB-286369DA3590}"/>
              </a:ext>
            </a:extLst>
          </p:cNvPr>
          <p:cNvSpPr txBox="1">
            <a:spLocks noGrp="1"/>
          </p:cNvSpPr>
          <p:nvPr>
            <p:ph type="body" idx="4294967295"/>
          </p:nvPr>
        </p:nvSpPr>
        <p:spPr>
          <a:xfrm>
            <a:off x="1030288" y="1943612"/>
            <a:ext cx="10182225"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b="1" dirty="0">
                <a:solidFill>
                  <a:schemeClr val="tx1"/>
                </a:solidFill>
              </a:rPr>
              <a:t>COCOMO</a:t>
            </a:r>
            <a:r>
              <a:rPr lang="es-ES" sz="2800" dirty="0">
                <a:solidFill>
                  <a:schemeClr val="tx1"/>
                </a:solidFill>
              </a:rPr>
              <a:t> </a:t>
            </a:r>
            <a:r>
              <a:rPr lang="es-ES" sz="2800" b="1" dirty="0">
                <a:solidFill>
                  <a:schemeClr val="tx1"/>
                </a:solidFill>
              </a:rPr>
              <a:t>II</a:t>
            </a:r>
            <a:r>
              <a:rPr lang="es-ES" sz="2800" dirty="0">
                <a:solidFill>
                  <a:schemeClr val="tx1"/>
                </a:solidFill>
              </a:rPr>
              <a:t> – Limitaciones de los modelos</a:t>
            </a:r>
          </a:p>
          <a:p>
            <a:pPr marL="530225" lvl="0" indent="-265113"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Los modelos de COCOMO pueden ser complejos de usar, y requieren de datos históricos y experiencia para calibrar los factores de costo.</a:t>
            </a:r>
          </a:p>
          <a:p>
            <a:pPr marL="530225" lvl="0" indent="-265113"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Se miden los costes del producto, de acuerdo a su tamaño y otras características, pero no la productividad.</a:t>
            </a:r>
          </a:p>
          <a:p>
            <a:pPr marL="530225" lvl="0" indent="-265113"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La medición por líneas de código no es válida para orientación a objetos; entre otras cosas por la "reusabilidad" y la herencia, características de este paradigma (por ejemplo, puede implicar importante aumento en productividad, pero no en líneas de código). </a:t>
            </a:r>
          </a:p>
          <a:p>
            <a:pPr marL="530225" lvl="0"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a:p>
            <a:pPr marL="898525" lvl="0" indent="-277813" algn="just">
              <a:lnSpc>
                <a:spcPct val="85000"/>
              </a:lnSpc>
              <a:spcBef>
                <a:spcPts val="0"/>
              </a:spcBef>
              <a:spcAft>
                <a:spcPts val="0"/>
              </a:spcAft>
              <a:buClrTx/>
              <a:buFont typeface="Arial" panose="020B0604020202020204" pitchFamily="34" charset="0"/>
              <a:buChar char="•"/>
            </a:pPr>
            <a:endParaRPr lang="es-ES" sz="2400" dirty="0">
              <a:solidFill>
                <a:schemeClr val="tx1"/>
              </a:solidFill>
            </a:endParaRPr>
          </a:p>
          <a:p>
            <a:pPr marL="442913" lvl="0" indent="0" algn="ctr">
              <a:lnSpc>
                <a:spcPct val="85000"/>
              </a:lnSpc>
              <a:spcBef>
                <a:spcPts val="0"/>
              </a:spcBef>
              <a:spcAft>
                <a:spcPts val="1200"/>
              </a:spcAft>
              <a:buClr>
                <a:srgbClr val="C00000"/>
              </a:buClr>
              <a:buNone/>
            </a:pPr>
            <a:endParaRPr lang="es-ES" sz="2400" dirty="0">
              <a:solidFill>
                <a:srgbClr val="C00000"/>
              </a:solidFill>
            </a:endParaRPr>
          </a:p>
        </p:txBody>
      </p:sp>
    </p:spTree>
    <p:extLst>
      <p:ext uri="{BB962C8B-B14F-4D97-AF65-F5344CB8AC3E}">
        <p14:creationId xmlns:p14="http://schemas.microsoft.com/office/powerpoint/2010/main" val="1733524688"/>
      </p:ext>
    </p:extLst>
  </p:cSld>
  <p:clrMapOvr>
    <a:masterClrMapping/>
  </p:clrMapOvr>
</p:sld>
</file>

<file path=ppt/theme/theme1.xml><?xml version="1.0" encoding="utf-8"?>
<a:theme xmlns:a="http://schemas.openxmlformats.org/drawingml/2006/main" name="Retrospección">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2026 Clase 1_Comunicacion_SRS.pptx" id="{F39401A9-85DB-4349-A76B-94D95506DA4C}" vid="{1FC3EF6D-30C9-4320-8FF3-A71339F5A8A3}"/>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2026 Ingenieria de software 2</Template>
  <TotalTime>412</TotalTime>
  <Words>3527</Words>
  <Application>Microsoft Office PowerPoint</Application>
  <PresentationFormat>Panorámica</PresentationFormat>
  <Paragraphs>536</Paragraphs>
  <Slides>49</Slides>
  <Notes>49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49</vt:i4>
      </vt:variant>
    </vt:vector>
  </HeadingPairs>
  <TitlesOfParts>
    <vt:vector size="57" baseType="lpstr">
      <vt:lpstr>Arial</vt:lpstr>
      <vt:lpstr>Calibri</vt:lpstr>
      <vt:lpstr>Noto Sans Symbols</vt:lpstr>
      <vt:lpstr>Noto Sans Symbols2</vt:lpstr>
      <vt:lpstr>Times New Roman</vt:lpstr>
      <vt:lpstr>Twentieth Century</vt:lpstr>
      <vt:lpstr>Wingdings</vt:lpstr>
      <vt:lpstr>Retrospección</vt:lpstr>
      <vt:lpstr>Ingeniería de Software II</vt:lpstr>
      <vt:lpstr>Contenidos</vt:lpstr>
      <vt:lpstr>Gestión de Proyectos </vt:lpstr>
      <vt:lpstr>Métricas - Definiciones</vt:lpstr>
      <vt:lpstr>Métricas - Definiciones</vt:lpstr>
      <vt:lpstr>Métricas - Definiciones</vt:lpstr>
      <vt:lpstr>Métricas del proyecto</vt:lpstr>
      <vt:lpstr>Métricas del proceso</vt:lpstr>
      <vt:lpstr>Métricas del proceso</vt:lpstr>
      <vt:lpstr>Métricas del producto</vt:lpstr>
      <vt:lpstr>Métricas del producto</vt:lpstr>
      <vt:lpstr>Métricas estáticas del producto</vt:lpstr>
      <vt:lpstr>Métricas estáticas del producto</vt:lpstr>
      <vt:lpstr>Métricas del producto</vt:lpstr>
      <vt:lpstr>Métricas del producto</vt:lpstr>
      <vt:lpstr>Métricas del producto</vt:lpstr>
      <vt:lpstr>Métricas del producto - Ejemplo</vt:lpstr>
      <vt:lpstr>Métricas del producto</vt:lpstr>
      <vt:lpstr>Métricas del producto</vt:lpstr>
      <vt:lpstr>Métricas del producto</vt:lpstr>
      <vt:lpstr>Desarrollo de una métrica</vt:lpstr>
      <vt:lpstr>Desarrollo de una métrica</vt:lpstr>
      <vt:lpstr>Desarrollo de una métrica</vt:lpstr>
      <vt:lpstr>Desarrollo de una métrica – Ejemplo GQM</vt:lpstr>
      <vt:lpstr>Desarrollo de una métrica – Ejemplo GQM</vt:lpstr>
      <vt:lpstr>Desarrollo de una métrica</vt:lpstr>
      <vt:lpstr>Gestión de Proyectos </vt:lpstr>
      <vt:lpstr>Estimaciones y métricas</vt:lpstr>
      <vt:lpstr>Estimaciones</vt:lpstr>
      <vt:lpstr>Estimaciones</vt:lpstr>
      <vt:lpstr>Estimaciones</vt:lpstr>
      <vt:lpstr>Estimaciones de tiempo</vt:lpstr>
      <vt:lpstr>Técnicas de estimación</vt:lpstr>
      <vt:lpstr>Técnicas de estimación </vt:lpstr>
      <vt:lpstr>Técnicas de estimación </vt:lpstr>
      <vt:lpstr>Técnicas de estimación </vt:lpstr>
      <vt:lpstr>Técnicas de estimación </vt:lpstr>
      <vt:lpstr>Técnicas de estimación </vt:lpstr>
      <vt:lpstr>Técnicas de estimación </vt:lpstr>
      <vt:lpstr>Técnicas de estimación </vt:lpstr>
      <vt:lpstr>Técnicas de estimación </vt:lpstr>
      <vt:lpstr>Modelos empíricos de estimación </vt:lpstr>
      <vt:lpstr>Modelos empíricos de estimación </vt:lpstr>
      <vt:lpstr>Modelos empíricos de estimación </vt:lpstr>
      <vt:lpstr>Modelos empíricos de estimación </vt:lpstr>
      <vt:lpstr>Modelos empíricos de estimación </vt:lpstr>
      <vt:lpstr>Modelos empíricos de estimación </vt:lpstr>
      <vt:lpstr>Modelos empíricos de estimación </vt:lpstr>
      <vt:lpstr>Modelos empíricos de estimación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 Pasini</dc:creator>
  <cp:lastModifiedBy>Rocio Muñoz</cp:lastModifiedBy>
  <cp:revision>21</cp:revision>
  <dcterms:created xsi:type="dcterms:W3CDTF">2016-02-19T02:46:31Z</dcterms:created>
  <dcterms:modified xsi:type="dcterms:W3CDTF">2026-05-07T15:04:08Z</dcterms:modified>
</cp:coreProperties>
</file>