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8" r:id="rId9"/>
    <p:sldMasterId id="2147483660" r:id="rId10"/>
    <p:sldMasterId id="2147483662" r:id="rId11"/>
    <p:sldMasterId id="2147483664" r:id="rId12"/>
    <p:sldMasterId id="2147483666" r:id="rId13"/>
    <p:sldMasterId id="2147483668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</p:sldIdLst>
  <p:sldSz cy="6858000" cx="12192000"/>
  <p:notesSz cx="6794500" cy="9925050"/>
  <p:embeddedFontLs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126">
          <p15:clr>
            <a:srgbClr val="000000"/>
          </p15:clr>
        </p15:guide>
        <p15:guide id="2" pos="2140">
          <p15:clr>
            <a:srgbClr val="000000"/>
          </p15:clr>
        </p15:guide>
      </p15:notesGuideLst>
    </p:ext>
    <p:ext uri="GoogleSlidesCustomDataVersion2">
      <go:slidesCustomData xmlns:go="http://customooxmlschemas.google.com/" r:id="rId26" roundtripDataSignature="AMtx7mgbxasIj3yXtO0sMkhENAMIJd7t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5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4" Type="http://schemas.openxmlformats.org/officeDocument/2006/relationships/font" Target="fonts/Tahoma-regular.fntdata"/><Relationship Id="rId23" Type="http://schemas.openxmlformats.org/officeDocument/2006/relationships/slide" Target="slides/slide8.xml"/><Relationship Id="rId1" Type="http://schemas.openxmlformats.org/officeDocument/2006/relationships/theme" Target="theme/theme10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customschemas.google.com/relationships/presentationmetadata" Target="metadata"/><Relationship Id="rId25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13" Type="http://schemas.openxmlformats.org/officeDocument/2006/relationships/slideMaster" Target="slideMasters/slideMaster10.xml"/><Relationship Id="rId12" Type="http://schemas.openxmlformats.org/officeDocument/2006/relationships/slideMaster" Target="slideMasters/slideMaster9.xml"/><Relationship Id="rId15" Type="http://schemas.openxmlformats.org/officeDocument/2006/relationships/notesMaster" Target="notesMasters/notesMaster1.xml"/><Relationship Id="rId14" Type="http://schemas.openxmlformats.org/officeDocument/2006/relationships/slideMaster" Target="slideMasters/slideMaster11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89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45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831851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" type="body"/>
          </p:nvPr>
        </p:nvSpPr>
        <p:spPr>
          <a:xfrm>
            <a:off x="831851" y="455263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45127" y="1828802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2" type="body"/>
          </p:nvPr>
        </p:nvSpPr>
        <p:spPr>
          <a:xfrm>
            <a:off x="6172200" y="1828802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idx="1" type="body"/>
          </p:nvPr>
        </p:nvSpPr>
        <p:spPr>
          <a:xfrm>
            <a:off x="845127" y="1681852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7" name="Google Shape;77;p20"/>
          <p:cNvSpPr txBox="1"/>
          <p:nvPr>
            <p:ph idx="2" type="body"/>
          </p:nvPr>
        </p:nvSpPr>
        <p:spPr>
          <a:xfrm>
            <a:off x="845127" y="2507552"/>
            <a:ext cx="5156200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3" type="body"/>
          </p:nvPr>
        </p:nvSpPr>
        <p:spPr>
          <a:xfrm>
            <a:off x="6172201" y="1681851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9" name="Google Shape;79;p20"/>
          <p:cNvSpPr txBox="1"/>
          <p:nvPr>
            <p:ph idx="4" type="body"/>
          </p:nvPr>
        </p:nvSpPr>
        <p:spPr>
          <a:xfrm>
            <a:off x="6172201" y="2507552"/>
            <a:ext cx="5181601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841248" y="457202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03" name="Google Shape;103;p24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04" name="Google Shape;10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6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17" name="Google Shape;11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" type="body"/>
          </p:nvPr>
        </p:nvSpPr>
        <p:spPr>
          <a:xfrm rot="5400000">
            <a:off x="3926682" y="-1253332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 rot="5400000">
            <a:off x="7133432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 rot="5400000">
            <a:off x="1799432" y="-600867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0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7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5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2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8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0" name="Google Shape;6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5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1" name="Google Shape;11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4" name="Google Shape;12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>
            <p:ph type="ctrTitle"/>
          </p:nvPr>
        </p:nvSpPr>
        <p:spPr>
          <a:xfrm>
            <a:off x="4632325" y="981075"/>
            <a:ext cx="7113587" cy="288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6000"/>
              <a:buFont typeface="Calibri"/>
              <a:buNone/>
            </a:pPr>
            <a: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Taller de </a:t>
            </a:r>
            <a:b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  <p:pic>
        <p:nvPicPr>
          <p:cNvPr descr="Imagen que contiene dibujo&#10;&#10;Descripción generada automáticamente" id="151" name="Google Shape;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424" y="1196752"/>
            <a:ext cx="3387725" cy="3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57" name="Google Shape;1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 txBox="1"/>
          <p:nvPr/>
        </p:nvSpPr>
        <p:spPr>
          <a:xfrm>
            <a:off x="1146175" y="273050"/>
            <a:ext cx="198755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pic>
        <p:nvPicPr>
          <p:cNvPr descr="Icono&#10;&#10;Descripción generada automáticamente" id="159" name="Google Shape;1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5212" y="249237"/>
            <a:ext cx="8763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"/>
          <p:cNvSpPr txBox="1"/>
          <p:nvPr/>
        </p:nvSpPr>
        <p:spPr>
          <a:xfrm>
            <a:off x="958850" y="2989262"/>
            <a:ext cx="57531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Ejemplos del mundo real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958850" y="1785937"/>
            <a:ext cx="93853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Algoritmos y arquitecturas concurrentes</a:t>
            </a:r>
            <a:endParaRPr/>
          </a:p>
        </p:txBody>
      </p:sp>
      <p:sp>
        <p:nvSpPr>
          <p:cNvPr id="162" name="Google Shape;162;p2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"/>
          <p:cNvSpPr txBox="1"/>
          <p:nvPr/>
        </p:nvSpPr>
        <p:spPr>
          <a:xfrm>
            <a:off x="1146175" y="273050"/>
            <a:ext cx="719455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conceptos vimos hasta ahora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>
            <a:off x="9664700" y="2852737"/>
            <a:ext cx="2376487" cy="2646362"/>
            <a:chOff x="9664701" y="2852937"/>
            <a:chExt cx="2376487" cy="2646164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9664701" y="4484765"/>
              <a:ext cx="2376487" cy="1014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AD47"/>
                </a:buClr>
                <a:buSzPts val="3000"/>
                <a:buFont typeface="Calibri"/>
                <a:buNone/>
              </a:pPr>
              <a:r>
                <a:rPr b="1" i="0" lang="en-US" sz="3000" u="none">
                  <a:solidFill>
                    <a:srgbClr val="70AD47"/>
                  </a:solidFill>
                  <a:latin typeface="Calibri"/>
                  <a:ea typeface="Calibri"/>
                  <a:cs typeface="Calibri"/>
                  <a:sym typeface="Calibri"/>
                </a:rPr>
                <a:t>PROBLEMAS REALES</a:t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0244139" y="2852937"/>
              <a:ext cx="1217611" cy="1631828"/>
            </a:xfrm>
            <a:prstGeom prst="downArrow">
              <a:avLst>
                <a:gd fmla="val 13541" name="adj1"/>
                <a:gd fmla="val 50000" name="adj2"/>
              </a:avLst>
            </a:prstGeom>
            <a:solidFill>
              <a:srgbClr val="70AD47"/>
            </a:solidFill>
            <a:ln cap="flat" cmpd="sng" w="12700">
              <a:solidFill>
                <a:srgbClr val="70AD4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74" name="Google Shape;1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962" y="1212850"/>
            <a:ext cx="10369550" cy="5303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/>
        </p:nvSpPr>
        <p:spPr>
          <a:xfrm>
            <a:off x="720725" y="3429000"/>
            <a:ext cx="3790950" cy="576262"/>
          </a:xfrm>
          <a:prstGeom prst="rect">
            <a:avLst/>
          </a:prstGeom>
          <a:solidFill>
            <a:srgbClr val="767171"/>
          </a:solidFill>
          <a:ln cap="flat" cmpd="sng" w="12700">
            <a:solidFill>
              <a:srgbClr val="7671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81" name="Google Shape;1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 txBox="1"/>
          <p:nvPr/>
        </p:nvSpPr>
        <p:spPr>
          <a:xfrm>
            <a:off x="1146175" y="273050"/>
            <a:ext cx="110188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problemas reales – </a:t>
            </a:r>
            <a:r>
              <a:rPr b="0" i="0" lang="en-US" sz="3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Sincronización por barrera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1974850" y="3429000"/>
            <a:ext cx="1592262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BARRERA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260475" y="5284787"/>
            <a:ext cx="792162" cy="5762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23F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1009650" y="5289550"/>
            <a:ext cx="1063625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P1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2244725" y="5280025"/>
            <a:ext cx="792162" cy="576262"/>
          </a:xfrm>
          <a:prstGeom prst="roundRect">
            <a:avLst>
              <a:gd fmla="val 16667" name="adj"/>
            </a:avLst>
          </a:prstGeom>
          <a:solidFill>
            <a:srgbClr val="70AD47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974850" y="5294312"/>
            <a:ext cx="1062037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P2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228975" y="5275262"/>
            <a:ext cx="792162" cy="574675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3000375" y="5284787"/>
            <a:ext cx="1062037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P3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 rot="10800000">
            <a:off x="1414462" y="4178300"/>
            <a:ext cx="484187" cy="979487"/>
          </a:xfrm>
          <a:prstGeom prst="downArrow">
            <a:avLst>
              <a:gd fmla="val 16261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23F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4"/>
          <p:cNvSpPr/>
          <p:nvPr/>
        </p:nvSpPr>
        <p:spPr>
          <a:xfrm rot="10800000">
            <a:off x="3382962" y="4205287"/>
            <a:ext cx="484187" cy="977900"/>
          </a:xfrm>
          <a:prstGeom prst="downArrow">
            <a:avLst>
              <a:gd fmla="val 16253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4"/>
          <p:cNvSpPr/>
          <p:nvPr/>
        </p:nvSpPr>
        <p:spPr>
          <a:xfrm rot="10800000">
            <a:off x="2398712" y="4186237"/>
            <a:ext cx="484187" cy="977900"/>
          </a:xfrm>
          <a:prstGeom prst="downArrow">
            <a:avLst>
              <a:gd fmla="val 16253" name="adj1"/>
              <a:gd fmla="val 50000" name="adj2"/>
            </a:avLst>
          </a:prstGeom>
          <a:solidFill>
            <a:srgbClr val="70AD47"/>
          </a:solidFill>
          <a:ln cap="flat" cmpd="sng" w="12700">
            <a:solidFill>
              <a:srgbClr val="70AD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219450" y="2641600"/>
            <a:ext cx="792162" cy="576262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2989262" y="2651125"/>
            <a:ext cx="1063625" cy="72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P3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 rot="10800000">
            <a:off x="3382962" y="1558925"/>
            <a:ext cx="484187" cy="977900"/>
          </a:xfrm>
          <a:prstGeom prst="downArrow">
            <a:avLst>
              <a:gd fmla="val 16253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4997450" y="1158875"/>
            <a:ext cx="3843337" cy="646112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CARACTERISTICAS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5275262" y="1804987"/>
            <a:ext cx="6765925" cy="3248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Múltiples procesos se ejecutan concurrentemente, hasta que llegan a un punto especial, llamado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barrera.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procesos que llegan a la barrera deben detenerse y esperar que 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procesos.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</a:t>
            </a: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procesos alcanzan la barrera, podrán retomar su actividad (hasta finalizar o hasta alcanzar la próxima barrera).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esto los procesos deben avisar que llegaron.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4"/>
          <p:cNvGrpSpPr/>
          <p:nvPr/>
        </p:nvGrpSpPr>
        <p:grpSpPr>
          <a:xfrm>
            <a:off x="4997450" y="5187950"/>
            <a:ext cx="4960937" cy="1382712"/>
            <a:chOff x="4997450" y="5187950"/>
            <a:chExt cx="4960938" cy="1382713"/>
          </a:xfrm>
        </p:grpSpPr>
        <p:sp>
          <p:nvSpPr>
            <p:cNvPr id="200" name="Google Shape;200;p4"/>
            <p:cNvSpPr txBox="1"/>
            <p:nvPr/>
          </p:nvSpPr>
          <p:spPr>
            <a:xfrm>
              <a:off x="6103938" y="5862638"/>
              <a:ext cx="385445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vacunación por COVID.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partido de paddle.</a:t>
              </a:r>
              <a:endParaRPr/>
            </a:p>
          </p:txBody>
        </p:sp>
        <p:sp>
          <p:nvSpPr>
            <p:cNvPr id="201" name="Google Shape;201;p4"/>
            <p:cNvSpPr txBox="1"/>
            <p:nvPr/>
          </p:nvSpPr>
          <p:spPr>
            <a:xfrm>
              <a:off x="4997450" y="5187950"/>
              <a:ext cx="4411663" cy="646113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600"/>
                <a:buFont typeface="Calibri"/>
                <a:buNone/>
              </a:pPr>
              <a:r>
                <a:rPr b="1" i="0" lang="en-US" sz="3600" u="none">
                  <a:solidFill>
                    <a:srgbClr val="767171"/>
                  </a:solidFill>
                  <a:latin typeface="Calibri"/>
                  <a:ea typeface="Calibri"/>
                  <a:cs typeface="Calibri"/>
                  <a:sym typeface="Calibri"/>
                </a:rPr>
                <a:t>PROBLEMAS REALES</a:t>
              </a:r>
              <a:endParaRPr/>
            </a:p>
          </p:txBody>
        </p:sp>
      </p:grp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07" name="Google Shape;2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 txBox="1"/>
          <p:nvPr/>
        </p:nvSpPr>
        <p:spPr>
          <a:xfrm>
            <a:off x="1146175" y="273050"/>
            <a:ext cx="97202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problemas reales – </a:t>
            </a:r>
            <a:r>
              <a:rPr b="0" i="0" lang="en-US" sz="3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Passing the baton 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5307012" y="1752600"/>
            <a:ext cx="6521450" cy="39195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Múltiples procesos se ejecutan en concurrente.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Sólo un proceso a la vez, el que posee el testigo (baton), se mantiene activo.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el proceso activo completa su tarea, entrega el baton a otro proceso. El proceso que entregó el baton queda a la espera hasta recibirlo nuevamente.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proceso que recibió el baton completa su ejecución. Al completar su tarea, pasará el baton a otro proceso.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esto los procesos deben tener una forma de comunicarse con el otro proceso.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4997450" y="1158875"/>
            <a:ext cx="3843337" cy="646112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CARACTERISTICAS</a:t>
            </a:r>
            <a:endParaRPr/>
          </a:p>
        </p:txBody>
      </p:sp>
      <p:grpSp>
        <p:nvGrpSpPr>
          <p:cNvPr id="212" name="Google Shape;212;p5"/>
          <p:cNvGrpSpPr/>
          <p:nvPr/>
        </p:nvGrpSpPr>
        <p:grpSpPr>
          <a:xfrm>
            <a:off x="4997450" y="5519737"/>
            <a:ext cx="4411662" cy="1219200"/>
            <a:chOff x="4997450" y="5519738"/>
            <a:chExt cx="4411663" cy="1219200"/>
          </a:xfrm>
        </p:grpSpPr>
        <p:sp>
          <p:nvSpPr>
            <p:cNvPr id="213" name="Google Shape;213;p5"/>
            <p:cNvSpPr txBox="1"/>
            <p:nvPr/>
          </p:nvSpPr>
          <p:spPr>
            <a:xfrm>
              <a:off x="4997450" y="5519738"/>
              <a:ext cx="4411663" cy="646112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600"/>
                <a:buFont typeface="Calibri"/>
                <a:buNone/>
              </a:pPr>
              <a:r>
                <a:rPr b="1" i="0" lang="en-US" sz="3600" u="none">
                  <a:solidFill>
                    <a:srgbClr val="767171"/>
                  </a:solidFill>
                  <a:latin typeface="Calibri"/>
                  <a:ea typeface="Calibri"/>
                  <a:cs typeface="Calibri"/>
                  <a:sym typeface="Calibri"/>
                </a:rPr>
                <a:t>PROBLEMAS REALES</a:t>
              </a:r>
              <a:endParaRPr/>
            </a:p>
          </p:txBody>
        </p:sp>
        <p:sp>
          <p:nvSpPr>
            <p:cNvPr id="214" name="Google Shape;214;p5"/>
            <p:cNvSpPr txBox="1"/>
            <p:nvPr/>
          </p:nvSpPr>
          <p:spPr>
            <a:xfrm>
              <a:off x="5375275" y="6092825"/>
              <a:ext cx="3744913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La producción de un producto.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Una carrera de postas.</a:t>
              </a:r>
              <a:endParaRPr/>
            </a:p>
          </p:txBody>
        </p:sp>
      </p:grpSp>
      <p:grpSp>
        <p:nvGrpSpPr>
          <p:cNvPr id="215" name="Google Shape;215;p5"/>
          <p:cNvGrpSpPr/>
          <p:nvPr/>
        </p:nvGrpSpPr>
        <p:grpSpPr>
          <a:xfrm>
            <a:off x="917575" y="2312987"/>
            <a:ext cx="1062037" cy="731837"/>
            <a:chOff x="359680" y="1899856"/>
            <a:chExt cx="1062843" cy="731856"/>
          </a:xfrm>
        </p:grpSpPr>
        <p:sp>
          <p:nvSpPr>
            <p:cNvPr id="216" name="Google Shape;216;p5"/>
            <p:cNvSpPr/>
            <p:nvPr/>
          </p:nvSpPr>
          <p:spPr>
            <a:xfrm>
              <a:off x="610695" y="1899856"/>
              <a:ext cx="791174" cy="576277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223F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359680" y="1904824"/>
              <a:ext cx="1062843" cy="72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P1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5"/>
          <p:cNvGrpSpPr/>
          <p:nvPr/>
        </p:nvGrpSpPr>
        <p:grpSpPr>
          <a:xfrm>
            <a:off x="892175" y="3360737"/>
            <a:ext cx="1063625" cy="741362"/>
            <a:chOff x="388415" y="2948043"/>
            <a:chExt cx="1062843" cy="741792"/>
          </a:xfrm>
        </p:grpSpPr>
        <p:sp>
          <p:nvSpPr>
            <p:cNvPr id="219" name="Google Shape;219;p5"/>
            <p:cNvSpPr/>
            <p:nvPr/>
          </p:nvSpPr>
          <p:spPr>
            <a:xfrm>
              <a:off x="640642" y="2948043"/>
              <a:ext cx="793166" cy="576596"/>
            </a:xfrm>
            <a:prstGeom prst="roundRect">
              <a:avLst>
                <a:gd fmla="val 16667" name="adj"/>
              </a:avLst>
            </a:prstGeom>
            <a:solidFill>
              <a:srgbClr val="70AD47"/>
            </a:solidFill>
            <a:ln cap="flat" cmpd="sng" w="12700">
              <a:solidFill>
                <a:srgbClr val="70AD4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" name="Google Shape;220;p5"/>
            <p:cNvSpPr txBox="1"/>
            <p:nvPr/>
          </p:nvSpPr>
          <p:spPr>
            <a:xfrm>
              <a:off x="388415" y="2962947"/>
              <a:ext cx="1062843" cy="72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P2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5"/>
          <p:cNvGrpSpPr/>
          <p:nvPr/>
        </p:nvGrpSpPr>
        <p:grpSpPr>
          <a:xfrm>
            <a:off x="892175" y="4357687"/>
            <a:ext cx="1063625" cy="738187"/>
            <a:chOff x="399396" y="4034583"/>
            <a:chExt cx="1062843" cy="736824"/>
          </a:xfrm>
        </p:grpSpPr>
        <p:sp>
          <p:nvSpPr>
            <p:cNvPr id="222" name="Google Shape;222;p5"/>
            <p:cNvSpPr/>
            <p:nvPr/>
          </p:nvSpPr>
          <p:spPr>
            <a:xfrm>
              <a:off x="627828" y="4034583"/>
              <a:ext cx="793166" cy="576783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399396" y="4044519"/>
              <a:ext cx="1062843" cy="72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P3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5"/>
          <p:cNvSpPr/>
          <p:nvPr/>
        </p:nvSpPr>
        <p:spPr>
          <a:xfrm>
            <a:off x="77787" y="3375025"/>
            <a:ext cx="254000" cy="484187"/>
          </a:xfrm>
          <a:prstGeom prst="roundRect">
            <a:avLst>
              <a:gd fmla="val 16667" name="adj"/>
            </a:avLst>
          </a:prstGeom>
          <a:solidFill>
            <a:srgbClr val="767171"/>
          </a:solidFill>
          <a:ln cap="flat" cmpd="sng" w="12700">
            <a:solidFill>
              <a:srgbClr val="7671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828675" y="3286125"/>
            <a:ext cx="1511300" cy="741362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808037" y="4287837"/>
            <a:ext cx="1511300" cy="741362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32" name="Google Shape;2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 txBox="1"/>
          <p:nvPr/>
        </p:nvSpPr>
        <p:spPr>
          <a:xfrm>
            <a:off x="1146175" y="273050"/>
            <a:ext cx="1047432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problemas reales – </a:t>
            </a:r>
            <a:r>
              <a:rPr b="0" i="0" lang="en-US" sz="3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Productor/consumidor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5843587" y="1839912"/>
            <a:ext cx="6161087" cy="3744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dos tipos de procesos: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Productores: trabajan para generar algún recurso y almacenarlo en un espacio compartido.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Consumidores: utilizan los recursos generados por los productores para realizar su trabajo.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esto los procesos deben coordinar donde almacenan los datos los productores, cuando saben los consumidores que hay datos.</a:t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2419350" y="2025650"/>
            <a:ext cx="1008062" cy="3673475"/>
          </a:xfrm>
          <a:prstGeom prst="rect">
            <a:avLst/>
          </a:prstGeom>
          <a:solidFill>
            <a:srgbClr val="767171"/>
          </a:solidFill>
          <a:ln cap="flat" cmpd="sng" w="12700">
            <a:solidFill>
              <a:srgbClr val="7671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6"/>
          <p:cNvSpPr txBox="1"/>
          <p:nvPr/>
        </p:nvSpPr>
        <p:spPr>
          <a:xfrm rot="-5400000">
            <a:off x="1430398" y="3457737"/>
            <a:ext cx="2987253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6"/>
          <p:cNvGrpSpPr/>
          <p:nvPr/>
        </p:nvGrpSpPr>
        <p:grpSpPr>
          <a:xfrm>
            <a:off x="268287" y="2533650"/>
            <a:ext cx="1062037" cy="731837"/>
            <a:chOff x="359680" y="1899856"/>
            <a:chExt cx="1062843" cy="731856"/>
          </a:xfrm>
        </p:grpSpPr>
        <p:sp>
          <p:nvSpPr>
            <p:cNvPr id="239" name="Google Shape;239;p6"/>
            <p:cNvSpPr/>
            <p:nvPr/>
          </p:nvSpPr>
          <p:spPr>
            <a:xfrm>
              <a:off x="610695" y="1899856"/>
              <a:ext cx="791175" cy="576277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223F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359680" y="1904824"/>
              <a:ext cx="1062843" cy="72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P1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6"/>
          <p:cNvSpPr txBox="1"/>
          <p:nvPr/>
        </p:nvSpPr>
        <p:spPr>
          <a:xfrm>
            <a:off x="300037" y="1909762"/>
            <a:ext cx="12922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Productor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" name="Google Shape;242;p6"/>
          <p:cNvGrpSpPr/>
          <p:nvPr/>
        </p:nvGrpSpPr>
        <p:grpSpPr>
          <a:xfrm>
            <a:off x="4368800" y="3484562"/>
            <a:ext cx="1063625" cy="742950"/>
            <a:chOff x="388415" y="2948043"/>
            <a:chExt cx="1062843" cy="741792"/>
          </a:xfrm>
        </p:grpSpPr>
        <p:sp>
          <p:nvSpPr>
            <p:cNvPr id="243" name="Google Shape;243;p6"/>
            <p:cNvSpPr/>
            <p:nvPr/>
          </p:nvSpPr>
          <p:spPr>
            <a:xfrm>
              <a:off x="640642" y="2948043"/>
              <a:ext cx="793166" cy="575364"/>
            </a:xfrm>
            <a:prstGeom prst="roundRect">
              <a:avLst>
                <a:gd fmla="val 16667" name="adj"/>
              </a:avLst>
            </a:prstGeom>
            <a:solidFill>
              <a:srgbClr val="70AD47"/>
            </a:solidFill>
            <a:ln cap="flat" cmpd="sng" w="12700">
              <a:solidFill>
                <a:srgbClr val="70AD4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" name="Google Shape;244;p6"/>
            <p:cNvSpPr txBox="1"/>
            <p:nvPr/>
          </p:nvSpPr>
          <p:spPr>
            <a:xfrm>
              <a:off x="388415" y="2962947"/>
              <a:ext cx="1062843" cy="72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P2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6"/>
          <p:cNvSpPr txBox="1"/>
          <p:nvPr/>
        </p:nvSpPr>
        <p:spPr>
          <a:xfrm>
            <a:off x="4219575" y="1916112"/>
            <a:ext cx="1482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Consumidor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" name="Google Shape;246;p6"/>
          <p:cNvGrpSpPr/>
          <p:nvPr/>
        </p:nvGrpSpPr>
        <p:grpSpPr>
          <a:xfrm>
            <a:off x="268287" y="3441700"/>
            <a:ext cx="1062037" cy="731837"/>
            <a:chOff x="359680" y="1899856"/>
            <a:chExt cx="1062843" cy="731856"/>
          </a:xfrm>
        </p:grpSpPr>
        <p:sp>
          <p:nvSpPr>
            <p:cNvPr id="247" name="Google Shape;247;p6"/>
            <p:cNvSpPr/>
            <p:nvPr/>
          </p:nvSpPr>
          <p:spPr>
            <a:xfrm>
              <a:off x="610695" y="1899856"/>
              <a:ext cx="791175" cy="576277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223F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359680" y="1904824"/>
              <a:ext cx="1062843" cy="72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P1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6"/>
          <p:cNvGrpSpPr/>
          <p:nvPr/>
        </p:nvGrpSpPr>
        <p:grpSpPr>
          <a:xfrm>
            <a:off x="257175" y="4349750"/>
            <a:ext cx="1062037" cy="731837"/>
            <a:chOff x="359680" y="1899856"/>
            <a:chExt cx="1062843" cy="731856"/>
          </a:xfrm>
        </p:grpSpPr>
        <p:sp>
          <p:nvSpPr>
            <p:cNvPr id="250" name="Google Shape;250;p6"/>
            <p:cNvSpPr/>
            <p:nvPr/>
          </p:nvSpPr>
          <p:spPr>
            <a:xfrm>
              <a:off x="610695" y="1899856"/>
              <a:ext cx="791174" cy="576277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223F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359680" y="1904824"/>
              <a:ext cx="1062843" cy="72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b="0" i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P1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6"/>
          <p:cNvSpPr/>
          <p:nvPr/>
        </p:nvSpPr>
        <p:spPr>
          <a:xfrm>
            <a:off x="1373187" y="2554287"/>
            <a:ext cx="977900" cy="484187"/>
          </a:xfrm>
          <a:prstGeom prst="rightArrow">
            <a:avLst>
              <a:gd fmla="val 16253" name="adj1"/>
              <a:gd fmla="val 50000" name="adj2"/>
            </a:avLst>
          </a:prstGeom>
          <a:solidFill>
            <a:srgbClr val="767171"/>
          </a:solidFill>
          <a:ln cap="flat" cmpd="sng" w="12700">
            <a:solidFill>
              <a:srgbClr val="7671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544887" y="3505200"/>
            <a:ext cx="977900" cy="484187"/>
          </a:xfrm>
          <a:prstGeom prst="rightArrow">
            <a:avLst>
              <a:gd fmla="val 16253" name="adj1"/>
              <a:gd fmla="val 50000" name="adj2"/>
            </a:avLst>
          </a:prstGeom>
          <a:solidFill>
            <a:srgbClr val="767171"/>
          </a:solidFill>
          <a:ln cap="flat" cmpd="sng" w="12700">
            <a:solidFill>
              <a:srgbClr val="7671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5591175" y="1171575"/>
            <a:ext cx="3843337" cy="646112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CARACTERISTICAS</a:t>
            </a:r>
            <a:endParaRPr/>
          </a:p>
        </p:txBody>
      </p:sp>
      <p:grpSp>
        <p:nvGrpSpPr>
          <p:cNvPr id="255" name="Google Shape;255;p6"/>
          <p:cNvGrpSpPr/>
          <p:nvPr/>
        </p:nvGrpSpPr>
        <p:grpSpPr>
          <a:xfrm>
            <a:off x="5502275" y="5445125"/>
            <a:ext cx="4410075" cy="1465262"/>
            <a:chOff x="5502275" y="5445125"/>
            <a:chExt cx="4410075" cy="1465263"/>
          </a:xfrm>
        </p:grpSpPr>
        <p:sp>
          <p:nvSpPr>
            <p:cNvPr id="256" name="Google Shape;256;p6"/>
            <p:cNvSpPr txBox="1"/>
            <p:nvPr/>
          </p:nvSpPr>
          <p:spPr>
            <a:xfrm>
              <a:off x="5875338" y="5986463"/>
              <a:ext cx="3959225" cy="923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Corrección de parciales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Cualquier sistema de producción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6"/>
            <p:cNvSpPr txBox="1"/>
            <p:nvPr/>
          </p:nvSpPr>
          <p:spPr>
            <a:xfrm>
              <a:off x="5502275" y="5445125"/>
              <a:ext cx="4410075" cy="646113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600"/>
                <a:buFont typeface="Calibri"/>
                <a:buNone/>
              </a:pPr>
              <a:r>
                <a:rPr b="1" i="0" lang="en-US" sz="3600" u="none">
                  <a:solidFill>
                    <a:srgbClr val="767171"/>
                  </a:solidFill>
                  <a:latin typeface="Calibri"/>
                  <a:ea typeface="Calibri"/>
                  <a:cs typeface="Calibri"/>
                  <a:sym typeface="Calibri"/>
                </a:rPr>
                <a:t>PROBLEMAS REALES</a:t>
              </a:r>
              <a:endParaRPr/>
            </a:p>
          </p:txBody>
        </p:sp>
      </p:grpSp>
      <p:sp>
        <p:nvSpPr>
          <p:cNvPr id="258" name="Google Shape;258;p6"/>
          <p:cNvSpPr txBox="1"/>
          <p:nvPr/>
        </p:nvSpPr>
        <p:spPr>
          <a:xfrm>
            <a:off x="457200" y="2441575"/>
            <a:ext cx="892175" cy="741362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64" name="Google Shape;2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 txBox="1"/>
          <p:nvPr/>
        </p:nvSpPr>
        <p:spPr>
          <a:xfrm>
            <a:off x="1146175" y="273050"/>
            <a:ext cx="9148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problemas reales – </a:t>
            </a:r>
            <a:r>
              <a:rPr b="0" i="0" lang="en-US" sz="3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Servidor/Cliente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5575300" y="1639887"/>
            <a:ext cx="6535737" cy="38052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procesos se agrupan en dos categorías: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Servidores: permanecen inactivos hasta que un cliente les solicita algo. Cuando reciben una solicitud, realizan su tarea, entregan el resultado y vuelven a “dormir” hasta que otro cliente los despierte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Clientes: realizan su trabajo de manera independiente, hasta que requieren algo de un servidor. Entonces realizan una solicitud a un proceso servidor, y esperan hasta que recibir la respuesta. Cuando esto sucede, el cliente continúa su trabajo.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esto los procesos cliente deben realizar sus pedidos y el servidor debe administrar como los atiende. </a:t>
            </a:r>
            <a:endParaRPr/>
          </a:p>
        </p:txBody>
      </p:sp>
      <p:pic>
        <p:nvPicPr>
          <p:cNvPr id="268" name="Google Shape;2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7" y="2128837"/>
            <a:ext cx="4913312" cy="29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7"/>
          <p:cNvSpPr txBox="1"/>
          <p:nvPr/>
        </p:nvSpPr>
        <p:spPr>
          <a:xfrm>
            <a:off x="5159375" y="1085850"/>
            <a:ext cx="3843337" cy="646112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CARACTERISTICAS</a:t>
            </a:r>
            <a:endParaRPr/>
          </a:p>
        </p:txBody>
      </p:sp>
      <p:grpSp>
        <p:nvGrpSpPr>
          <p:cNvPr id="270" name="Google Shape;270;p7"/>
          <p:cNvGrpSpPr/>
          <p:nvPr/>
        </p:nvGrpSpPr>
        <p:grpSpPr>
          <a:xfrm>
            <a:off x="5159375" y="5435600"/>
            <a:ext cx="4411662" cy="1328737"/>
            <a:chOff x="5159375" y="5435600"/>
            <a:chExt cx="4411663" cy="1328738"/>
          </a:xfrm>
        </p:grpSpPr>
        <p:sp>
          <p:nvSpPr>
            <p:cNvPr id="271" name="Google Shape;271;p7"/>
            <p:cNvSpPr txBox="1"/>
            <p:nvPr/>
          </p:nvSpPr>
          <p:spPr>
            <a:xfrm>
              <a:off x="5583238" y="6022975"/>
              <a:ext cx="2576512" cy="741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Cualquier navegador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Cualquier empresa </a:t>
              </a:r>
              <a:endParaRPr/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5159375" y="5435600"/>
              <a:ext cx="4411663" cy="646113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600"/>
                <a:buFont typeface="Calibri"/>
                <a:buNone/>
              </a:pPr>
              <a:r>
                <a:rPr b="1" i="0" lang="en-US" sz="3600" u="none">
                  <a:solidFill>
                    <a:srgbClr val="767171"/>
                  </a:solidFill>
                  <a:latin typeface="Calibri"/>
                  <a:ea typeface="Calibri"/>
                  <a:cs typeface="Calibri"/>
                  <a:sym typeface="Calibri"/>
                </a:rPr>
                <a:t>PROBLEMAS REALES</a:t>
              </a:r>
              <a:endParaRPr/>
            </a:p>
          </p:txBody>
        </p:sp>
      </p:grp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78" name="Google Shape;2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/>
          <p:cNvSpPr txBox="1"/>
          <p:nvPr/>
        </p:nvSpPr>
        <p:spPr>
          <a:xfrm>
            <a:off x="1146175" y="273050"/>
            <a:ext cx="85740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problemas reales – </a:t>
            </a:r>
            <a:r>
              <a:rPr b="0" i="0" lang="en-US" sz="36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Master/Slave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4 – Módulo Concurrente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5519737" y="1731962"/>
            <a:ext cx="6521450" cy="32464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procesos se agrupan en dos categorías: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Maestro: deriva tareas a otros procesos (trabajadores)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Esclavos: realizan la tarea solicitada y envían el resultado al jefe, quedando a la espera de la siguiente tarea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esto el proceso jefe determina cuantos trabajadores necesita, cómo les reparte la tarea, cómo recibe los resultados. </a:t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5159375" y="1085850"/>
            <a:ext cx="3843337" cy="646112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CARACTERISTICAS</a:t>
            </a:r>
            <a:endParaRPr/>
          </a:p>
        </p:txBody>
      </p:sp>
      <p:grpSp>
        <p:nvGrpSpPr>
          <p:cNvPr id="283" name="Google Shape;283;p8"/>
          <p:cNvGrpSpPr/>
          <p:nvPr/>
        </p:nvGrpSpPr>
        <p:grpSpPr>
          <a:xfrm>
            <a:off x="5159375" y="5181600"/>
            <a:ext cx="4411662" cy="1449387"/>
            <a:chOff x="5159375" y="5181600"/>
            <a:chExt cx="4411663" cy="1449388"/>
          </a:xfrm>
        </p:grpSpPr>
        <p:sp>
          <p:nvSpPr>
            <p:cNvPr id="284" name="Google Shape;284;p8"/>
            <p:cNvSpPr txBox="1"/>
            <p:nvPr/>
          </p:nvSpPr>
          <p:spPr>
            <a:xfrm>
              <a:off x="5159375" y="5181600"/>
              <a:ext cx="4411663" cy="646113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67171"/>
                </a:buClr>
                <a:buSzPts val="3600"/>
                <a:buFont typeface="Calibri"/>
                <a:buNone/>
              </a:pPr>
              <a:r>
                <a:rPr b="1" i="0" lang="en-US" sz="3600" u="none">
                  <a:solidFill>
                    <a:srgbClr val="767171"/>
                  </a:solidFill>
                  <a:latin typeface="Calibri"/>
                  <a:ea typeface="Calibri"/>
                  <a:cs typeface="Calibri"/>
                  <a:sym typeface="Calibri"/>
                </a:rPr>
                <a:t>PROBLEMAS REALES</a:t>
              </a:r>
              <a:endParaRPr/>
            </a:p>
          </p:txBody>
        </p:sp>
        <p:sp>
          <p:nvSpPr>
            <p:cNvPr id="285" name="Google Shape;285;p8"/>
            <p:cNvSpPr txBox="1"/>
            <p:nvPr/>
          </p:nvSpPr>
          <p:spPr>
            <a:xfrm>
              <a:off x="5637213" y="5838825"/>
              <a:ext cx="3455987" cy="792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Buscar valores en un arreglo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Remisería </a:t>
              </a:r>
              <a:endParaRPr/>
            </a:p>
          </p:txBody>
        </p:sp>
      </p:grpSp>
      <p:pic>
        <p:nvPicPr>
          <p:cNvPr descr="Diagrama&#10;&#10;Descripción generada automáticamente" id="286" name="Google Shape;28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987" y="1517650"/>
            <a:ext cx="4318000" cy="38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9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6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5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8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0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3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7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2004-03-08T16:29:06Z</dcterms:created>
  <dc:creator>Cecilia Verónica Sanz</dc:creator>
</cp:coreProperties>
</file>