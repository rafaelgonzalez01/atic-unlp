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9.xml"/>
  <Override ContentType="application/vnd.openxmlformats-officedocument.presentationml.slideMaster+xml" PartName="/ppt/slideMasters/slideMaster11.xml"/>
  <Override ContentType="application/vnd.openxmlformats-officedocument.presentationml.slideMaster+xml" PartName="/ppt/slideMasters/slideMaster10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11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10.xml"/>
  <Override ContentType="application/vnd.openxmlformats-officedocument.theme+xml" PartName="/ppt/theme/theme12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  <p:sldMasterId id="2147483652" r:id="rId6"/>
    <p:sldMasterId id="2147483654" r:id="rId7"/>
    <p:sldMasterId id="2147483656" r:id="rId8"/>
    <p:sldMasterId id="2147483658" r:id="rId9"/>
    <p:sldMasterId id="2147483660" r:id="rId10"/>
    <p:sldMasterId id="2147483662" r:id="rId11"/>
    <p:sldMasterId id="2147483664" r:id="rId12"/>
    <p:sldMasterId id="2147483666" r:id="rId13"/>
    <p:sldMasterId id="2147483668" r:id="rId14"/>
  </p:sldMasterIdLst>
  <p:notesMasterIdLst>
    <p:notesMasterId r:id="rId15"/>
  </p:notesMasterIdLst>
  <p:sldIdLst>
    <p:sldId id="256" r:id="rId16"/>
    <p:sldId id="257" r:id="rId17"/>
    <p:sldId id="258" r:id="rId18"/>
    <p:sldId id="259" r:id="rId19"/>
    <p:sldId id="260" r:id="rId20"/>
    <p:sldId id="261" r:id="rId21"/>
    <p:sldId id="262" r:id="rId22"/>
    <p:sldId id="263" r:id="rId23"/>
    <p:sldId id="264" r:id="rId24"/>
    <p:sldId id="265" r:id="rId25"/>
    <p:sldId id="266" r:id="rId26"/>
    <p:sldId id="267" r:id="rId27"/>
    <p:sldId id="268" r:id="rId28"/>
    <p:sldId id="269" r:id="rId29"/>
    <p:sldId id="270" r:id="rId30"/>
    <p:sldId id="271" r:id="rId31"/>
  </p:sldIdLst>
  <p:sldSz cy="6858000" cx="12192000"/>
  <p:notesSz cx="6794500" cy="9925050"/>
  <p:embeddedFontLst>
    <p:embeddedFont>
      <p:font typeface="Arial Narrow"/>
      <p:regular r:id="rId32"/>
      <p:bold r:id="rId33"/>
      <p:italic r:id="rId34"/>
      <p:boldItalic r:id="rId35"/>
    </p:embeddedFont>
    <p:embeddedFont>
      <p:font typeface="Tahoma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{2D200454-40CA-4A62-9FC3-DE9A4176ACB9}">
      <p15:notesGuideLst>
        <p15:guide id="1" orient="horz" pos="3126">
          <p15:clr>
            <a:srgbClr val="000000"/>
          </p15:clr>
        </p15:guide>
        <p15:guide id="2" pos="2140">
          <p15:clr>
            <a:srgbClr val="000000"/>
          </p15:clr>
        </p15:guide>
      </p15:notesGuideLst>
    </p:ext>
    <p:ext uri="GoogleSlidesCustomDataVersion2">
      <go:slidesCustomData xmlns:go="http://customooxmlschemas.google.com/" r:id="rId38" roundtripDataSignature="AMtx7mh8O53btwB7/Eh+zGwW0onsKzb5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126" orient="horz"/>
        <p:guide pos="214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5.xml"/><Relationship Id="rId22" Type="http://schemas.openxmlformats.org/officeDocument/2006/relationships/slide" Target="slides/slide7.xml"/><Relationship Id="rId21" Type="http://schemas.openxmlformats.org/officeDocument/2006/relationships/slide" Target="slides/slide6.xml"/><Relationship Id="rId24" Type="http://schemas.openxmlformats.org/officeDocument/2006/relationships/slide" Target="slides/slide9.xml"/><Relationship Id="rId23" Type="http://schemas.openxmlformats.org/officeDocument/2006/relationships/slide" Target="slides/slide8.xml"/><Relationship Id="rId1" Type="http://schemas.openxmlformats.org/officeDocument/2006/relationships/theme" Target="theme/theme4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1.xml"/><Relationship Id="rId25" Type="http://schemas.openxmlformats.org/officeDocument/2006/relationships/slide" Target="slides/slide10.xml"/><Relationship Id="rId28" Type="http://schemas.openxmlformats.org/officeDocument/2006/relationships/slide" Target="slides/slide13.xml"/><Relationship Id="rId27" Type="http://schemas.openxmlformats.org/officeDocument/2006/relationships/slide" Target="slides/slide12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6.xml"/><Relationship Id="rId30" Type="http://schemas.openxmlformats.org/officeDocument/2006/relationships/slide" Target="slides/slide15.xml"/><Relationship Id="rId11" Type="http://schemas.openxmlformats.org/officeDocument/2006/relationships/slideMaster" Target="slideMasters/slideMaster8.xml"/><Relationship Id="rId33" Type="http://schemas.openxmlformats.org/officeDocument/2006/relationships/font" Target="fonts/ArialNarrow-bold.fntdata"/><Relationship Id="rId10" Type="http://schemas.openxmlformats.org/officeDocument/2006/relationships/slideMaster" Target="slideMasters/slideMaster7.xml"/><Relationship Id="rId32" Type="http://schemas.openxmlformats.org/officeDocument/2006/relationships/font" Target="fonts/ArialNarrow-regular.fntdata"/><Relationship Id="rId13" Type="http://schemas.openxmlformats.org/officeDocument/2006/relationships/slideMaster" Target="slideMasters/slideMaster10.xml"/><Relationship Id="rId35" Type="http://schemas.openxmlformats.org/officeDocument/2006/relationships/font" Target="fonts/ArialNarrow-boldItalic.fntdata"/><Relationship Id="rId12" Type="http://schemas.openxmlformats.org/officeDocument/2006/relationships/slideMaster" Target="slideMasters/slideMaster9.xml"/><Relationship Id="rId34" Type="http://schemas.openxmlformats.org/officeDocument/2006/relationships/font" Target="fonts/ArialNarrow-italic.fntdata"/><Relationship Id="rId15" Type="http://schemas.openxmlformats.org/officeDocument/2006/relationships/notesMaster" Target="notesMasters/notesMaster1.xml"/><Relationship Id="rId37" Type="http://schemas.openxmlformats.org/officeDocument/2006/relationships/font" Target="fonts/Tahoma-bold.fntdata"/><Relationship Id="rId14" Type="http://schemas.openxmlformats.org/officeDocument/2006/relationships/slideMaster" Target="slideMasters/slideMaster11.xml"/><Relationship Id="rId36" Type="http://schemas.openxmlformats.org/officeDocument/2006/relationships/font" Target="fonts/Tahoma-regular.fntdata"/><Relationship Id="rId17" Type="http://schemas.openxmlformats.org/officeDocument/2006/relationships/slide" Target="slides/slide2.xml"/><Relationship Id="rId16" Type="http://schemas.openxmlformats.org/officeDocument/2006/relationships/slide" Target="slides/slide1.xml"/><Relationship Id="rId38" Type="http://customschemas.google.com/relationships/presentationmetadata" Target="metadata"/><Relationship Id="rId19" Type="http://schemas.openxmlformats.org/officeDocument/2006/relationships/slide" Target="slides/slide4.xml"/><Relationship Id="rId1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6200" y="0"/>
            <a:ext cx="28956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448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ahoma"/>
              <a:buNone/>
            </a:pPr>
            <a:fld id="{00000000-1234-1234-1234-123412341234}" type="slidenum">
              <a:rPr b="0" i="0" lang="en-US" sz="18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7" name="Google Shape;147;p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4" name="Google Shape;154;p2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5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p5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0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7" name="Google Shape;257;p40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p40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4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5" name="Google Shape;285;p41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2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42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0" name="Google Shape;300;p42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3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43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2" name="Google Shape;312;p43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4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44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7" name="Google Shape;327;p44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45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7" name="Google Shape;337;p45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8" name="Google Shape;338;p45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6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0" name="Google Shape;360;p46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1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1" name="Google Shape;391;p11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2" name="Google Shape;392;p11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7" name="Google Shape;407;p47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47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8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3" name="Google Shape;423;p48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4" name="Google Shape;424;p48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9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9" name="Google Shape;439;p49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0" name="Google Shape;440;p49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50:notes"/>
          <p:cNvSpPr/>
          <p:nvPr>
            <p:ph idx="2" type="sldImg"/>
          </p:nvPr>
        </p:nvSpPr>
        <p:spPr>
          <a:xfrm>
            <a:off x="73025" y="762000"/>
            <a:ext cx="6635750" cy="3733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3" name="Google Shape;473;p50:notes"/>
          <p:cNvSpPr txBox="1"/>
          <p:nvPr>
            <p:ph idx="1" type="body"/>
          </p:nvPr>
        </p:nvSpPr>
        <p:spPr>
          <a:xfrm>
            <a:off x="914400" y="4724400"/>
            <a:ext cx="4953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4" name="Google Shape;474;p50:notes"/>
          <p:cNvSpPr txBox="1"/>
          <p:nvPr/>
        </p:nvSpPr>
        <p:spPr>
          <a:xfrm>
            <a:off x="3886200" y="94488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type="ctrTitle"/>
          </p:nvPr>
        </p:nvSpPr>
        <p:spPr>
          <a:xfrm>
            <a:off x="1524000" y="112453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9pPr>
          </a:lstStyle>
          <a:p/>
        </p:txBody>
      </p:sp>
      <p:sp>
        <p:nvSpPr>
          <p:cNvPr id="18" name="Google Shape;1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>
  <p:cSld name="Solo el título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3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/>
          <p:nvPr>
            <p:ph type="title"/>
          </p:nvPr>
        </p:nvSpPr>
        <p:spPr>
          <a:xfrm>
            <a:off x="831851" y="1712423"/>
            <a:ext cx="10515600" cy="285120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"/>
          <p:cNvSpPr txBox="1"/>
          <p:nvPr>
            <p:ph idx="1" type="body"/>
          </p:nvPr>
        </p:nvSpPr>
        <p:spPr>
          <a:xfrm>
            <a:off x="831851" y="4552635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 sz="1800">
                <a:solidFill>
                  <a:srgbClr val="3F3F3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53" name="Google Shape;53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7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7"/>
          <p:cNvSpPr txBox="1"/>
          <p:nvPr>
            <p:ph idx="1" type="body"/>
          </p:nvPr>
        </p:nvSpPr>
        <p:spPr>
          <a:xfrm>
            <a:off x="845127" y="1828802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65" name="Google Shape;65;p27"/>
          <p:cNvSpPr txBox="1"/>
          <p:nvPr>
            <p:ph idx="2" type="body"/>
          </p:nvPr>
        </p:nvSpPr>
        <p:spPr>
          <a:xfrm>
            <a:off x="6172200" y="1828802"/>
            <a:ext cx="5181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66" name="Google Shape;66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>
  <p:cSld name="Comparación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9"/>
          <p:cNvSpPr txBox="1"/>
          <p:nvPr>
            <p:ph idx="1" type="body"/>
          </p:nvPr>
        </p:nvSpPr>
        <p:spPr>
          <a:xfrm>
            <a:off x="845127" y="1681852"/>
            <a:ext cx="5156200" cy="8256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7" name="Google Shape;77;p29"/>
          <p:cNvSpPr txBox="1"/>
          <p:nvPr>
            <p:ph idx="2" type="body"/>
          </p:nvPr>
        </p:nvSpPr>
        <p:spPr>
          <a:xfrm>
            <a:off x="845127" y="2507552"/>
            <a:ext cx="5156200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78" name="Google Shape;78;p29"/>
          <p:cNvSpPr txBox="1"/>
          <p:nvPr>
            <p:ph idx="3" type="body"/>
          </p:nvPr>
        </p:nvSpPr>
        <p:spPr>
          <a:xfrm>
            <a:off x="6172201" y="1681851"/>
            <a:ext cx="5181601" cy="82569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79" name="Google Shape;79;p29"/>
          <p:cNvSpPr txBox="1"/>
          <p:nvPr>
            <p:ph idx="4" type="body"/>
          </p:nvPr>
        </p:nvSpPr>
        <p:spPr>
          <a:xfrm>
            <a:off x="6172201" y="2507552"/>
            <a:ext cx="5181601" cy="36805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1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3"/>
          <p:cNvSpPr txBox="1"/>
          <p:nvPr>
            <p:ph type="title"/>
          </p:nvPr>
        </p:nvSpPr>
        <p:spPr>
          <a:xfrm>
            <a:off x="841248" y="457202"/>
            <a:ext cx="3931920" cy="160019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3"/>
          <p:cNvSpPr txBox="1"/>
          <p:nvPr>
            <p:ph idx="1" type="body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5pPr>
            <a:lvl6pPr indent="-32385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6pPr>
            <a:lvl7pPr indent="-32385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7pPr>
            <a:lvl8pPr indent="-32385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8pPr>
            <a:lvl9pPr indent="-32385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/>
            </a:lvl9pPr>
          </a:lstStyle>
          <a:p/>
        </p:txBody>
      </p:sp>
      <p:sp>
        <p:nvSpPr>
          <p:cNvPr id="103" name="Google Shape;103;p33"/>
          <p:cNvSpPr txBox="1"/>
          <p:nvPr>
            <p:ph idx="2" type="body"/>
          </p:nvPr>
        </p:nvSpPr>
        <p:spPr>
          <a:xfrm>
            <a:off x="841248" y="2057399"/>
            <a:ext cx="3931920" cy="38100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04" name="Google Shape;104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33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5"/>
          <p:cNvSpPr txBox="1"/>
          <p:nvPr>
            <p:ph type="title"/>
          </p:nvPr>
        </p:nvSpPr>
        <p:spPr>
          <a:xfrm>
            <a:off x="841248" y="457200"/>
            <a:ext cx="393192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35"/>
          <p:cNvSpPr/>
          <p:nvPr>
            <p:ph idx="2" type="pic"/>
          </p:nvPr>
        </p:nvSpPr>
        <p:spPr>
          <a:xfrm>
            <a:off x="5181600" y="990600"/>
            <a:ext cx="6172200" cy="48768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35"/>
          <p:cNvSpPr txBox="1"/>
          <p:nvPr>
            <p:ph idx="1" type="body"/>
          </p:nvPr>
        </p:nvSpPr>
        <p:spPr>
          <a:xfrm>
            <a:off x="841248" y="2057400"/>
            <a:ext cx="3931920" cy="38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117" name="Google Shape;11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35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7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37"/>
          <p:cNvSpPr txBox="1"/>
          <p:nvPr>
            <p:ph idx="1" type="body"/>
          </p:nvPr>
        </p:nvSpPr>
        <p:spPr>
          <a:xfrm rot="5400000">
            <a:off x="3926682" y="-1253331"/>
            <a:ext cx="4351337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29" name="Google Shape;129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9"/>
          <p:cNvSpPr txBox="1"/>
          <p:nvPr>
            <p:ph type="title"/>
          </p:nvPr>
        </p:nvSpPr>
        <p:spPr>
          <a:xfrm rot="5400000">
            <a:off x="7133432" y="1951831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" type="body"/>
          </p:nvPr>
        </p:nvSpPr>
        <p:spPr>
          <a:xfrm rot="5400000">
            <a:off x="1799432" y="-600867"/>
            <a:ext cx="5811837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9pPr>
          </a:lstStyle>
          <a:p/>
        </p:txBody>
      </p:sp>
      <p:sp>
        <p:nvSpPr>
          <p:cNvPr id="141" name="Google Shape;141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800">
                <a:solidFill>
                  <a:srgbClr val="59595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39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 spd="slow">
    <p:random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4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theme" Target="../theme/theme2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11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5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12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1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10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7.xml"/></Relationships>
</file>

<file path=ppt/slideMasters/_rels/slideMaster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6.xml"/></Relationships>
</file>

<file path=ppt/slideMasters/_rels/slideMaster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3.xml"/></Relationships>
</file>

<file path=ppt/slideMasters/_rels/slideMaster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2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22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7" name="Google Shape;3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8" name="Google Shape;48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49" name="Google Shape;49;p24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6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26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0" name="Google Shape;60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61" name="Google Shape;61;p26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8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28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3" name="Google Shape;7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74" name="Google Shape;74;p2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30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8" name="Google Shape;88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89" name="Google Shape;89;p30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2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6" name="Google Shape;96;p32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7" name="Google Shape;97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8" name="Google Shape;98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99" name="Google Shape;99;p32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4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34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1" name="Google Shape;11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12" name="Google Shape;112;p34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5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6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36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4" name="Google Shape;124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25" name="Google Shape;125;p36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7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 txBox="1"/>
          <p:nvPr>
            <p:ph type="title"/>
          </p:nvPr>
        </p:nvSpPr>
        <p:spPr>
          <a:xfrm>
            <a:off x="844550" y="365125"/>
            <a:ext cx="10515600" cy="1325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4" name="Google Shape;134;p38"/>
          <p:cNvSpPr txBox="1"/>
          <p:nvPr>
            <p:ph idx="1" type="body"/>
          </p:nvPr>
        </p:nvSpPr>
        <p:spPr>
          <a:xfrm>
            <a:off x="844550" y="1828800"/>
            <a:ext cx="10515600" cy="4351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●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oto Sans Symbols"/>
              <a:buChar char="●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Font typeface="Noto Sans Symbols"/>
              <a:buChar char="●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5" name="Google Shape;135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6" name="Google Shape;136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/>
        </p:txBody>
      </p:sp>
      <p:sp>
        <p:nvSpPr>
          <p:cNvPr id="137" name="Google Shape;137;p38"/>
          <p:cNvSpPr txBox="1"/>
          <p:nvPr>
            <p:ph idx="12" type="sldNum"/>
          </p:nvPr>
        </p:nvSpPr>
        <p:spPr>
          <a:xfrm>
            <a:off x="861695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800"/>
              <a:buFont typeface="Tahoma"/>
              <a:buNone/>
              <a:defRPr b="0" i="0" sz="800" u="none" cap="none" strike="noStrike">
                <a:solidFill>
                  <a:srgbClr val="898989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9" r:id="rId1"/>
  </p:sldLayoutIdLst>
  <p:transition>
    <p:random/>
  </p:transition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Relationship Id="rId6" Type="http://schemas.openxmlformats.org/officeDocument/2006/relationships/image" Target="../media/image6.png"/><Relationship Id="rId7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"/>
          <p:cNvSpPr txBox="1"/>
          <p:nvPr>
            <p:ph type="ctrTitle"/>
          </p:nvPr>
        </p:nvSpPr>
        <p:spPr>
          <a:xfrm>
            <a:off x="4632325" y="981075"/>
            <a:ext cx="7113587" cy="288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E75B6"/>
              </a:buClr>
              <a:buSzPts val="6000"/>
              <a:buFont typeface="Calibri"/>
              <a:buNone/>
            </a:pPr>
            <a: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Taller de </a:t>
            </a:r>
            <a:b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>
                <a:solidFill>
                  <a:srgbClr val="2E75B6"/>
                </a:solidFill>
                <a:latin typeface="Calibri"/>
                <a:ea typeface="Calibri"/>
                <a:cs typeface="Calibri"/>
                <a:sym typeface="Calibri"/>
              </a:rPr>
              <a:t>Programación</a:t>
            </a:r>
            <a:endParaRPr/>
          </a:p>
        </p:txBody>
      </p:sp>
      <p:sp>
        <p:nvSpPr>
          <p:cNvPr id="150" name="Google Shape;150;p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n que contiene dibujo&#10;&#10;Descripción generada automáticamente" id="151" name="Google Shape;15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1424" y="1196752"/>
            <a:ext cx="3387725" cy="3387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random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57" name="Google Shape;1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 txBox="1"/>
          <p:nvPr/>
        </p:nvSpPr>
        <p:spPr>
          <a:xfrm>
            <a:off x="1146175" y="273050"/>
            <a:ext cx="1987550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cono&#10;&#10;Descripción generada automáticamente" id="159" name="Google Shape;159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25212" y="249237"/>
            <a:ext cx="876300" cy="876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"/>
          <p:cNvSpPr txBox="1"/>
          <p:nvPr/>
        </p:nvSpPr>
        <p:spPr>
          <a:xfrm>
            <a:off x="490050" y="2006779"/>
            <a:ext cx="11386298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Mecanismos de Comunicación -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"/>
          <p:cNvSpPr txBox="1"/>
          <p:nvPr/>
        </p:nvSpPr>
        <p:spPr>
          <a:xfrm>
            <a:off x="457882" y="3242648"/>
            <a:ext cx="2081212" cy="706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Ejemplos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"/>
          <p:cNvSpPr txBox="1"/>
          <p:nvPr/>
        </p:nvSpPr>
        <p:spPr>
          <a:xfrm>
            <a:off x="936625" y="11134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 txBox="1"/>
          <p:nvPr/>
        </p:nvSpPr>
        <p:spPr>
          <a:xfrm>
            <a:off x="958102" y="191546"/>
            <a:ext cx="10895012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Mecanismos de Comunicación – MEMORIA COMPARTIDA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3201059" y="2678749"/>
            <a:ext cx="712787" cy="1393825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2050122" y="2678749"/>
            <a:ext cx="712787" cy="1393825"/>
          </a:xfrm>
          <a:prstGeom prst="rect">
            <a:avLst/>
          </a:prstGeom>
          <a:noFill/>
          <a:ln cap="flat" cmpd="sng" w="12700">
            <a:solidFill>
              <a:srgbClr val="41719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1837397" y="4037649"/>
            <a:ext cx="4397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2,2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2556534" y="2437449"/>
            <a:ext cx="4381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7,7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3034372" y="4047174"/>
            <a:ext cx="4397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8,2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3753509" y="2448561"/>
            <a:ext cx="523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13,7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6921724" y="1044415"/>
            <a:ext cx="5016958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Realizar un programa donde existen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dos robots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 El robot 1 llamado avenida debe recorrer la avenida 10 y juntar las flores que encuentre. El robot 2 llamado calle debe recorrer la calle 5 juntando los papeles que encuentre.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223035" y="1044415"/>
            <a:ext cx="612785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Realizar un programa donde existen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dos robots</a:t>
            </a:r>
            <a:r>
              <a:rPr b="0" i="0" lang="en-US" sz="16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. El robot 1 trabaja en su área privada delimitada por las esquinas  (2,2) y (7,7) contando esquinas vacías y el robot 1 trabaja en su área privada delimitada por las esquinas  (8,2) y (13,7) contando esquinas vacías.</a:t>
            </a:r>
            <a:endParaRPr b="0" i="0" sz="1600" u="none" cap="none" strike="noStrike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79" name="Google Shape;179;p3"/>
          <p:cNvGrpSpPr/>
          <p:nvPr/>
        </p:nvGrpSpPr>
        <p:grpSpPr>
          <a:xfrm>
            <a:off x="8998173" y="3097968"/>
            <a:ext cx="2162630" cy="1456250"/>
            <a:chOff x="2408663" y="1895708"/>
            <a:chExt cx="4252333" cy="3849028"/>
          </a:xfrm>
        </p:grpSpPr>
        <p:sp>
          <p:nvSpPr>
            <p:cNvPr id="180" name="Google Shape;180;p3"/>
            <p:cNvSpPr txBox="1"/>
            <p:nvPr/>
          </p:nvSpPr>
          <p:spPr>
            <a:xfrm>
              <a:off x="2408663" y="1906824"/>
              <a:ext cx="4252333" cy="3791864"/>
            </a:xfrm>
            <a:prstGeom prst="rect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181" name="Google Shape;181;p3"/>
            <p:cNvCxnSpPr/>
            <p:nvPr/>
          </p:nvCxnSpPr>
          <p:spPr>
            <a:xfrm>
              <a:off x="3065798" y="1906824"/>
              <a:ext cx="0" cy="3791864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2" name="Google Shape;182;p3"/>
            <p:cNvCxnSpPr/>
            <p:nvPr/>
          </p:nvCxnSpPr>
          <p:spPr>
            <a:xfrm>
              <a:off x="3776901" y="1952872"/>
              <a:ext cx="0" cy="3791864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3" name="Google Shape;183;p3"/>
            <p:cNvCxnSpPr/>
            <p:nvPr/>
          </p:nvCxnSpPr>
          <p:spPr>
            <a:xfrm>
              <a:off x="4478481" y="1906824"/>
              <a:ext cx="0" cy="3791864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4" name="Google Shape;184;p3"/>
            <p:cNvCxnSpPr/>
            <p:nvPr/>
          </p:nvCxnSpPr>
          <p:spPr>
            <a:xfrm>
              <a:off x="5189584" y="1952872"/>
              <a:ext cx="0" cy="3791864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5" name="Google Shape;185;p3"/>
            <p:cNvCxnSpPr/>
            <p:nvPr/>
          </p:nvCxnSpPr>
          <p:spPr>
            <a:xfrm>
              <a:off x="5951480" y="1906824"/>
              <a:ext cx="0" cy="3791864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6" name="Google Shape;186;p3"/>
            <p:cNvCxnSpPr/>
            <p:nvPr/>
          </p:nvCxnSpPr>
          <p:spPr>
            <a:xfrm>
              <a:off x="6660996" y="1952872"/>
              <a:ext cx="0" cy="3791864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7" name="Google Shape;187;p3"/>
            <p:cNvCxnSpPr/>
            <p:nvPr/>
          </p:nvCxnSpPr>
          <p:spPr>
            <a:xfrm rot="10800000">
              <a:off x="2408663" y="5092117"/>
              <a:ext cx="4252333" cy="0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8" name="Google Shape;188;p3"/>
            <p:cNvCxnSpPr/>
            <p:nvPr/>
          </p:nvCxnSpPr>
          <p:spPr>
            <a:xfrm rot="10800000">
              <a:off x="2408663" y="4476018"/>
              <a:ext cx="4252333" cy="0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89" name="Google Shape;189;p3"/>
            <p:cNvCxnSpPr/>
            <p:nvPr/>
          </p:nvCxnSpPr>
          <p:spPr>
            <a:xfrm rot="10800000">
              <a:off x="2408663" y="3805932"/>
              <a:ext cx="4252333" cy="0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0" name="Google Shape;190;p3"/>
            <p:cNvCxnSpPr/>
            <p:nvPr/>
          </p:nvCxnSpPr>
          <p:spPr>
            <a:xfrm rot="10800000">
              <a:off x="2408663" y="3189833"/>
              <a:ext cx="4252333" cy="0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1" name="Google Shape;191;p3"/>
            <p:cNvCxnSpPr/>
            <p:nvPr/>
          </p:nvCxnSpPr>
          <p:spPr>
            <a:xfrm rot="10800000">
              <a:off x="2408663" y="2513395"/>
              <a:ext cx="4252333" cy="0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192" name="Google Shape;192;p3"/>
            <p:cNvCxnSpPr/>
            <p:nvPr/>
          </p:nvCxnSpPr>
          <p:spPr>
            <a:xfrm rot="10800000">
              <a:off x="2408663" y="1895708"/>
              <a:ext cx="4252333" cy="0"/>
            </a:xfrm>
            <a:prstGeom prst="straightConnector1">
              <a:avLst/>
            </a:prstGeom>
            <a:noFill/>
            <a:ln cap="flat" cmpd="sng" w="38100">
              <a:solidFill>
                <a:srgbClr val="76717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193" name="Google Shape;193;p3"/>
          <p:cNvSpPr/>
          <p:nvPr/>
        </p:nvSpPr>
        <p:spPr>
          <a:xfrm>
            <a:off x="9941479" y="3474195"/>
            <a:ext cx="250372" cy="250371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4" name="Google Shape;194;p3"/>
          <p:cNvGrpSpPr/>
          <p:nvPr/>
        </p:nvGrpSpPr>
        <p:grpSpPr>
          <a:xfrm>
            <a:off x="7202949" y="3145417"/>
            <a:ext cx="2087978" cy="884346"/>
            <a:chOff x="7202949" y="3145417"/>
            <a:chExt cx="2087978" cy="884346"/>
          </a:xfrm>
        </p:grpSpPr>
        <p:cxnSp>
          <p:nvCxnSpPr>
            <p:cNvPr id="195" name="Google Shape;195;p3"/>
            <p:cNvCxnSpPr/>
            <p:nvPr/>
          </p:nvCxnSpPr>
          <p:spPr>
            <a:xfrm rot="10800000">
              <a:off x="8515983" y="3191171"/>
              <a:ext cx="0" cy="827314"/>
            </a:xfrm>
            <a:prstGeom prst="straightConnector1">
              <a:avLst/>
            </a:prstGeom>
            <a:noFill/>
            <a:ln cap="flat" cmpd="sng" w="571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96" name="Google Shape;196;p3"/>
            <p:cNvSpPr txBox="1"/>
            <p:nvPr/>
          </p:nvSpPr>
          <p:spPr>
            <a:xfrm>
              <a:off x="8097249" y="3197844"/>
              <a:ext cx="119367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Calle 5</a:t>
              </a:r>
              <a:endParaRPr b="0" i="0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97" name="Google Shape;197;p3"/>
            <p:cNvGrpSpPr/>
            <p:nvPr/>
          </p:nvGrpSpPr>
          <p:grpSpPr>
            <a:xfrm rot="360000">
              <a:off x="7242330" y="3188266"/>
              <a:ext cx="861704" cy="798649"/>
              <a:chOff x="4731082" y="4584781"/>
              <a:chExt cx="836600" cy="789807"/>
            </a:xfrm>
          </p:grpSpPr>
          <p:sp>
            <p:nvSpPr>
              <p:cNvPr id="198" name="Google Shape;198;p3"/>
              <p:cNvSpPr/>
              <p:nvPr/>
            </p:nvSpPr>
            <p:spPr>
              <a:xfrm rot="-360000">
                <a:off x="4766280" y="4622871"/>
                <a:ext cx="766203" cy="713626"/>
              </a:xfrm>
              <a:prstGeom prst="ellipse">
                <a:avLst/>
              </a:prstGeom>
              <a:solidFill>
                <a:srgbClr val="00B05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199" name="Google Shape;199;p3"/>
              <p:cNvSpPr/>
              <p:nvPr/>
            </p:nvSpPr>
            <p:spPr>
              <a:xfrm rot="-360000">
                <a:off x="4909505" y="4776426"/>
                <a:ext cx="119528" cy="117352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0" name="Google Shape;200;p3"/>
              <p:cNvSpPr/>
              <p:nvPr/>
            </p:nvSpPr>
            <p:spPr>
              <a:xfrm rot="-360000">
                <a:off x="5224824" y="4754799"/>
                <a:ext cx="119527" cy="118409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01" name="Google Shape;201;p3"/>
              <p:cNvCxnSpPr/>
              <p:nvPr/>
            </p:nvCxnSpPr>
            <p:spPr>
              <a:xfrm flipH="1" rot="-300000">
                <a:off x="5127612" y="4652464"/>
                <a:ext cx="6130" cy="298137"/>
              </a:xfrm>
              <a:prstGeom prst="straightConnector1">
                <a:avLst/>
              </a:prstGeom>
              <a:solidFill>
                <a:srgbClr val="003399"/>
              </a:solidFill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2" name="Google Shape;202;p3"/>
              <p:cNvCxnSpPr/>
              <p:nvPr/>
            </p:nvCxnSpPr>
            <p:spPr>
              <a:xfrm rot="10500000">
                <a:off x="4786337" y="4947262"/>
                <a:ext cx="706950" cy="0"/>
              </a:xfrm>
              <a:prstGeom prst="straightConnector1">
                <a:avLst/>
              </a:prstGeom>
              <a:solidFill>
                <a:srgbClr val="003399"/>
              </a:solidFill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03" name="Google Shape;203;p3"/>
          <p:cNvGrpSpPr/>
          <p:nvPr/>
        </p:nvGrpSpPr>
        <p:grpSpPr>
          <a:xfrm>
            <a:off x="9671586" y="4350737"/>
            <a:ext cx="789195" cy="1920950"/>
            <a:chOff x="9671586" y="4350737"/>
            <a:chExt cx="789195" cy="1920950"/>
          </a:xfrm>
        </p:grpSpPr>
        <p:cxnSp>
          <p:nvCxnSpPr>
            <p:cNvPr id="204" name="Google Shape;204;p3"/>
            <p:cNvCxnSpPr/>
            <p:nvPr/>
          </p:nvCxnSpPr>
          <p:spPr>
            <a:xfrm rot="10800000">
              <a:off x="10050831" y="4606595"/>
              <a:ext cx="0" cy="827314"/>
            </a:xfrm>
            <a:prstGeom prst="straightConnector1">
              <a:avLst/>
            </a:prstGeom>
            <a:noFill/>
            <a:ln cap="flat" cmpd="sng" w="571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205" name="Google Shape;205;p3"/>
            <p:cNvSpPr txBox="1"/>
            <p:nvPr/>
          </p:nvSpPr>
          <p:spPr>
            <a:xfrm rot="-5400000">
              <a:off x="9309169" y="4747521"/>
              <a:ext cx="119367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2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000000"/>
                  </a:solidFill>
                  <a:latin typeface="Consolas"/>
                  <a:ea typeface="Consolas"/>
                  <a:cs typeface="Consolas"/>
                  <a:sym typeface="Consolas"/>
                </a:rPr>
                <a:t>Avenida 4</a:t>
              </a:r>
              <a:endParaRPr b="0" i="0" sz="14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06" name="Google Shape;206;p3"/>
            <p:cNvGrpSpPr/>
            <p:nvPr/>
          </p:nvGrpSpPr>
          <p:grpSpPr>
            <a:xfrm>
              <a:off x="9671586" y="5550072"/>
              <a:ext cx="789195" cy="721615"/>
              <a:chOff x="6475936" y="3905726"/>
              <a:chExt cx="789195" cy="721615"/>
            </a:xfrm>
          </p:grpSpPr>
          <p:sp>
            <p:nvSpPr>
              <p:cNvPr id="207" name="Google Shape;207;p3"/>
              <p:cNvSpPr/>
              <p:nvPr/>
            </p:nvSpPr>
            <p:spPr>
              <a:xfrm>
                <a:off x="6475936" y="3905726"/>
                <a:ext cx="789195" cy="721615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8" name="Google Shape;208;p3"/>
              <p:cNvSpPr/>
              <p:nvPr/>
            </p:nvSpPr>
            <p:spPr>
              <a:xfrm>
                <a:off x="6639757" y="4042410"/>
                <a:ext cx="123115" cy="118666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09" name="Google Shape;209;p3"/>
              <p:cNvSpPr/>
              <p:nvPr/>
            </p:nvSpPr>
            <p:spPr>
              <a:xfrm>
                <a:off x="6964989" y="4054606"/>
                <a:ext cx="123114" cy="119735"/>
              </a:xfrm>
              <a:prstGeom prst="ellipse">
                <a:avLst/>
              </a:prstGeom>
              <a:solidFill>
                <a:schemeClr val="dk1"/>
              </a:solidFill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cxnSp>
            <p:nvCxnSpPr>
              <p:cNvPr id="210" name="Google Shape;210;p3"/>
              <p:cNvCxnSpPr/>
              <p:nvPr/>
            </p:nvCxnSpPr>
            <p:spPr>
              <a:xfrm flipH="1" rot="60000">
                <a:off x="6867047" y="3934624"/>
                <a:ext cx="6314" cy="301475"/>
              </a:xfrm>
              <a:prstGeom prst="straightConnector1">
                <a:avLst/>
              </a:prstGeom>
              <a:solidFill>
                <a:srgbClr val="003399"/>
              </a:solidFill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1" name="Google Shape;211;p3"/>
              <p:cNvCxnSpPr/>
              <p:nvPr/>
            </p:nvCxnSpPr>
            <p:spPr>
              <a:xfrm rot="-10740000">
                <a:off x="6500076" y="4232898"/>
                <a:ext cx="728164" cy="0"/>
              </a:xfrm>
              <a:prstGeom prst="straightConnector1">
                <a:avLst/>
              </a:prstGeom>
              <a:solidFill>
                <a:srgbClr val="003399"/>
              </a:solidFill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12" name="Google Shape;212;p3"/>
          <p:cNvGrpSpPr/>
          <p:nvPr/>
        </p:nvGrpSpPr>
        <p:grpSpPr>
          <a:xfrm rot="360000">
            <a:off x="1149036" y="3056601"/>
            <a:ext cx="861704" cy="798649"/>
            <a:chOff x="4731082" y="4584781"/>
            <a:chExt cx="836600" cy="789807"/>
          </a:xfrm>
        </p:grpSpPr>
        <p:sp>
          <p:nvSpPr>
            <p:cNvPr id="213" name="Google Shape;213;p3"/>
            <p:cNvSpPr/>
            <p:nvPr/>
          </p:nvSpPr>
          <p:spPr>
            <a:xfrm rot="-360000">
              <a:off x="4766280" y="4622871"/>
              <a:ext cx="766203" cy="7136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4" name="Google Shape;214;p3"/>
            <p:cNvSpPr/>
            <p:nvPr/>
          </p:nvSpPr>
          <p:spPr>
            <a:xfrm rot="-360000">
              <a:off x="4909505" y="4776426"/>
              <a:ext cx="119528" cy="11735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15" name="Google Shape;215;p3"/>
            <p:cNvSpPr/>
            <p:nvPr/>
          </p:nvSpPr>
          <p:spPr>
            <a:xfrm rot="-360000">
              <a:off x="5224824" y="4754799"/>
              <a:ext cx="119527" cy="118409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16" name="Google Shape;216;p3"/>
            <p:cNvCxnSpPr/>
            <p:nvPr/>
          </p:nvCxnSpPr>
          <p:spPr>
            <a:xfrm flipH="1" rot="-300000">
              <a:off x="5127612" y="4652464"/>
              <a:ext cx="6130" cy="298137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7" name="Google Shape;217;p3"/>
            <p:cNvCxnSpPr/>
            <p:nvPr/>
          </p:nvCxnSpPr>
          <p:spPr>
            <a:xfrm rot="10500000">
              <a:off x="4786337" y="4947262"/>
              <a:ext cx="706950" cy="0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18" name="Google Shape;218;p3"/>
          <p:cNvGrpSpPr/>
          <p:nvPr/>
        </p:nvGrpSpPr>
        <p:grpSpPr>
          <a:xfrm>
            <a:off x="4033514" y="3147478"/>
            <a:ext cx="789195" cy="721615"/>
            <a:chOff x="6475936" y="3905726"/>
            <a:chExt cx="789195" cy="721615"/>
          </a:xfrm>
        </p:grpSpPr>
        <p:sp>
          <p:nvSpPr>
            <p:cNvPr id="219" name="Google Shape;219;p3"/>
            <p:cNvSpPr/>
            <p:nvPr/>
          </p:nvSpPr>
          <p:spPr>
            <a:xfrm>
              <a:off x="6475936" y="3905726"/>
              <a:ext cx="789195" cy="72161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0" name="Google Shape;220;p3"/>
            <p:cNvSpPr/>
            <p:nvPr/>
          </p:nvSpPr>
          <p:spPr>
            <a:xfrm>
              <a:off x="6639757" y="4042410"/>
              <a:ext cx="123115" cy="118666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221" name="Google Shape;221;p3"/>
            <p:cNvSpPr/>
            <p:nvPr/>
          </p:nvSpPr>
          <p:spPr>
            <a:xfrm>
              <a:off x="6964989" y="4054606"/>
              <a:ext cx="123114" cy="119735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222" name="Google Shape;222;p3"/>
            <p:cNvCxnSpPr/>
            <p:nvPr/>
          </p:nvCxnSpPr>
          <p:spPr>
            <a:xfrm flipH="1" rot="60000">
              <a:off x="6867047" y="3934624"/>
              <a:ext cx="6314" cy="301475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23" name="Google Shape;223;p3"/>
            <p:cNvCxnSpPr/>
            <p:nvPr/>
          </p:nvCxnSpPr>
          <p:spPr>
            <a:xfrm rot="-10740000">
              <a:off x="6500076" y="4232898"/>
              <a:ext cx="728164" cy="0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24" name="Google Shape;224;p3"/>
          <p:cNvGrpSpPr/>
          <p:nvPr/>
        </p:nvGrpSpPr>
        <p:grpSpPr>
          <a:xfrm>
            <a:off x="188679" y="4434191"/>
            <a:ext cx="5110538" cy="1807136"/>
            <a:chOff x="188679" y="4434191"/>
            <a:chExt cx="5110538" cy="1807136"/>
          </a:xfrm>
        </p:grpSpPr>
        <p:sp>
          <p:nvSpPr>
            <p:cNvPr id="225" name="Google Shape;225;p3"/>
            <p:cNvSpPr txBox="1"/>
            <p:nvPr/>
          </p:nvSpPr>
          <p:spPr>
            <a:xfrm rot="-420000">
              <a:off x="248747" y="4643425"/>
              <a:ext cx="3507153" cy="1200288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rPr b="1" i="0" lang="en-US" sz="2400" u="none" cap="none" strike="noStrike">
                  <a:solidFill>
                    <a:srgbClr val="33CCCC"/>
                  </a:solidFill>
                  <a:latin typeface="Arial"/>
                  <a:ea typeface="Arial"/>
                  <a:cs typeface="Arial"/>
                  <a:sym typeface="Arial"/>
                </a:rPr>
                <a:t>¿Ocurre lo mismo si se declara una única area compartida (2,2) (13,7)?</a:t>
              </a:r>
              <a:endParaRPr b="1" i="0" sz="24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3"/>
            <p:cNvSpPr txBox="1"/>
            <p:nvPr/>
          </p:nvSpPr>
          <p:spPr>
            <a:xfrm>
              <a:off x="4180254" y="4847502"/>
              <a:ext cx="1118963" cy="1393825"/>
            </a:xfrm>
            <a:prstGeom prst="rect">
              <a:avLst/>
            </a:prstGeom>
            <a:noFill/>
            <a:ln cap="flat" cmpd="sng" w="12700">
              <a:solidFill>
                <a:srgbClr val="41719C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</p:grpSp>
      <p:sp>
        <p:nvSpPr>
          <p:cNvPr id="227" name="Google Shape;227;p3"/>
          <p:cNvSpPr txBox="1"/>
          <p:nvPr/>
        </p:nvSpPr>
        <p:spPr>
          <a:xfrm>
            <a:off x="4013567" y="6215927"/>
            <a:ext cx="439737" cy="2778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2,2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3"/>
          <p:cNvSpPr txBox="1"/>
          <p:nvPr/>
        </p:nvSpPr>
        <p:spPr>
          <a:xfrm>
            <a:off x="5167834" y="4615451"/>
            <a:ext cx="5238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13,7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75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75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250"/>
                            </p:stCondLst>
                            <p:childTnLst>
                              <p:par>
                                <p:cTn fill="hold" nodeType="afterEffect" presetClass="entr" presetID="23" presetSubtype="16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5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35" name="Google Shape;23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5"/>
          <p:cNvSpPr txBox="1"/>
          <p:nvPr/>
        </p:nvSpPr>
        <p:spPr>
          <a:xfrm>
            <a:off x="1146175" y="273050"/>
            <a:ext cx="86375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351203">
            <a:off x="347486" y="1546936"/>
            <a:ext cx="2232924" cy="1720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5"/>
          <p:cNvSpPr txBox="1"/>
          <p:nvPr/>
        </p:nvSpPr>
        <p:spPr>
          <a:xfrm>
            <a:off x="4405780" y="1391764"/>
            <a:ext cx="3895724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BLOQUEAR RECURSO</a:t>
            </a:r>
            <a:endParaRPr b="1" i="0" sz="32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4813949" y="2008330"/>
            <a:ext cx="7227237" cy="101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Dado un recurso compratido (por 2 o más procesos) que está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DISPONIBLE</a:t>
            </a: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 se bloquea ese recurso para que otro proceso no pueda accederlo-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4405780" y="3867883"/>
            <a:ext cx="5805020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LIBERAR UN RECURSO </a:t>
            </a:r>
            <a:endParaRPr b="1" i="0" sz="32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4813949" y="4428821"/>
            <a:ext cx="6381298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Dado un recurso compartido (por 2 o más procesos) 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BLOQUEADO</a:t>
            </a: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 el programador libera dicho recurso para que cualquier proceso pueda bloquearlo.</a:t>
            </a:r>
            <a:endParaRPr/>
          </a:p>
        </p:txBody>
      </p:sp>
      <p:grpSp>
        <p:nvGrpSpPr>
          <p:cNvPr id="243" name="Google Shape;243;p5"/>
          <p:cNvGrpSpPr/>
          <p:nvPr/>
        </p:nvGrpSpPr>
        <p:grpSpPr>
          <a:xfrm rot="-360007">
            <a:off x="575194" y="1856567"/>
            <a:ext cx="3916833" cy="1834363"/>
            <a:chOff x="3767095" y="-395445"/>
            <a:chExt cx="4915442" cy="2823065"/>
          </a:xfrm>
        </p:grpSpPr>
        <p:grpSp>
          <p:nvGrpSpPr>
            <p:cNvPr id="244" name="Google Shape;244;p5"/>
            <p:cNvGrpSpPr/>
            <p:nvPr/>
          </p:nvGrpSpPr>
          <p:grpSpPr>
            <a:xfrm>
              <a:off x="3767095" y="-395445"/>
              <a:ext cx="4915442" cy="2823065"/>
              <a:chOff x="239281" y="1378925"/>
              <a:chExt cx="4915442" cy="2823065"/>
            </a:xfrm>
          </p:grpSpPr>
          <p:pic>
            <p:nvPicPr>
              <p:cNvPr id="245" name="Google Shape;245;p5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-419999">
                <a:off x="360210" y="1655246"/>
                <a:ext cx="4673584" cy="22704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46" name="Google Shape;246;p5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00000">
                <a:off x="781577" y="2408864"/>
                <a:ext cx="768251" cy="7286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7" name="Google Shape;247;p5"/>
              <p:cNvSpPr/>
              <p:nvPr/>
            </p:nvSpPr>
            <p:spPr>
              <a:xfrm flipH="1" rot="-1140000">
                <a:off x="2925356" y="2056605"/>
                <a:ext cx="828212" cy="199744"/>
              </a:xfrm>
              <a:custGeom>
                <a:rect b="b" l="l" r="r" t="t"/>
                <a:pathLst>
                  <a:path extrusionOk="0" h="374991" w="4572000">
                    <a:moveTo>
                      <a:pt x="0" y="346416"/>
                    </a:moveTo>
                    <a:cubicBezTo>
                      <a:pt x="414337" y="253547"/>
                      <a:pt x="828675" y="160679"/>
                      <a:pt x="1285875" y="103529"/>
                    </a:cubicBezTo>
                    <a:cubicBezTo>
                      <a:pt x="1743075" y="46379"/>
                      <a:pt x="2288381" y="-15534"/>
                      <a:pt x="2743200" y="3516"/>
                    </a:cubicBezTo>
                    <a:cubicBezTo>
                      <a:pt x="3198019" y="22566"/>
                      <a:pt x="3709987" y="155916"/>
                      <a:pt x="4014787" y="217829"/>
                    </a:cubicBezTo>
                    <a:cubicBezTo>
                      <a:pt x="4319587" y="279741"/>
                      <a:pt x="4445793" y="327366"/>
                      <a:pt x="4572000" y="374991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5"/>
              <p:cNvSpPr txBox="1"/>
              <p:nvPr/>
            </p:nvSpPr>
            <p:spPr>
              <a:xfrm rot="-720467">
                <a:off x="1023268" y="3025804"/>
                <a:ext cx="706564" cy="663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 Narrow"/>
                  <a:buNone/>
                </a:pPr>
                <a:r>
                  <a:rPr b="0" i="0" lang="en-US" sz="22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R1</a:t>
                </a:r>
                <a:endParaRPr b="0" i="0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5"/>
              <p:cNvSpPr txBox="1"/>
              <p:nvPr/>
            </p:nvSpPr>
            <p:spPr>
              <a:xfrm rot="-659335">
                <a:off x="4014208" y="2554903"/>
                <a:ext cx="609068" cy="6630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 Narrow"/>
                  <a:buNone/>
                </a:pPr>
                <a:r>
                  <a:rPr b="0" i="0" lang="en-US" sz="22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R2</a:t>
                </a:r>
                <a:endParaRPr b="0" i="0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50" name="Google Shape;250;p5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rot="300000">
                <a:off x="3750520" y="2001990"/>
                <a:ext cx="768251" cy="7286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51" name="Google Shape;251;p5"/>
            <p:cNvGrpSpPr/>
            <p:nvPr/>
          </p:nvGrpSpPr>
          <p:grpSpPr>
            <a:xfrm rot="-480000">
              <a:off x="5471213" y="784761"/>
              <a:ext cx="1704967" cy="903781"/>
              <a:chOff x="3629109" y="2260472"/>
              <a:chExt cx="1857300" cy="1317621"/>
            </a:xfrm>
          </p:grpSpPr>
          <p:sp>
            <p:nvSpPr>
              <p:cNvPr id="252" name="Google Shape;252;p5"/>
              <p:cNvSpPr/>
              <p:nvPr/>
            </p:nvSpPr>
            <p:spPr>
              <a:xfrm>
                <a:off x="3909176" y="2260472"/>
                <a:ext cx="1299631" cy="119152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D0D0D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53" name="Google Shape;253;p5"/>
              <p:cNvSpPr txBox="1"/>
              <p:nvPr/>
            </p:nvSpPr>
            <p:spPr>
              <a:xfrm>
                <a:off x="3629109" y="2292313"/>
                <a:ext cx="1857300" cy="12857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7142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D0D0D"/>
                  </a:buClr>
                  <a:buSzPts val="2800"/>
                  <a:buFont typeface="Arial Narrow"/>
                  <a:buNone/>
                </a:pPr>
                <a:r>
                  <a:rPr b="0" i="0" lang="en-US" sz="2200" u="none" cap="none" strike="noStrike">
                    <a:solidFill>
                      <a:srgbClr val="0D0D0D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Esquina común</a:t>
                </a:r>
                <a:endParaRPr b="0" i="0" sz="22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4" name="Google Shape;254;p5"/>
            <p:cNvSpPr/>
            <p:nvPr/>
          </p:nvSpPr>
          <p:spPr>
            <a:xfrm rot="-360000">
              <a:off x="5110467" y="549898"/>
              <a:ext cx="828211" cy="199744"/>
            </a:xfrm>
            <a:custGeom>
              <a:rect b="b" l="l" r="r" t="t"/>
              <a:pathLst>
                <a:path extrusionOk="0" h="374991" w="4572000">
                  <a:moveTo>
                    <a:pt x="0" y="346416"/>
                  </a:moveTo>
                  <a:cubicBezTo>
                    <a:pt x="414337" y="253547"/>
                    <a:pt x="828675" y="160679"/>
                    <a:pt x="1285875" y="103529"/>
                  </a:cubicBezTo>
                  <a:cubicBezTo>
                    <a:pt x="1743075" y="46379"/>
                    <a:pt x="2288381" y="-15534"/>
                    <a:pt x="2743200" y="3516"/>
                  </a:cubicBezTo>
                  <a:cubicBezTo>
                    <a:pt x="3198019" y="22566"/>
                    <a:pt x="3709987" y="155916"/>
                    <a:pt x="4014787" y="217829"/>
                  </a:cubicBezTo>
                  <a:cubicBezTo>
                    <a:pt x="4319587" y="279741"/>
                    <a:pt x="4445793" y="327366"/>
                    <a:pt x="4572000" y="37499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0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61" name="Google Shape;261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40"/>
          <p:cNvSpPr txBox="1"/>
          <p:nvPr/>
        </p:nvSpPr>
        <p:spPr>
          <a:xfrm>
            <a:off x="1146175" y="273050"/>
            <a:ext cx="86375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40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" name="Google Shape;264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1351203">
            <a:off x="249513" y="1546936"/>
            <a:ext cx="2232924" cy="1720163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40"/>
          <p:cNvSpPr txBox="1"/>
          <p:nvPr/>
        </p:nvSpPr>
        <p:spPr>
          <a:xfrm>
            <a:off x="3845984" y="1412475"/>
            <a:ext cx="7470534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BLOQUEAR RECURSO - CONSIDERACIONES</a:t>
            </a:r>
            <a:endParaRPr b="1" i="0" sz="32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40"/>
          <p:cNvSpPr txBox="1"/>
          <p:nvPr/>
        </p:nvSpPr>
        <p:spPr>
          <a:xfrm>
            <a:off x="4137337" y="1974611"/>
            <a:ext cx="7962954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Puede realizarlo el programador o el Sistema Operativo</a:t>
            </a:r>
            <a:endParaRPr b="0" i="0" sz="2000" u="none" cap="none" strike="noStrik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Sólo se bloquea un recurso libre. Si el recurso ya está bloqueado no se debe intentarse hacerlo.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Hay que bloquear un recurso cuando puede ser accedido por dos o más procesos de un programa.</a:t>
            </a:r>
            <a:endParaRPr/>
          </a:p>
        </p:txBody>
      </p:sp>
      <p:sp>
        <p:nvSpPr>
          <p:cNvPr id="267" name="Google Shape;267;p40"/>
          <p:cNvSpPr txBox="1"/>
          <p:nvPr/>
        </p:nvSpPr>
        <p:spPr>
          <a:xfrm>
            <a:off x="4405780" y="4237995"/>
            <a:ext cx="7635406" cy="5847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i="0" lang="en-US" sz="3200" u="none" cap="none" strike="noStrike">
                <a:solidFill>
                  <a:srgbClr val="1F4E79"/>
                </a:solidFill>
                <a:latin typeface="Calibri"/>
                <a:ea typeface="Calibri"/>
                <a:cs typeface="Calibri"/>
                <a:sym typeface="Calibri"/>
              </a:rPr>
              <a:t>LIBERAR UN RECURSO - CONSIDERACIONES </a:t>
            </a:r>
            <a:endParaRPr b="1" i="0" sz="3200" u="none" cap="none" strike="noStrike">
              <a:solidFill>
                <a:srgbClr val="1F4E7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" name="Google Shape;268;p40"/>
          <p:cNvGrpSpPr/>
          <p:nvPr/>
        </p:nvGrpSpPr>
        <p:grpSpPr>
          <a:xfrm rot="-360007">
            <a:off x="287920" y="1606786"/>
            <a:ext cx="3672673" cy="1834363"/>
            <a:chOff x="3767095" y="-395445"/>
            <a:chExt cx="4915442" cy="2823065"/>
          </a:xfrm>
        </p:grpSpPr>
        <p:grpSp>
          <p:nvGrpSpPr>
            <p:cNvPr id="269" name="Google Shape;269;p40"/>
            <p:cNvGrpSpPr/>
            <p:nvPr/>
          </p:nvGrpSpPr>
          <p:grpSpPr>
            <a:xfrm>
              <a:off x="3767095" y="-395445"/>
              <a:ext cx="4915442" cy="2823065"/>
              <a:chOff x="239281" y="1378925"/>
              <a:chExt cx="4915442" cy="2823065"/>
            </a:xfrm>
          </p:grpSpPr>
          <p:pic>
            <p:nvPicPr>
              <p:cNvPr id="270" name="Google Shape;270;p4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-419999">
                <a:off x="360210" y="1655246"/>
                <a:ext cx="4673584" cy="2270423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1" name="Google Shape;271;p40"/>
              <p:cNvPicPr preferRelativeResize="0"/>
              <p:nvPr/>
            </p:nvPicPr>
            <p:blipFill rotWithShape="1">
              <a:blip r:embed="rId6">
                <a:alphaModFix/>
              </a:blip>
              <a:srcRect b="0" l="0" r="0" t="0"/>
              <a:stretch/>
            </p:blipFill>
            <p:spPr>
              <a:xfrm rot="300000">
                <a:off x="781577" y="2408864"/>
                <a:ext cx="768251" cy="72866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72" name="Google Shape;272;p40"/>
              <p:cNvSpPr/>
              <p:nvPr/>
            </p:nvSpPr>
            <p:spPr>
              <a:xfrm flipH="1" rot="-1140000">
                <a:off x="2925356" y="2056605"/>
                <a:ext cx="828212" cy="199744"/>
              </a:xfrm>
              <a:custGeom>
                <a:rect b="b" l="l" r="r" t="t"/>
                <a:pathLst>
                  <a:path extrusionOk="0" h="374991" w="4572000">
                    <a:moveTo>
                      <a:pt x="0" y="346416"/>
                    </a:moveTo>
                    <a:cubicBezTo>
                      <a:pt x="414337" y="253547"/>
                      <a:pt x="828675" y="160679"/>
                      <a:pt x="1285875" y="103529"/>
                    </a:cubicBezTo>
                    <a:cubicBezTo>
                      <a:pt x="1743075" y="46379"/>
                      <a:pt x="2288381" y="-15534"/>
                      <a:pt x="2743200" y="3516"/>
                    </a:cubicBezTo>
                    <a:cubicBezTo>
                      <a:pt x="3198019" y="22566"/>
                      <a:pt x="3709987" y="155916"/>
                      <a:pt x="4014787" y="217829"/>
                    </a:cubicBezTo>
                    <a:cubicBezTo>
                      <a:pt x="4319587" y="279741"/>
                      <a:pt x="4445793" y="327366"/>
                      <a:pt x="4572000" y="374991"/>
                    </a:cubicBezTo>
                  </a:path>
                </a:pathLst>
              </a:custGeom>
              <a:noFill/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40"/>
              <p:cNvSpPr txBox="1"/>
              <p:nvPr/>
            </p:nvSpPr>
            <p:spPr>
              <a:xfrm rot="-720467">
                <a:off x="1023267" y="3049488"/>
                <a:ext cx="706564" cy="615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 Narrow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R1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0"/>
              <p:cNvSpPr txBox="1"/>
              <p:nvPr/>
            </p:nvSpPr>
            <p:spPr>
              <a:xfrm rot="-659335">
                <a:off x="4014208" y="2578586"/>
                <a:ext cx="609068" cy="615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 Narrow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R2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275" name="Google Shape;275;p40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0" t="0"/>
              <a:stretch/>
            </p:blipFill>
            <p:spPr>
              <a:xfrm rot="300000">
                <a:off x="3750520" y="2001990"/>
                <a:ext cx="768251" cy="72866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76" name="Google Shape;276;p40"/>
            <p:cNvGrpSpPr/>
            <p:nvPr/>
          </p:nvGrpSpPr>
          <p:grpSpPr>
            <a:xfrm rot="-480000">
              <a:off x="5468872" y="784925"/>
              <a:ext cx="1704967" cy="870132"/>
              <a:chOff x="3629109" y="2260472"/>
              <a:chExt cx="1857300" cy="1268564"/>
            </a:xfrm>
          </p:grpSpPr>
          <p:sp>
            <p:nvSpPr>
              <p:cNvPr id="277" name="Google Shape;277;p40"/>
              <p:cNvSpPr/>
              <p:nvPr/>
            </p:nvSpPr>
            <p:spPr>
              <a:xfrm>
                <a:off x="3909176" y="2260472"/>
                <a:ext cx="1299631" cy="1191520"/>
              </a:xfrm>
              <a:prstGeom prst="roundRect">
                <a:avLst>
                  <a:gd fmla="val 16667" name="adj"/>
                </a:avLst>
              </a:prstGeom>
              <a:noFill/>
              <a:ln cap="flat" cmpd="sng" w="28575">
                <a:solidFill>
                  <a:srgbClr val="0D0D0D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Tahoma"/>
                  <a:ea typeface="Tahoma"/>
                  <a:cs typeface="Tahoma"/>
                  <a:sym typeface="Tahoma"/>
                </a:endParaRPr>
              </a:p>
            </p:txBody>
          </p:sp>
          <p:sp>
            <p:nvSpPr>
              <p:cNvPr id="278" name="Google Shape;278;p40"/>
              <p:cNvSpPr txBox="1"/>
              <p:nvPr/>
            </p:nvSpPr>
            <p:spPr>
              <a:xfrm>
                <a:off x="3629109" y="2341372"/>
                <a:ext cx="1857300" cy="1187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71428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D0D0D"/>
                  </a:buClr>
                  <a:buSzPts val="2800"/>
                  <a:buFont typeface="Arial Narrow"/>
                  <a:buNone/>
                </a:pPr>
                <a:r>
                  <a:rPr b="0" i="0" lang="en-US" sz="2000" u="none" cap="none" strike="noStrike">
                    <a:solidFill>
                      <a:srgbClr val="0D0D0D"/>
                    </a:solidFill>
                    <a:latin typeface="Arial Narrow"/>
                    <a:ea typeface="Arial Narrow"/>
                    <a:cs typeface="Arial Narrow"/>
                    <a:sym typeface="Arial Narrow"/>
                  </a:rPr>
                  <a:t>Esquina común</a:t>
                </a:r>
                <a:endParaRPr b="0" i="0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9" name="Google Shape;279;p40"/>
            <p:cNvSpPr/>
            <p:nvPr/>
          </p:nvSpPr>
          <p:spPr>
            <a:xfrm rot="-360000">
              <a:off x="5110467" y="549898"/>
              <a:ext cx="828211" cy="199744"/>
            </a:xfrm>
            <a:custGeom>
              <a:rect b="b" l="l" r="r" t="t"/>
              <a:pathLst>
                <a:path extrusionOk="0" h="374991" w="4572000">
                  <a:moveTo>
                    <a:pt x="0" y="346416"/>
                  </a:moveTo>
                  <a:cubicBezTo>
                    <a:pt x="414337" y="253547"/>
                    <a:pt x="828675" y="160679"/>
                    <a:pt x="1285875" y="103529"/>
                  </a:cubicBezTo>
                  <a:cubicBezTo>
                    <a:pt x="1743075" y="46379"/>
                    <a:pt x="2288381" y="-15534"/>
                    <a:pt x="2743200" y="3516"/>
                  </a:cubicBezTo>
                  <a:cubicBezTo>
                    <a:pt x="3198019" y="22566"/>
                    <a:pt x="3709987" y="155916"/>
                    <a:pt x="4014787" y="217829"/>
                  </a:cubicBezTo>
                  <a:cubicBezTo>
                    <a:pt x="4319587" y="279741"/>
                    <a:pt x="4445793" y="327366"/>
                    <a:pt x="4572000" y="374991"/>
                  </a:cubicBez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0" name="Google Shape;280;p40"/>
          <p:cNvSpPr txBox="1"/>
          <p:nvPr/>
        </p:nvSpPr>
        <p:spPr>
          <a:xfrm>
            <a:off x="4137336" y="4766644"/>
            <a:ext cx="7962954" cy="193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Puede realizarlo el programador o el Sistema Operativo</a:t>
            </a:r>
            <a:endParaRPr b="0" i="0" sz="2000" u="none" cap="none" strike="noStrik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Sólo se libera un recurso ocupado. Si el recurso no está bloqueado no se debe intentarse hacerlo.</a:t>
            </a:r>
            <a:endParaRPr/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Hay que liberar un recurso cuando puede ser accedido por dos o más procesos de un programa.</a:t>
            </a:r>
            <a:endParaRPr/>
          </a:p>
        </p:txBody>
      </p:sp>
      <p:sp>
        <p:nvSpPr>
          <p:cNvPr id="281" name="Google Shape;281;p40"/>
          <p:cNvSpPr txBox="1"/>
          <p:nvPr/>
        </p:nvSpPr>
        <p:spPr>
          <a:xfrm rot="-420000">
            <a:off x="1231430" y="4422753"/>
            <a:ext cx="2218514" cy="95406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7F7F7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8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¿Cómo es en CRME?</a:t>
            </a:r>
            <a:endParaRPr b="1" i="0" sz="2800" u="none" cap="none" strike="noStrike">
              <a:solidFill>
                <a:srgbClr val="33CCCC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1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288" name="Google Shape;28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1"/>
          <p:cNvSpPr txBox="1"/>
          <p:nvPr/>
        </p:nvSpPr>
        <p:spPr>
          <a:xfrm>
            <a:off x="5122855" y="1236941"/>
            <a:ext cx="6675172" cy="2123618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Consolas"/>
              <a:buNone/>
            </a:pPr>
            <a:r>
              <a:t/>
            </a:r>
            <a:endParaRPr b="1" i="0" sz="2200" u="none" cap="none" strike="noStrike">
              <a:solidFill>
                <a:srgbClr val="3A38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Consolas"/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BloquearEsquina(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avenida,calle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Consolas"/>
              <a:buNone/>
            </a:pPr>
            <a:r>
              <a:t/>
            </a:r>
            <a:endParaRPr b="1" i="0" sz="2200" u="none" cap="none" strike="noStrike">
              <a:solidFill>
                <a:srgbClr val="3A38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	BloquearEsquina(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2,8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      BloquearEsquina(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posAv+1,posCa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      BloquearEsquina(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ave,ca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i="0" sz="2200" u="none" cap="none" strike="noStrike">
              <a:solidFill>
                <a:srgbClr val="3A38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0" name="Google Shape;290;p41"/>
          <p:cNvSpPr txBox="1"/>
          <p:nvPr/>
        </p:nvSpPr>
        <p:spPr>
          <a:xfrm>
            <a:off x="348039" y="1482333"/>
            <a:ext cx="3952875" cy="527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ejemploBloqueo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AreaPC(1,1,20,20)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robot 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ahoma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robot1:tipo1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robot2: tipo1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…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91" name="Google Shape;291;p41"/>
          <p:cNvGrpSpPr/>
          <p:nvPr/>
        </p:nvGrpSpPr>
        <p:grpSpPr>
          <a:xfrm>
            <a:off x="1997083" y="3051142"/>
            <a:ext cx="4948161" cy="2037595"/>
            <a:chOff x="1564661" y="3720917"/>
            <a:chExt cx="4948161" cy="2037595"/>
          </a:xfrm>
        </p:grpSpPr>
        <p:sp>
          <p:nvSpPr>
            <p:cNvPr id="292" name="Google Shape;292;p41"/>
            <p:cNvSpPr/>
            <p:nvPr/>
          </p:nvSpPr>
          <p:spPr>
            <a:xfrm rot="2212989">
              <a:off x="1665125" y="3948380"/>
              <a:ext cx="978408" cy="66103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25400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41"/>
            <p:cNvSpPr txBox="1"/>
            <p:nvPr/>
          </p:nvSpPr>
          <p:spPr>
            <a:xfrm>
              <a:off x="2559947" y="4496668"/>
              <a:ext cx="3952875" cy="126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nsolas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Supongamos que el robot 1, y el robot 2 deben acceder a la esquina (5,10) en algún momento</a:t>
              </a:r>
              <a:endParaRPr b="0" i="0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294" name="Google Shape;294;p41"/>
          <p:cNvSpPr txBox="1"/>
          <p:nvPr/>
        </p:nvSpPr>
        <p:spPr>
          <a:xfrm rot="-669866">
            <a:off x="8554185" y="4842950"/>
            <a:ext cx="3054214" cy="1266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CC"/>
              </a:buClr>
              <a:buSzPts val="3000"/>
              <a:buFont typeface="Calibri"/>
              <a:buNone/>
            </a:pPr>
            <a:r>
              <a:rPr b="1" i="0" lang="en-US" sz="36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Cómo queda el programa?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4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3- 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41"/>
          <p:cNvSpPr txBox="1"/>
          <p:nvPr/>
        </p:nvSpPr>
        <p:spPr>
          <a:xfrm>
            <a:off x="1146175" y="273050"/>
            <a:ext cx="86375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42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03" name="Google Shape;30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2"/>
          <p:cNvSpPr txBox="1"/>
          <p:nvPr/>
        </p:nvSpPr>
        <p:spPr>
          <a:xfrm>
            <a:off x="1146175" y="1113369"/>
            <a:ext cx="3952875" cy="54937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ejemploBloqueo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AreaPC(1,1,20,20)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robot 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9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BloquearEsquina(5,10)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ahoma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robot1:tipo1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robot2: tipo1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…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 b="1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5" name="Google Shape;305;p42"/>
          <p:cNvSpPr txBox="1"/>
          <p:nvPr/>
        </p:nvSpPr>
        <p:spPr>
          <a:xfrm rot="-669866">
            <a:off x="8256654" y="5263039"/>
            <a:ext cx="3054214" cy="1266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CC"/>
              </a:buClr>
              <a:buSzPts val="3000"/>
              <a:buFont typeface="Calibri"/>
              <a:buNone/>
            </a:pPr>
            <a:r>
              <a:rPr b="1" i="0" lang="en-US" sz="36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Cómo se libera un esquina?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42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3- 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42"/>
          <p:cNvSpPr txBox="1"/>
          <p:nvPr/>
        </p:nvSpPr>
        <p:spPr>
          <a:xfrm>
            <a:off x="1146175" y="273050"/>
            <a:ext cx="86375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42"/>
          <p:cNvSpPr txBox="1"/>
          <p:nvPr/>
        </p:nvSpPr>
        <p:spPr>
          <a:xfrm>
            <a:off x="5287123" y="2670407"/>
            <a:ext cx="6378263" cy="25545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Si la esquina (5,10) está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desbloqueada</a:t>
            </a: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, entonces se marca como bloqueada y el robot continua ejecutando su código.</a:t>
            </a:r>
            <a:endParaRPr/>
          </a:p>
          <a:p>
            <a:pPr indent="-215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Si la esquina (5,10) está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bloqueada</a:t>
            </a: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, entonces el robot “queda esperando” hasta que la esquina se libere y pueda ejecutar la instrucción de bloqueo.</a:t>
            </a:r>
            <a:endParaRPr b="0" i="0" sz="2000" u="none" cap="none" strike="noStrik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3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15" name="Google Shape;315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3"/>
          <p:cNvSpPr txBox="1"/>
          <p:nvPr/>
        </p:nvSpPr>
        <p:spPr>
          <a:xfrm>
            <a:off x="5122855" y="1236941"/>
            <a:ext cx="6675172" cy="2123618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rgbClr val="FFD96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Consolas"/>
              <a:buNone/>
            </a:pPr>
            <a:r>
              <a:t/>
            </a:r>
            <a:endParaRPr b="1" i="0" sz="2200" u="none" cap="none" strike="noStrike">
              <a:solidFill>
                <a:srgbClr val="3A38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Consolas"/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LiberarEsquina(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avenida,calle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66"/>
              </a:buClr>
              <a:buSzPts val="2400"/>
              <a:buFont typeface="Consolas"/>
              <a:buNone/>
            </a:pPr>
            <a:r>
              <a:t/>
            </a:r>
            <a:endParaRPr b="1" i="0" sz="2200" u="none" cap="none" strike="noStrike">
              <a:solidFill>
                <a:srgbClr val="3A3838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	LiberarEsquina(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2,8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      LiberarEsquina(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posAv+1,posCa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      LiberarEsquina(</a:t>
            </a:r>
            <a:r>
              <a:rPr b="0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ave,ca</a:t>
            </a:r>
            <a:r>
              <a:rPr b="1" i="0" lang="en-US" sz="2200" u="none" cap="none" strike="noStrike">
                <a:solidFill>
                  <a:srgbClr val="3A3838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1" i="0" sz="2200" u="none" cap="none" strike="noStrike">
              <a:solidFill>
                <a:srgbClr val="3A3838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43"/>
          <p:cNvSpPr txBox="1"/>
          <p:nvPr/>
        </p:nvSpPr>
        <p:spPr>
          <a:xfrm>
            <a:off x="348039" y="1482333"/>
            <a:ext cx="3952875" cy="5278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ejemploBloqueo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AreaPC(1,1,20,20)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robot 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ahoma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robot1:tipo1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robot2: tipo1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…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18" name="Google Shape;318;p43"/>
          <p:cNvGrpSpPr/>
          <p:nvPr/>
        </p:nvGrpSpPr>
        <p:grpSpPr>
          <a:xfrm>
            <a:off x="1997083" y="3051142"/>
            <a:ext cx="4948161" cy="2037595"/>
            <a:chOff x="1564661" y="3720917"/>
            <a:chExt cx="4948161" cy="2037595"/>
          </a:xfrm>
        </p:grpSpPr>
        <p:sp>
          <p:nvSpPr>
            <p:cNvPr id="319" name="Google Shape;319;p43"/>
            <p:cNvSpPr/>
            <p:nvPr/>
          </p:nvSpPr>
          <p:spPr>
            <a:xfrm rot="2212989">
              <a:off x="1665125" y="3948380"/>
              <a:ext cx="978408" cy="661038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25400">
              <a:solidFill>
                <a:srgbClr val="FFD9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3"/>
            <p:cNvSpPr txBox="1"/>
            <p:nvPr/>
          </p:nvSpPr>
          <p:spPr>
            <a:xfrm>
              <a:off x="2559947" y="4496668"/>
              <a:ext cx="3952875" cy="126184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900"/>
                <a:buFont typeface="Consolas"/>
                <a:buNone/>
              </a:pPr>
              <a:r>
                <a:rPr b="0" i="0" lang="en-US" sz="1900" u="none" cap="none" strike="noStrike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Supongamos que el robot 1, y el robot 2 deben liberar la esquina (5,10) en algún momento</a:t>
              </a:r>
              <a:endParaRPr b="0" i="0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321" name="Google Shape;321;p43"/>
          <p:cNvSpPr txBox="1"/>
          <p:nvPr/>
        </p:nvSpPr>
        <p:spPr>
          <a:xfrm rot="-669866">
            <a:off x="8554185" y="4842950"/>
            <a:ext cx="3054214" cy="1266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3CCCC"/>
              </a:buClr>
              <a:buSzPts val="3000"/>
              <a:buFont typeface="Calibri"/>
              <a:buNone/>
            </a:pPr>
            <a:r>
              <a:rPr b="1" i="0" lang="en-US" sz="36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Cómo queda el programa?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43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3- 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43"/>
          <p:cNvSpPr txBox="1"/>
          <p:nvPr/>
        </p:nvSpPr>
        <p:spPr>
          <a:xfrm>
            <a:off x="1146175" y="273050"/>
            <a:ext cx="86375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4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30" name="Google Shape;33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4"/>
          <p:cNvSpPr txBox="1"/>
          <p:nvPr/>
        </p:nvSpPr>
        <p:spPr>
          <a:xfrm>
            <a:off x="2357211" y="1071841"/>
            <a:ext cx="3952875" cy="57861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ejemploBloqueo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AreaPC(1,1,20,20)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robot </a:t>
            </a: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tipo1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1" i="0" lang="en-US" sz="19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BloquearEsquina(5,10)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   ….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accent4"/>
                </a:solidFill>
                <a:latin typeface="Consolas"/>
                <a:ea typeface="Consolas"/>
                <a:cs typeface="Consolas"/>
                <a:sym typeface="Consolas"/>
              </a:rPr>
              <a:t>    LiberarEsquina(5,10)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….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robot1:tipo1</a:t>
            </a:r>
            <a:endParaRPr b="0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robot2: tipo1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comenzar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0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…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Consolas"/>
              <a:buNone/>
            </a:pPr>
            <a:r>
              <a:rPr b="1" i="0" lang="en-US" sz="19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fin</a:t>
            </a:r>
            <a:endParaRPr b="1" i="0" sz="19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2" name="Google Shape;332;p44"/>
          <p:cNvSpPr txBox="1"/>
          <p:nvPr/>
        </p:nvSpPr>
        <p:spPr>
          <a:xfrm>
            <a:off x="47625" y="6317793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3- 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44"/>
          <p:cNvSpPr txBox="1"/>
          <p:nvPr/>
        </p:nvSpPr>
        <p:spPr>
          <a:xfrm>
            <a:off x="1146175" y="273050"/>
            <a:ext cx="8637587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44"/>
          <p:cNvSpPr txBox="1"/>
          <p:nvPr/>
        </p:nvSpPr>
        <p:spPr>
          <a:xfrm>
            <a:off x="6310086" y="2670407"/>
            <a:ext cx="5355300" cy="13233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La esquina (5,10) está </a:t>
            </a:r>
            <a:r>
              <a:rPr b="1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bloqueada</a:t>
            </a:r>
            <a:r>
              <a:rPr b="0" i="0" lang="en-US" sz="20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, entonces el robot al ejecutar LiberarEsquina permite que pueda ser bloqueada nuevamente.</a:t>
            </a:r>
            <a:endParaRPr b="0" i="0" sz="2000" u="none" cap="none" strike="noStrike">
              <a:solidFill>
                <a:srgbClr val="00206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250"/>
                                        <p:tgtEl>
                                          <p:spTgt spid="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45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41" name="Google Shape;341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5"/>
          <p:cNvSpPr txBox="1"/>
          <p:nvPr/>
        </p:nvSpPr>
        <p:spPr>
          <a:xfrm>
            <a:off x="1146175" y="273050"/>
            <a:ext cx="9736137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COMPRATIDA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3" name="Google Shape;343;p45"/>
          <p:cNvGrpSpPr/>
          <p:nvPr/>
        </p:nvGrpSpPr>
        <p:grpSpPr>
          <a:xfrm>
            <a:off x="-5905753" y="227286"/>
            <a:ext cx="17792569" cy="7293488"/>
            <a:chOff x="-6126981" y="-937410"/>
            <a:chExt cx="17792569" cy="7293488"/>
          </a:xfrm>
        </p:grpSpPr>
        <p:sp>
          <p:nvSpPr>
            <p:cNvPr id="344" name="Google Shape;344;p45"/>
            <p:cNvSpPr/>
            <p:nvPr/>
          </p:nvSpPr>
          <p:spPr>
            <a:xfrm>
              <a:off x="-6126981" y="-937410"/>
              <a:ext cx="7293488" cy="7293488"/>
            </a:xfrm>
            <a:prstGeom prst="blockArc">
              <a:avLst>
                <a:gd fmla="val 18900000" name="adj1"/>
                <a:gd fmla="val 2700000" name="adj2"/>
                <a:gd fmla="val 296" name="adj3"/>
              </a:avLst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5"/>
            <p:cNvSpPr/>
            <p:nvPr/>
          </p:nvSpPr>
          <p:spPr>
            <a:xfrm>
              <a:off x="610504" y="416587"/>
              <a:ext cx="11055084" cy="833607"/>
            </a:xfrm>
            <a:prstGeom prst="rect">
              <a:avLst/>
            </a:prstGeom>
            <a:solidFill>
              <a:schemeClr val="accent2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5"/>
            <p:cNvSpPr txBox="1"/>
            <p:nvPr/>
          </p:nvSpPr>
          <p:spPr>
            <a:xfrm>
              <a:off x="610504" y="416587"/>
              <a:ext cx="11055084" cy="833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61675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 esquinas deben bloquearse sólo cuando dos o más robots pueden querer acceder.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45"/>
            <p:cNvSpPr/>
            <p:nvPr/>
          </p:nvSpPr>
          <p:spPr>
            <a:xfrm>
              <a:off x="89500" y="312386"/>
              <a:ext cx="1042009" cy="104200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45"/>
            <p:cNvSpPr/>
            <p:nvPr/>
          </p:nvSpPr>
          <p:spPr>
            <a:xfrm>
              <a:off x="1088431" y="1667215"/>
              <a:ext cx="10577157" cy="833607"/>
            </a:xfrm>
            <a:prstGeom prst="rect">
              <a:avLst/>
            </a:prstGeom>
            <a:solidFill>
              <a:srgbClr val="D07A5B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45"/>
            <p:cNvSpPr txBox="1"/>
            <p:nvPr/>
          </p:nvSpPr>
          <p:spPr>
            <a:xfrm>
              <a:off x="1088431" y="1667215"/>
              <a:ext cx="10577157" cy="833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61675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Las esquinas deben permanecer bloqueadas el menor tiempo posible que garantice que el programa funcione.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45"/>
            <p:cNvSpPr/>
            <p:nvPr/>
          </p:nvSpPr>
          <p:spPr>
            <a:xfrm>
              <a:off x="567426" y="1563014"/>
              <a:ext cx="1042009" cy="104200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D07A5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45"/>
            <p:cNvSpPr/>
            <p:nvPr/>
          </p:nvSpPr>
          <p:spPr>
            <a:xfrm>
              <a:off x="1088431" y="2917843"/>
              <a:ext cx="10577157" cy="833607"/>
            </a:xfrm>
            <a:prstGeom prst="rect">
              <a:avLst/>
            </a:prstGeom>
            <a:solidFill>
              <a:srgbClr val="B88881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45"/>
            <p:cNvSpPr txBox="1"/>
            <p:nvPr/>
          </p:nvSpPr>
          <p:spPr>
            <a:xfrm>
              <a:off x="1088431" y="2917843"/>
              <a:ext cx="10577157" cy="8336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61675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Una esquina bloqueada siempre debe ser desbloqueada en algún momento del programa.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45"/>
            <p:cNvSpPr/>
            <p:nvPr/>
          </p:nvSpPr>
          <p:spPr>
            <a:xfrm>
              <a:off x="567426" y="2813642"/>
              <a:ext cx="1042009" cy="104200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B8888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45"/>
            <p:cNvSpPr/>
            <p:nvPr/>
          </p:nvSpPr>
          <p:spPr>
            <a:xfrm>
              <a:off x="610504" y="4071402"/>
              <a:ext cx="11055084" cy="1027746"/>
            </a:xfrm>
            <a:prstGeom prst="rect">
              <a:avLst/>
            </a:prstGeom>
            <a:solidFill>
              <a:srgbClr val="A4A4A4"/>
            </a:solidFill>
            <a:ln cap="flat" cmpd="sng" w="254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45"/>
            <p:cNvSpPr txBox="1"/>
            <p:nvPr/>
          </p:nvSpPr>
          <p:spPr>
            <a:xfrm>
              <a:off x="610504" y="4071402"/>
              <a:ext cx="11055084" cy="10277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0950" lIns="661675" spcFirstLastPara="1" rIns="60950" wrap="square" tIns="609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No debe bloquearse la esquina en que el robot ya se encuentra parado (ya que podría estar bloqueada previamente y podría haber otro robot). Siempre debe bloquearse primero la esquina y luego posicionarse en ella.</a:t>
              </a:r>
              <a:endPara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45"/>
            <p:cNvSpPr/>
            <p:nvPr/>
          </p:nvSpPr>
          <p:spPr>
            <a:xfrm>
              <a:off x="89500" y="4064271"/>
              <a:ext cx="1042009" cy="104200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A4A4A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7" name="Google Shape;357;p45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3 - 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6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363" name="Google Shape;36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6"/>
          <p:cNvSpPr txBox="1"/>
          <p:nvPr/>
        </p:nvSpPr>
        <p:spPr>
          <a:xfrm>
            <a:off x="1146175" y="273050"/>
            <a:ext cx="65198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46"/>
          <p:cNvSpPr txBox="1"/>
          <p:nvPr/>
        </p:nvSpPr>
        <p:spPr>
          <a:xfrm>
            <a:off x="152400" y="1140733"/>
            <a:ext cx="11789229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Calibri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Supongamos que tenemos un programa en el cual están declarados dos tipos robots y dos variables robot, una correspondiente a cada tipo. El robot 1 (de tipo 1) inicia su trabajo en la esquina (1,1) camina 5 cuadras y luego se posiciona en la esquina (10,10). El robot2 (de tipo 2) inicia su trabajo en la esquina (2,2) junta las flores de la esquina y luego se posiciona en la esquina (10,10).  Ambos robots después de su trabajo vuelven a su esquina original.</a:t>
            </a:r>
            <a:endParaRPr/>
          </a:p>
        </p:txBody>
      </p:sp>
      <p:sp>
        <p:nvSpPr>
          <p:cNvPr id="366" name="Google Shape;366;p46"/>
          <p:cNvSpPr txBox="1"/>
          <p:nvPr/>
        </p:nvSpPr>
        <p:spPr>
          <a:xfrm>
            <a:off x="568793" y="4735869"/>
            <a:ext cx="3654864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Repetir 5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  mover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7" name="Google Shape;367;p46"/>
          <p:cNvGrpSpPr/>
          <p:nvPr/>
        </p:nvGrpSpPr>
        <p:grpSpPr>
          <a:xfrm rot="360000">
            <a:off x="1594465" y="3676843"/>
            <a:ext cx="861704" cy="798649"/>
            <a:chOff x="4731082" y="4584781"/>
            <a:chExt cx="836600" cy="789807"/>
          </a:xfrm>
        </p:grpSpPr>
        <p:sp>
          <p:nvSpPr>
            <p:cNvPr id="368" name="Google Shape;368;p46"/>
            <p:cNvSpPr/>
            <p:nvPr/>
          </p:nvSpPr>
          <p:spPr>
            <a:xfrm rot="-360000">
              <a:off x="4766280" y="4622871"/>
              <a:ext cx="766203" cy="7136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69" name="Google Shape;369;p46"/>
            <p:cNvSpPr/>
            <p:nvPr/>
          </p:nvSpPr>
          <p:spPr>
            <a:xfrm rot="-360000">
              <a:off x="4909505" y="4776426"/>
              <a:ext cx="119528" cy="11735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0" name="Google Shape;370;p46"/>
            <p:cNvSpPr/>
            <p:nvPr/>
          </p:nvSpPr>
          <p:spPr>
            <a:xfrm rot="-360000">
              <a:off x="5224824" y="4754799"/>
              <a:ext cx="119527" cy="118409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71" name="Google Shape;371;p46"/>
            <p:cNvCxnSpPr/>
            <p:nvPr/>
          </p:nvCxnSpPr>
          <p:spPr>
            <a:xfrm flipH="1" rot="-300000">
              <a:off x="5127612" y="4652464"/>
              <a:ext cx="6130" cy="298137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2" name="Google Shape;372;p46"/>
            <p:cNvCxnSpPr/>
            <p:nvPr/>
          </p:nvCxnSpPr>
          <p:spPr>
            <a:xfrm rot="10500000">
              <a:off x="4786337" y="4947262"/>
              <a:ext cx="706950" cy="0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373" name="Google Shape;373;p46"/>
          <p:cNvGrpSpPr/>
          <p:nvPr/>
        </p:nvGrpSpPr>
        <p:grpSpPr>
          <a:xfrm>
            <a:off x="8706875" y="3633994"/>
            <a:ext cx="789195" cy="721615"/>
            <a:chOff x="6475936" y="3905726"/>
            <a:chExt cx="789195" cy="721615"/>
          </a:xfrm>
        </p:grpSpPr>
        <p:sp>
          <p:nvSpPr>
            <p:cNvPr id="374" name="Google Shape;374;p46"/>
            <p:cNvSpPr/>
            <p:nvPr/>
          </p:nvSpPr>
          <p:spPr>
            <a:xfrm>
              <a:off x="6475936" y="3905726"/>
              <a:ext cx="789195" cy="721615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5" name="Google Shape;375;p46"/>
            <p:cNvSpPr/>
            <p:nvPr/>
          </p:nvSpPr>
          <p:spPr>
            <a:xfrm>
              <a:off x="6639757" y="4042410"/>
              <a:ext cx="123115" cy="118666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376" name="Google Shape;376;p46"/>
            <p:cNvSpPr/>
            <p:nvPr/>
          </p:nvSpPr>
          <p:spPr>
            <a:xfrm>
              <a:off x="6964989" y="4054606"/>
              <a:ext cx="123114" cy="119735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377" name="Google Shape;377;p46"/>
            <p:cNvCxnSpPr/>
            <p:nvPr/>
          </p:nvCxnSpPr>
          <p:spPr>
            <a:xfrm flipH="1" rot="60000">
              <a:off x="6867047" y="3934624"/>
              <a:ext cx="6314" cy="301475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378" name="Google Shape;378;p46"/>
            <p:cNvCxnSpPr/>
            <p:nvPr/>
          </p:nvCxnSpPr>
          <p:spPr>
            <a:xfrm rot="-10740000">
              <a:off x="6500076" y="4232898"/>
              <a:ext cx="728164" cy="0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379" name="Google Shape;379;p46"/>
          <p:cNvSpPr txBox="1"/>
          <p:nvPr/>
        </p:nvSpPr>
        <p:spPr>
          <a:xfrm>
            <a:off x="1034487" y="3197941"/>
            <a:ext cx="292212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ROBOT tipo1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46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2 –3-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1" name="Google Shape;381;p46"/>
          <p:cNvCxnSpPr/>
          <p:nvPr/>
        </p:nvCxnSpPr>
        <p:spPr>
          <a:xfrm>
            <a:off x="5786336" y="3548746"/>
            <a:ext cx="0" cy="2733903"/>
          </a:xfrm>
          <a:prstGeom prst="straightConnector1">
            <a:avLst/>
          </a:prstGeom>
          <a:noFill/>
          <a:ln cap="flat" cmpd="sng" w="38100">
            <a:solidFill>
              <a:srgbClr val="75707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82" name="Google Shape;382;p46"/>
          <p:cNvSpPr txBox="1"/>
          <p:nvPr/>
        </p:nvSpPr>
        <p:spPr>
          <a:xfrm>
            <a:off x="7857979" y="3197941"/>
            <a:ext cx="292212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46"/>
          <p:cNvSpPr txBox="1"/>
          <p:nvPr/>
        </p:nvSpPr>
        <p:spPr>
          <a:xfrm>
            <a:off x="592482" y="5417351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Posicionarse en la esquina (10,10)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46"/>
          <p:cNvSpPr txBox="1"/>
          <p:nvPr/>
        </p:nvSpPr>
        <p:spPr>
          <a:xfrm>
            <a:off x="6610365" y="4754789"/>
            <a:ext cx="5331264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Mientras (hay flor en la esquina)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  tomarFlor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46"/>
          <p:cNvSpPr txBox="1"/>
          <p:nvPr/>
        </p:nvSpPr>
        <p:spPr>
          <a:xfrm>
            <a:off x="6634054" y="5436271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Posicionarse en la esquina (10,10)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46"/>
          <p:cNvSpPr txBox="1"/>
          <p:nvPr/>
        </p:nvSpPr>
        <p:spPr>
          <a:xfrm>
            <a:off x="592482" y="5869397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Posicionarse en la esquina (1,1)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46"/>
          <p:cNvSpPr txBox="1"/>
          <p:nvPr/>
        </p:nvSpPr>
        <p:spPr>
          <a:xfrm>
            <a:off x="6653581" y="5869397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Posicionarse en la esquina (2,2)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46"/>
          <p:cNvSpPr/>
          <p:nvPr/>
        </p:nvSpPr>
        <p:spPr>
          <a:xfrm>
            <a:off x="592482" y="5382159"/>
            <a:ext cx="11196746" cy="468318"/>
          </a:xfrm>
          <a:prstGeom prst="rect">
            <a:avLst/>
          </a:prstGeom>
          <a:noFill/>
          <a:ln cap="flat" cmpd="sng" w="25400">
            <a:solidFill>
              <a:srgbClr val="FF0000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dibujo&#10;&#10;Descripción generada automáticamente" id="394" name="Google Shape;3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11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1"/>
          <p:cNvSpPr txBox="1"/>
          <p:nvPr/>
        </p:nvSpPr>
        <p:spPr>
          <a:xfrm>
            <a:off x="271462" y="1282699"/>
            <a:ext cx="3952875" cy="5293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solucion1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AreaPC(1,1,100,100)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robot1:tipo1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robot2: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 txBox="1"/>
          <p:nvPr/>
        </p:nvSpPr>
        <p:spPr>
          <a:xfrm>
            <a:off x="4224337" y="4021880"/>
            <a:ext cx="5545137" cy="2462212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mientras (hayFlorEnLaEsquina)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tomarFlor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(2,2)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 txBox="1"/>
          <p:nvPr/>
        </p:nvSpPr>
        <p:spPr>
          <a:xfrm>
            <a:off x="4224337" y="1467345"/>
            <a:ext cx="2579234" cy="2462212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repetir 5 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mover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 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(1,1)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2200"/>
              <a:buFont typeface="Consolas"/>
              <a:buNone/>
            </a:pPr>
            <a:r>
              <a:rPr b="1" i="0" lang="en-US" sz="22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9" name="Google Shape;399;p11"/>
          <p:cNvCxnSpPr/>
          <p:nvPr/>
        </p:nvCxnSpPr>
        <p:spPr>
          <a:xfrm flipH="1" rot="10800000">
            <a:off x="2079171" y="2899669"/>
            <a:ext cx="1807029" cy="376931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400" name="Google Shape;400;p11"/>
          <p:cNvCxnSpPr/>
          <p:nvPr/>
        </p:nvCxnSpPr>
        <p:spPr>
          <a:xfrm>
            <a:off x="2095839" y="4398811"/>
            <a:ext cx="1790361" cy="771903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401" name="Google Shape;401;p11"/>
          <p:cNvSpPr txBox="1"/>
          <p:nvPr/>
        </p:nvSpPr>
        <p:spPr>
          <a:xfrm rot="-351928">
            <a:off x="7521461" y="1605566"/>
            <a:ext cx="4262559" cy="1826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Los robots podrían chocarse al querer posicionarse en la esquina (10,10)</a:t>
            </a:r>
            <a:endParaRPr/>
          </a:p>
        </p:txBody>
      </p:sp>
      <p:pic>
        <p:nvPicPr>
          <p:cNvPr descr="Icono&#10;&#10;Descripción generada automáticamente" id="402" name="Google Shape;40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377" y="4104630"/>
            <a:ext cx="1929215" cy="1929215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11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04" name="Google Shape;404;p11"/>
          <p:cNvSpPr txBox="1"/>
          <p:nvPr/>
        </p:nvSpPr>
        <p:spPr>
          <a:xfrm>
            <a:off x="1146175" y="273050"/>
            <a:ext cx="65198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dibujo&#10;&#10;Descripción generada automáticamente" id="410" name="Google Shape;41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47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47"/>
          <p:cNvSpPr txBox="1"/>
          <p:nvPr/>
        </p:nvSpPr>
        <p:spPr>
          <a:xfrm>
            <a:off x="271462" y="1282699"/>
            <a:ext cx="3952875" cy="5293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solucion2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AreaPC(1,1,100,100)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robot1:tipo1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robot2: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7"/>
          <p:cNvSpPr txBox="1"/>
          <p:nvPr/>
        </p:nvSpPr>
        <p:spPr>
          <a:xfrm>
            <a:off x="4224337" y="4153688"/>
            <a:ext cx="5545137" cy="2585283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robot tipo2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mientras (hayFlorEnLaEsquina)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tomarFlor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BloquearEsquina(10,10)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LiberarEsquina(10,10)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(2,2) 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</p:txBody>
      </p:sp>
      <p:sp>
        <p:nvSpPr>
          <p:cNvPr id="414" name="Google Shape;414;p47"/>
          <p:cNvSpPr txBox="1"/>
          <p:nvPr/>
        </p:nvSpPr>
        <p:spPr>
          <a:xfrm>
            <a:off x="4224337" y="1292202"/>
            <a:ext cx="4527777" cy="2585283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robot tipo1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repetir 5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mover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BloquearEsquina(10,10)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LiberarEsquina(10,10)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(1,1)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</p:txBody>
      </p:sp>
      <p:cxnSp>
        <p:nvCxnSpPr>
          <p:cNvPr id="415" name="Google Shape;415;p47"/>
          <p:cNvCxnSpPr/>
          <p:nvPr/>
        </p:nvCxnSpPr>
        <p:spPr>
          <a:xfrm flipH="1" rot="10800000">
            <a:off x="2079171" y="2899669"/>
            <a:ext cx="1807029" cy="376931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416" name="Google Shape;416;p47"/>
          <p:cNvCxnSpPr/>
          <p:nvPr/>
        </p:nvCxnSpPr>
        <p:spPr>
          <a:xfrm>
            <a:off x="2095839" y="4398811"/>
            <a:ext cx="1790361" cy="771903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417" name="Google Shape;417;p47"/>
          <p:cNvSpPr txBox="1"/>
          <p:nvPr/>
        </p:nvSpPr>
        <p:spPr>
          <a:xfrm rot="-351928">
            <a:off x="8556996" y="1493611"/>
            <a:ext cx="3731164" cy="18267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Los robots podrían chocarse al querer posicionarse en la esquina (10,10)</a:t>
            </a:r>
            <a:endParaRPr/>
          </a:p>
        </p:txBody>
      </p:sp>
      <p:pic>
        <p:nvPicPr>
          <p:cNvPr descr="Icono&#10;&#10;Descripción generada automáticamente" id="418" name="Google Shape;418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18858" y="3711629"/>
            <a:ext cx="1949317" cy="1949317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47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20" name="Google Shape;420;p47"/>
          <p:cNvSpPr txBox="1"/>
          <p:nvPr/>
        </p:nvSpPr>
        <p:spPr>
          <a:xfrm>
            <a:off x="1146175" y="273050"/>
            <a:ext cx="65198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dibujo&#10;&#10;Descripción generada automáticamente" id="426" name="Google Shape;426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48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8"/>
          <p:cNvSpPr txBox="1"/>
          <p:nvPr/>
        </p:nvSpPr>
        <p:spPr>
          <a:xfrm>
            <a:off x="271462" y="1282699"/>
            <a:ext cx="3952875" cy="5293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solucion2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AreaPC(1,1,100,100)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robot1:tipo1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robot2: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8"/>
          <p:cNvSpPr txBox="1"/>
          <p:nvPr/>
        </p:nvSpPr>
        <p:spPr>
          <a:xfrm>
            <a:off x="4082819" y="4153688"/>
            <a:ext cx="5545137" cy="2585283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robot tipo2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BloquearEsquina(10,10)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mientras (hayFlorEnLaEsquina)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tomarFlor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(2,2)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LiberarEsquina(10,10)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</p:txBody>
      </p:sp>
      <p:sp>
        <p:nvSpPr>
          <p:cNvPr id="430" name="Google Shape;430;p48"/>
          <p:cNvSpPr txBox="1"/>
          <p:nvPr/>
        </p:nvSpPr>
        <p:spPr>
          <a:xfrm>
            <a:off x="4082819" y="1292202"/>
            <a:ext cx="4527777" cy="2585283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robot tipo1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BloquearEsquina(10,10)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repetir 5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mover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(1,1)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LiberarEsquina(10,10)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</p:txBody>
      </p:sp>
      <p:cxnSp>
        <p:nvCxnSpPr>
          <p:cNvPr id="431" name="Google Shape;431;p48"/>
          <p:cNvCxnSpPr/>
          <p:nvPr/>
        </p:nvCxnSpPr>
        <p:spPr>
          <a:xfrm flipH="1" rot="10800000">
            <a:off x="2079171" y="2899669"/>
            <a:ext cx="1807029" cy="376931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432" name="Google Shape;432;p48"/>
          <p:cNvCxnSpPr/>
          <p:nvPr/>
        </p:nvCxnSpPr>
        <p:spPr>
          <a:xfrm>
            <a:off x="2095839" y="4398811"/>
            <a:ext cx="1790361" cy="771903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433" name="Google Shape;433;p48"/>
          <p:cNvSpPr txBox="1"/>
          <p:nvPr/>
        </p:nvSpPr>
        <p:spPr>
          <a:xfrm rot="-351928">
            <a:off x="8579185" y="1492473"/>
            <a:ext cx="3731164" cy="226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33CCCC"/>
                </a:solidFill>
                <a:latin typeface="Arial"/>
                <a:ea typeface="Arial"/>
                <a:cs typeface="Arial"/>
                <a:sym typeface="Arial"/>
              </a:rPr>
              <a:t>Los recursos deben ser bloqueados el menor tiempo posible que sea necesario</a:t>
            </a:r>
            <a:endParaRPr/>
          </a:p>
        </p:txBody>
      </p:sp>
      <p:pic>
        <p:nvPicPr>
          <p:cNvPr descr="Icono&#10;&#10;Descripción generada automáticamente" id="434" name="Google Shape;43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71221" y="3810103"/>
            <a:ext cx="1949317" cy="1949317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8"/>
          <p:cNvSpPr txBox="1"/>
          <p:nvPr/>
        </p:nvSpPr>
        <p:spPr>
          <a:xfrm>
            <a:off x="933450" y="180975"/>
            <a:ext cx="11104562" cy="741362"/>
          </a:xfrm>
          <a:prstGeom prst="rect">
            <a:avLst/>
          </a:prstGeom>
          <a:solidFill>
            <a:srgbClr val="7F7F7F"/>
          </a:solidFill>
          <a:ln cap="flat" cmpd="sng" w="12700">
            <a:solidFill>
              <a:srgbClr val="A6A6A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36" name="Google Shape;436;p48"/>
          <p:cNvSpPr txBox="1"/>
          <p:nvPr/>
        </p:nvSpPr>
        <p:spPr>
          <a:xfrm>
            <a:off x="1146175" y="273050"/>
            <a:ext cx="6519862" cy="70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EJERCICIOS PARA ANALIZAR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9"/>
          <p:cNvSpPr txBox="1"/>
          <p:nvPr/>
        </p:nvSpPr>
        <p:spPr>
          <a:xfrm>
            <a:off x="936625" y="274637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descr="Imagen que contiene dibujo&#10;&#10;Descripción generada automáticamente" id="443" name="Google Shape;443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49"/>
          <p:cNvSpPr txBox="1"/>
          <p:nvPr/>
        </p:nvSpPr>
        <p:spPr>
          <a:xfrm>
            <a:off x="1146175" y="273050"/>
            <a:ext cx="1092200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49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49"/>
          <p:cNvSpPr txBox="1"/>
          <p:nvPr/>
        </p:nvSpPr>
        <p:spPr>
          <a:xfrm>
            <a:off x="568793" y="3549325"/>
            <a:ext cx="3654864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Realizar código seguro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7" name="Google Shape;447;p49"/>
          <p:cNvGrpSpPr/>
          <p:nvPr/>
        </p:nvGrpSpPr>
        <p:grpSpPr>
          <a:xfrm rot="360000">
            <a:off x="1594465" y="2490299"/>
            <a:ext cx="861704" cy="798649"/>
            <a:chOff x="4731082" y="4584781"/>
            <a:chExt cx="836600" cy="789807"/>
          </a:xfrm>
        </p:grpSpPr>
        <p:sp>
          <p:nvSpPr>
            <p:cNvPr id="448" name="Google Shape;448;p49"/>
            <p:cNvSpPr/>
            <p:nvPr/>
          </p:nvSpPr>
          <p:spPr>
            <a:xfrm rot="-360000">
              <a:off x="4766280" y="4622871"/>
              <a:ext cx="766203" cy="713626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49" name="Google Shape;449;p49"/>
            <p:cNvSpPr/>
            <p:nvPr/>
          </p:nvSpPr>
          <p:spPr>
            <a:xfrm rot="-360000">
              <a:off x="4909505" y="4776426"/>
              <a:ext cx="119528" cy="11735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0" name="Google Shape;450;p49"/>
            <p:cNvSpPr/>
            <p:nvPr/>
          </p:nvSpPr>
          <p:spPr>
            <a:xfrm rot="-360000">
              <a:off x="5224824" y="4754799"/>
              <a:ext cx="119527" cy="118409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51" name="Google Shape;451;p49"/>
            <p:cNvCxnSpPr/>
            <p:nvPr/>
          </p:nvCxnSpPr>
          <p:spPr>
            <a:xfrm flipH="1" rot="-300000">
              <a:off x="5127612" y="4652464"/>
              <a:ext cx="6130" cy="298137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2" name="Google Shape;452;p49"/>
            <p:cNvCxnSpPr/>
            <p:nvPr/>
          </p:nvCxnSpPr>
          <p:spPr>
            <a:xfrm rot="10500000">
              <a:off x="4786337" y="4947262"/>
              <a:ext cx="706950" cy="0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453" name="Google Shape;453;p49"/>
          <p:cNvGrpSpPr/>
          <p:nvPr/>
        </p:nvGrpSpPr>
        <p:grpSpPr>
          <a:xfrm>
            <a:off x="8706875" y="2447450"/>
            <a:ext cx="789195" cy="721615"/>
            <a:chOff x="8706875" y="2447450"/>
            <a:chExt cx="789195" cy="721615"/>
          </a:xfrm>
        </p:grpSpPr>
        <p:sp>
          <p:nvSpPr>
            <p:cNvPr id="454" name="Google Shape;454;p49"/>
            <p:cNvSpPr/>
            <p:nvPr/>
          </p:nvSpPr>
          <p:spPr>
            <a:xfrm>
              <a:off x="8706875" y="2447450"/>
              <a:ext cx="789195" cy="72161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5" name="Google Shape;455;p49"/>
            <p:cNvSpPr/>
            <p:nvPr/>
          </p:nvSpPr>
          <p:spPr>
            <a:xfrm>
              <a:off x="8870696" y="2584134"/>
              <a:ext cx="123115" cy="118666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sp>
          <p:nvSpPr>
            <p:cNvPr id="456" name="Google Shape;456;p49"/>
            <p:cNvSpPr/>
            <p:nvPr/>
          </p:nvSpPr>
          <p:spPr>
            <a:xfrm>
              <a:off x="9195928" y="2596330"/>
              <a:ext cx="123114" cy="119735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endParaRPr>
            </a:p>
          </p:txBody>
        </p:sp>
        <p:cxnSp>
          <p:nvCxnSpPr>
            <p:cNvPr id="457" name="Google Shape;457;p49"/>
            <p:cNvCxnSpPr/>
            <p:nvPr/>
          </p:nvCxnSpPr>
          <p:spPr>
            <a:xfrm flipH="1" rot="60000">
              <a:off x="9097986" y="2476348"/>
              <a:ext cx="6314" cy="301475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458" name="Google Shape;458;p49"/>
            <p:cNvCxnSpPr/>
            <p:nvPr/>
          </p:nvCxnSpPr>
          <p:spPr>
            <a:xfrm rot="-10740000">
              <a:off x="8731015" y="2774622"/>
              <a:ext cx="728164" cy="0"/>
            </a:xfrm>
            <a:prstGeom prst="straightConnector1">
              <a:avLst/>
            </a:prstGeom>
            <a:solidFill>
              <a:srgbClr val="003399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sp>
        <p:nvSpPr>
          <p:cNvPr id="459" name="Google Shape;459;p49"/>
          <p:cNvSpPr txBox="1"/>
          <p:nvPr/>
        </p:nvSpPr>
        <p:spPr>
          <a:xfrm>
            <a:off x="1034487" y="2011397"/>
            <a:ext cx="292212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ROBOT robot1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0" name="Google Shape;460;p49"/>
          <p:cNvCxnSpPr/>
          <p:nvPr/>
        </p:nvCxnSpPr>
        <p:spPr>
          <a:xfrm>
            <a:off x="6091136" y="2797430"/>
            <a:ext cx="0" cy="3517676"/>
          </a:xfrm>
          <a:prstGeom prst="straightConnector1">
            <a:avLst/>
          </a:prstGeom>
          <a:noFill/>
          <a:ln cap="flat" cmpd="sng" w="38100">
            <a:solidFill>
              <a:srgbClr val="75707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461" name="Google Shape;461;p49"/>
          <p:cNvSpPr txBox="1"/>
          <p:nvPr/>
        </p:nvSpPr>
        <p:spPr>
          <a:xfrm>
            <a:off x="7857979" y="2011397"/>
            <a:ext cx="2922126" cy="4616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24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ROBOT robot2</a:t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49"/>
          <p:cNvSpPr txBox="1"/>
          <p:nvPr/>
        </p:nvSpPr>
        <p:spPr>
          <a:xfrm>
            <a:off x="592482" y="4119968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Bloquear la esquina compartida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49"/>
          <p:cNvSpPr txBox="1"/>
          <p:nvPr/>
        </p:nvSpPr>
        <p:spPr>
          <a:xfrm>
            <a:off x="601230" y="4690611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Realizar la tarea en esa esquina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49"/>
          <p:cNvSpPr txBox="1"/>
          <p:nvPr/>
        </p:nvSpPr>
        <p:spPr>
          <a:xfrm>
            <a:off x="601230" y="5261254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Moverme a una esquina segura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49"/>
          <p:cNvSpPr txBox="1"/>
          <p:nvPr/>
        </p:nvSpPr>
        <p:spPr>
          <a:xfrm>
            <a:off x="601230" y="5831898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Liberar la esquina compartida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49"/>
          <p:cNvSpPr txBox="1"/>
          <p:nvPr/>
        </p:nvSpPr>
        <p:spPr>
          <a:xfrm>
            <a:off x="6680400" y="3581076"/>
            <a:ext cx="3654864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Realizar código seguro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49"/>
          <p:cNvSpPr txBox="1"/>
          <p:nvPr/>
        </p:nvSpPr>
        <p:spPr>
          <a:xfrm>
            <a:off x="6704089" y="4151719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Bloquear la esquina compartida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49"/>
          <p:cNvSpPr txBox="1"/>
          <p:nvPr/>
        </p:nvSpPr>
        <p:spPr>
          <a:xfrm>
            <a:off x="6712837" y="4722362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Realizar la tarea en esa esquina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49"/>
          <p:cNvSpPr txBox="1"/>
          <p:nvPr/>
        </p:nvSpPr>
        <p:spPr>
          <a:xfrm>
            <a:off x="6712837" y="5293005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Moverme a una esquina segura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49"/>
          <p:cNvSpPr txBox="1"/>
          <p:nvPr/>
        </p:nvSpPr>
        <p:spPr>
          <a:xfrm>
            <a:off x="6712837" y="5863649"/>
            <a:ext cx="4883032" cy="369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000"/>
              <a:buFont typeface="Consolas"/>
              <a:buNone/>
            </a:pPr>
            <a:r>
              <a:rPr b="0" i="0" lang="en-US" sz="1800" u="none" cap="none" strike="noStrike">
                <a:solidFill>
                  <a:srgbClr val="002060"/>
                </a:solidFill>
                <a:latin typeface="Consolas"/>
                <a:ea typeface="Consolas"/>
                <a:cs typeface="Consolas"/>
                <a:sym typeface="Consolas"/>
              </a:rPr>
              <a:t>Liberar la esquina compartida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n que contiene dibujo&#10;&#10;Descripción generada automáticamente" id="476" name="Google Shape;476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99" y="177267"/>
            <a:ext cx="936103" cy="936103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0"/>
          <p:cNvSpPr txBox="1"/>
          <p:nvPr/>
        </p:nvSpPr>
        <p:spPr>
          <a:xfrm>
            <a:off x="47625" y="6448425"/>
            <a:ext cx="24479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1200"/>
              <a:buFont typeface="Tahoma"/>
              <a:buNone/>
            </a:pPr>
            <a:r>
              <a:rPr b="0" i="0" lang="en-US" sz="1200" u="none" cap="none" strike="noStrike">
                <a:solidFill>
                  <a:srgbClr val="595959"/>
                </a:solidFill>
                <a:latin typeface="Tahoma"/>
                <a:ea typeface="Tahoma"/>
                <a:cs typeface="Tahoma"/>
                <a:sym typeface="Tahoma"/>
              </a:rPr>
              <a:t>Clase 3 – Módulo Concurrente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50"/>
          <p:cNvSpPr txBox="1"/>
          <p:nvPr/>
        </p:nvSpPr>
        <p:spPr>
          <a:xfrm>
            <a:off x="271462" y="1282699"/>
            <a:ext cx="3952875" cy="52937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programa solucion2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areas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area1: AreaPC(1,1,100,100)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robots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robot 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t/>
            </a:r>
            <a:endParaRPr b="1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  …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  fin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ahoma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variables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robot1:tipo1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robot2: tipo2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onsolas"/>
              <a:buNone/>
            </a:pPr>
            <a:r>
              <a:rPr b="1" i="0" lang="en-US" sz="1800" u="none" cap="none" strike="noStrike">
                <a:solidFill>
                  <a:schemeClr val="accent1"/>
                </a:solidFill>
                <a:latin typeface="Consolas"/>
                <a:ea typeface="Consolas"/>
                <a:cs typeface="Consolas"/>
                <a:sym typeface="Consolas"/>
              </a:rPr>
              <a:t>...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50"/>
          <p:cNvSpPr txBox="1"/>
          <p:nvPr/>
        </p:nvSpPr>
        <p:spPr>
          <a:xfrm>
            <a:off x="4082819" y="4153688"/>
            <a:ext cx="5545137" cy="2585283"/>
          </a:xfrm>
          <a:prstGeom prst="rect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robot tipo2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mientras (hayFlorEnLaEsquina)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tomarFlor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BloquearEsquina(10,10)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(2,2)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LiberarEsquina(10,10)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</p:txBody>
      </p:sp>
      <p:sp>
        <p:nvSpPr>
          <p:cNvPr id="480" name="Google Shape;480;p50"/>
          <p:cNvSpPr txBox="1"/>
          <p:nvPr/>
        </p:nvSpPr>
        <p:spPr>
          <a:xfrm>
            <a:off x="4082819" y="1292202"/>
            <a:ext cx="4527777" cy="2585283"/>
          </a:xfrm>
          <a:prstGeom prst="rect">
            <a:avLst/>
          </a:prstGeom>
          <a:noFill/>
          <a:ln cap="flat" cmpd="sng" w="3810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robot tipo1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comenzar</a:t>
            </a:r>
            <a:endParaRPr b="1" i="0" sz="1800" u="none" cap="none" strike="noStrike">
              <a:solidFill>
                <a:srgbClr val="7F7F7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repetir 5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  mover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BloquearEsquina(10,10)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(10,10) 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Pos (1,1)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  LiberarEsquina(10,10)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  fin </a:t>
            </a:r>
            <a:endParaRPr/>
          </a:p>
        </p:txBody>
      </p:sp>
      <p:cxnSp>
        <p:nvCxnSpPr>
          <p:cNvPr id="481" name="Google Shape;481;p50"/>
          <p:cNvCxnSpPr/>
          <p:nvPr/>
        </p:nvCxnSpPr>
        <p:spPr>
          <a:xfrm flipH="1" rot="10800000">
            <a:off x="2079171" y="2899669"/>
            <a:ext cx="1807029" cy="376931"/>
          </a:xfrm>
          <a:prstGeom prst="straightConnector1">
            <a:avLst/>
          </a:prstGeom>
          <a:noFill/>
          <a:ln cap="flat" cmpd="sng" w="38100">
            <a:solidFill>
              <a:schemeClr val="accent6"/>
            </a:solidFill>
            <a:prstDash val="dash"/>
            <a:round/>
            <a:headEnd len="sm" w="sm" type="none"/>
            <a:tailEnd len="med" w="med" type="stealth"/>
          </a:ln>
        </p:spPr>
      </p:cxnSp>
      <p:cxnSp>
        <p:nvCxnSpPr>
          <p:cNvPr id="482" name="Google Shape;482;p50"/>
          <p:cNvCxnSpPr/>
          <p:nvPr/>
        </p:nvCxnSpPr>
        <p:spPr>
          <a:xfrm>
            <a:off x="2095839" y="4398811"/>
            <a:ext cx="1790361" cy="771903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dash"/>
            <a:round/>
            <a:headEnd len="sm" w="sm" type="none"/>
            <a:tailEnd len="med" w="med" type="stealth"/>
          </a:ln>
        </p:spPr>
      </p:cxnSp>
      <p:sp>
        <p:nvSpPr>
          <p:cNvPr id="483" name="Google Shape;483;p50"/>
          <p:cNvSpPr txBox="1"/>
          <p:nvPr/>
        </p:nvSpPr>
        <p:spPr>
          <a:xfrm>
            <a:off x="936625" y="176663"/>
            <a:ext cx="11104562" cy="741362"/>
          </a:xfrm>
          <a:prstGeom prst="rect">
            <a:avLst/>
          </a:prstGeom>
          <a:solidFill>
            <a:srgbClr val="FFC000"/>
          </a:solidFill>
          <a:ln cap="flat" cmpd="sng" w="1270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84" name="Google Shape;484;p50"/>
          <p:cNvSpPr txBox="1"/>
          <p:nvPr/>
        </p:nvSpPr>
        <p:spPr>
          <a:xfrm>
            <a:off x="1146175" y="175076"/>
            <a:ext cx="10922000" cy="9232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COMUNICACIÓN – Memoria Compartida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random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250"/>
                                        <p:tgtEl>
                                          <p:spTgt spid="4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5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9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1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3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8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7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10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6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4_HDOfficeLightV0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2004-03-08T16:29:06Z</dcterms:created>
  <dc:creator>Cecilia Verónica Sanz</dc:creator>
</cp:coreProperties>
</file>