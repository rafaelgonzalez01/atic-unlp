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</p:sldIdLst>
  <p:sldSz cy="6858000" cx="12192000"/>
  <p:notesSz cx="6794500" cy="9925050"/>
  <p:embeddedFontLs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26">
          <p15:clr>
            <a:srgbClr val="000000"/>
          </p15:clr>
        </p15:guide>
        <p15:guide id="2" pos="2140">
          <p15:clr>
            <a:srgbClr val="000000"/>
          </p15:clr>
        </p15:guide>
      </p15:notesGuideLst>
    </p:ext>
    <p:ext uri="GoogleSlidesCustomDataVersion2">
      <go:slidesCustomData xmlns:go="http://customooxmlschemas.google.com/" r:id="rId34" roundtripDataSignature="AMtx7mh7W/67qhctQHITjdPwzNaugxbr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5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1" Type="http://schemas.openxmlformats.org/officeDocument/2006/relationships/theme" Target="theme/theme9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33" Type="http://schemas.openxmlformats.org/officeDocument/2006/relationships/font" Target="fonts/Tahoma-bold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Tahoma-regular.fntdata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34" Type="http://customschemas.google.com/relationships/presentationmetadata" Target="metadata"/><Relationship Id="rId15" Type="http://schemas.openxmlformats.org/officeDocument/2006/relationships/notesMaster" Target="notesMasters/notesMaster1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89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9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53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4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54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5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55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56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7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57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8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58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9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0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60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6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type="title"/>
          </p:nvPr>
        </p:nvSpPr>
        <p:spPr>
          <a:xfrm>
            <a:off x="831851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" type="body"/>
          </p:nvPr>
        </p:nvSpPr>
        <p:spPr>
          <a:xfrm>
            <a:off x="831851" y="455263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0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45127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2" type="body"/>
          </p:nvPr>
        </p:nvSpPr>
        <p:spPr>
          <a:xfrm>
            <a:off x="6172200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2"/>
          <p:cNvSpPr txBox="1"/>
          <p:nvPr>
            <p:ph idx="1" type="body"/>
          </p:nvPr>
        </p:nvSpPr>
        <p:spPr>
          <a:xfrm>
            <a:off x="845127" y="1681852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7" name="Google Shape;77;p42"/>
          <p:cNvSpPr txBox="1"/>
          <p:nvPr>
            <p:ph idx="2" type="body"/>
          </p:nvPr>
        </p:nvSpPr>
        <p:spPr>
          <a:xfrm>
            <a:off x="845127" y="2507552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3" type="body"/>
          </p:nvPr>
        </p:nvSpPr>
        <p:spPr>
          <a:xfrm>
            <a:off x="6172201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9" name="Google Shape;79;p42"/>
          <p:cNvSpPr txBox="1"/>
          <p:nvPr>
            <p:ph idx="4" type="body"/>
          </p:nvPr>
        </p:nvSpPr>
        <p:spPr>
          <a:xfrm>
            <a:off x="6172201" y="2507552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6"/>
          <p:cNvSpPr txBox="1"/>
          <p:nvPr>
            <p:ph type="title"/>
          </p:nvPr>
        </p:nvSpPr>
        <p:spPr>
          <a:xfrm>
            <a:off x="841248" y="457202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6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03" name="Google Shape;103;p46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04" name="Google Shape;104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8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8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17" name="Google Shape;11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0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0"/>
          <p:cNvSpPr txBox="1"/>
          <p:nvPr>
            <p:ph idx="1" type="body"/>
          </p:nvPr>
        </p:nvSpPr>
        <p:spPr>
          <a:xfrm rot="5400000">
            <a:off x="3926682" y="-1253332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9" name="Google Shape;129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/>
          <p:nvPr>
            <p:ph type="title"/>
          </p:nvPr>
        </p:nvSpPr>
        <p:spPr>
          <a:xfrm rot="5400000">
            <a:off x="7133432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1" type="body"/>
          </p:nvPr>
        </p:nvSpPr>
        <p:spPr>
          <a:xfrm rot="5400000">
            <a:off x="1799432" y="-600867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41" name="Google Shape;14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9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0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1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39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3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4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3" name="Google Shape;7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4" name="Google Shape;74;p4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3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3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8" name="Google Shape;8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9" name="Google Shape;89;p4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5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45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8" name="Google Shape;9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9" name="Google Shape;99;p4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47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1" name="Google Shape;111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2" name="Google Shape;112;p4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49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4" name="Google Shape;12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5" name="Google Shape;125;p4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5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6" name="Google Shape;13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7" name="Google Shape;137;p5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type="ctrTitle"/>
          </p:nvPr>
        </p:nvSpPr>
        <p:spPr>
          <a:xfrm>
            <a:off x="4632325" y="981075"/>
            <a:ext cx="7113587" cy="288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Taller de </a:t>
            </a:r>
            <a:b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dibujo&#10;&#10;Descripción generada automáticamente"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424" y="1196752"/>
            <a:ext cx="3387725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/>
          <p:nvPr/>
        </p:nvSpPr>
        <p:spPr>
          <a:xfrm>
            <a:off x="1146175" y="273050"/>
            <a:ext cx="19875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Descripción generada automáticamente" id="159" name="Google Shape;1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5212" y="249237"/>
            <a:ext cx="8763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"/>
          <p:cNvSpPr txBox="1"/>
          <p:nvPr/>
        </p:nvSpPr>
        <p:spPr>
          <a:xfrm>
            <a:off x="936625" y="2079625"/>
            <a:ext cx="3576637" cy="70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767" y="967937"/>
            <a:ext cx="9816465" cy="552176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8"/>
          <p:cNvGrpSpPr/>
          <p:nvPr/>
        </p:nvGrpSpPr>
        <p:grpSpPr>
          <a:xfrm>
            <a:off x="8469313" y="2230500"/>
            <a:ext cx="2899727" cy="1279780"/>
            <a:chOff x="8469313" y="2230500"/>
            <a:chExt cx="2899727" cy="1279780"/>
          </a:xfrm>
        </p:grpSpPr>
        <p:sp>
          <p:nvSpPr>
            <p:cNvPr id="171" name="Google Shape;171;p18"/>
            <p:cNvSpPr txBox="1"/>
            <p:nvPr/>
          </p:nvSpPr>
          <p:spPr>
            <a:xfrm>
              <a:off x="8469313" y="2617768"/>
              <a:ext cx="2899727" cy="892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Información de cada robot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 rot="5400000">
              <a:off x="9678892" y="2258948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146175" y="4956274"/>
            <a:ext cx="2132442" cy="533679"/>
            <a:chOff x="5382895" y="3046194"/>
            <a:chExt cx="2132442" cy="533679"/>
          </a:xfrm>
        </p:grpSpPr>
        <p:sp>
          <p:nvSpPr>
            <p:cNvPr id="174" name="Google Shape;174;p18"/>
            <p:cNvSpPr txBox="1"/>
            <p:nvPr/>
          </p:nvSpPr>
          <p:spPr>
            <a:xfrm>
              <a:off x="5382895" y="3087471"/>
              <a:ext cx="1769745" cy="492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Ciudad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 rot="10501281">
              <a:off x="7017291" y="3066248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4950572" y="1830894"/>
            <a:ext cx="2899727" cy="1279780"/>
            <a:chOff x="8469313" y="2230500"/>
            <a:chExt cx="2899727" cy="1279780"/>
          </a:xfrm>
        </p:grpSpPr>
        <p:sp>
          <p:nvSpPr>
            <p:cNvPr id="177" name="Google Shape;177;p18"/>
            <p:cNvSpPr txBox="1"/>
            <p:nvPr/>
          </p:nvSpPr>
          <p:spPr>
            <a:xfrm>
              <a:off x="8469313" y="2617768"/>
              <a:ext cx="2899727" cy="892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Código del programa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 rot="5400000">
              <a:off x="9678892" y="2258948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18"/>
          <p:cNvSpPr txBox="1"/>
          <p:nvPr/>
        </p:nvSpPr>
        <p:spPr>
          <a:xfrm rot="-853597">
            <a:off x="8913385" y="3897548"/>
            <a:ext cx="3096800" cy="206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Calibri"/>
              <a:buNone/>
            </a:pPr>
            <a:r>
              <a:rPr b="1" i="0" lang="en-US" sz="32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Cómo aplica CMRE los conceptos de concurrencia?</a:t>
            </a:r>
            <a:endParaRPr b="1" i="0" sz="3200" u="none" cap="none" strike="noStrike">
              <a:solidFill>
                <a:srgbClr val="33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19"/>
          <p:cNvGrpSpPr/>
          <p:nvPr/>
        </p:nvGrpSpPr>
        <p:grpSpPr>
          <a:xfrm>
            <a:off x="3785140" y="1115852"/>
            <a:ext cx="7023832" cy="5314744"/>
            <a:chOff x="1361027" y="2482"/>
            <a:chExt cx="7023832" cy="5314744"/>
          </a:xfrm>
        </p:grpSpPr>
        <p:sp>
          <p:nvSpPr>
            <p:cNvPr id="189" name="Google Shape;189;p19"/>
            <p:cNvSpPr/>
            <p:nvPr/>
          </p:nvSpPr>
          <p:spPr>
            <a:xfrm rot="10800000">
              <a:off x="1903844" y="2482"/>
              <a:ext cx="6481015" cy="1085633"/>
            </a:xfrm>
            <a:prstGeom prst="homePlate">
              <a:avLst>
                <a:gd fmla="val 5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2175252" y="2482"/>
              <a:ext cx="6209607" cy="1085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478725" spcFirstLastPara="1" rIns="227575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Comunicación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361027" y="2482"/>
              <a:ext cx="1085633" cy="1085633"/>
            </a:xfrm>
            <a:prstGeom prst="ellipse">
              <a:avLst/>
            </a:prstGeom>
            <a:solidFill>
              <a:srgbClr val="BFC8E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 rot="10800000">
              <a:off x="1903844" y="1412185"/>
              <a:ext cx="6481015" cy="1085633"/>
            </a:xfrm>
            <a:prstGeom prst="homePlate">
              <a:avLst>
                <a:gd fmla="val 50000" name="adj"/>
              </a:avLst>
            </a:prstGeom>
            <a:solidFill>
              <a:srgbClr val="43BCB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2175252" y="1412185"/>
              <a:ext cx="6209607" cy="1085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478725" spcFirstLastPara="1" rIns="227575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Recursos Compartidos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1361027" y="1412185"/>
              <a:ext cx="1085633" cy="1085633"/>
            </a:xfrm>
            <a:prstGeom prst="ellipse">
              <a:avLst/>
            </a:prstGeom>
            <a:solidFill>
              <a:srgbClr val="BEDEE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 rot="10800000">
              <a:off x="1903844" y="2821889"/>
              <a:ext cx="6481015" cy="1085633"/>
            </a:xfrm>
            <a:prstGeom prst="homePlate">
              <a:avLst>
                <a:gd fmla="val 50000" name="adj"/>
              </a:avLst>
            </a:prstGeom>
            <a:solidFill>
              <a:srgbClr val="45B36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2175252" y="2821889"/>
              <a:ext cx="6209607" cy="1085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478725" spcFirstLastPara="1" rIns="227575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Sincronización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1361027" y="2821889"/>
              <a:ext cx="1085633" cy="1085633"/>
            </a:xfrm>
            <a:prstGeom prst="ellipse">
              <a:avLst/>
            </a:prstGeom>
            <a:solidFill>
              <a:srgbClr val="BEDDC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 rot="10800000">
              <a:off x="1903844" y="4231593"/>
              <a:ext cx="6481015" cy="1085633"/>
            </a:xfrm>
            <a:prstGeom prst="homePlate">
              <a:avLst>
                <a:gd fmla="val 50000" name="adj"/>
              </a:avLst>
            </a:prstGeom>
            <a:solidFill>
              <a:srgbClr val="6FAA4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2175252" y="4231593"/>
              <a:ext cx="6209607" cy="1085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478725" spcFirstLastPara="1" rIns="227575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Heterogeneidad de procesadores</a:t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1361027" y="4231593"/>
              <a:ext cx="1085633" cy="1085633"/>
            </a:xfrm>
            <a:prstGeom prst="ellipse">
              <a:avLst/>
            </a:prstGeom>
            <a:solidFill>
              <a:srgbClr val="C6D9B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51203">
            <a:off x="600374" y="2146518"/>
            <a:ext cx="5052556" cy="389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08" name="Google Shape;2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3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53"/>
          <p:cNvGrpSpPr/>
          <p:nvPr/>
        </p:nvGrpSpPr>
        <p:grpSpPr>
          <a:xfrm>
            <a:off x="4154502" y="1197097"/>
            <a:ext cx="7621806" cy="5315601"/>
            <a:chOff x="1027850" y="2053"/>
            <a:chExt cx="7621806" cy="5315601"/>
          </a:xfrm>
        </p:grpSpPr>
        <p:sp>
          <p:nvSpPr>
            <p:cNvPr id="211" name="Google Shape;211;p53"/>
            <p:cNvSpPr/>
            <p:nvPr/>
          </p:nvSpPr>
          <p:spPr>
            <a:xfrm rot="10800000">
              <a:off x="2109443" y="2053"/>
              <a:ext cx="6540213" cy="1085808"/>
            </a:xfrm>
            <a:prstGeom prst="homePlate">
              <a:avLst>
                <a:gd fmla="val 5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3"/>
            <p:cNvSpPr txBox="1"/>
            <p:nvPr/>
          </p:nvSpPr>
          <p:spPr>
            <a:xfrm>
              <a:off x="2380895" y="2053"/>
              <a:ext cx="6268761" cy="1085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478800" spcFirstLastPara="1" rIns="16357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ROBOTS: se permite declarar más de un robot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3"/>
            <p:cNvSpPr/>
            <p:nvPr/>
          </p:nvSpPr>
          <p:spPr>
            <a:xfrm>
              <a:off x="1027850" y="2053"/>
              <a:ext cx="1085808" cy="1085808"/>
            </a:xfrm>
            <a:prstGeom prst="ellipse">
              <a:avLst/>
            </a:prstGeom>
            <a:solidFill>
              <a:srgbClr val="BFC8E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3"/>
            <p:cNvSpPr/>
            <p:nvPr/>
          </p:nvSpPr>
          <p:spPr>
            <a:xfrm rot="10800000">
              <a:off x="2109443" y="1411984"/>
              <a:ext cx="6540213" cy="1085808"/>
            </a:xfrm>
            <a:prstGeom prst="homePlate">
              <a:avLst>
                <a:gd fmla="val 50000" name="adj"/>
              </a:avLst>
            </a:prstGeom>
            <a:solidFill>
              <a:srgbClr val="43BCB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3"/>
            <p:cNvSpPr txBox="1"/>
            <p:nvPr/>
          </p:nvSpPr>
          <p:spPr>
            <a:xfrm>
              <a:off x="2380895" y="1411984"/>
              <a:ext cx="6268761" cy="1085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478800" spcFirstLastPara="1" rIns="16357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AREAS: existen distintos tipos de áreas (privadas, compartidas, parcialmente compartidas)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3"/>
            <p:cNvSpPr/>
            <p:nvPr/>
          </p:nvSpPr>
          <p:spPr>
            <a:xfrm>
              <a:off x="1027850" y="1411984"/>
              <a:ext cx="1085808" cy="1085808"/>
            </a:xfrm>
            <a:prstGeom prst="ellipse">
              <a:avLst/>
            </a:prstGeom>
            <a:solidFill>
              <a:srgbClr val="BEDEE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3"/>
            <p:cNvSpPr/>
            <p:nvPr/>
          </p:nvSpPr>
          <p:spPr>
            <a:xfrm rot="10800000">
              <a:off x="2109443" y="2821915"/>
              <a:ext cx="6540213" cy="1085808"/>
            </a:xfrm>
            <a:prstGeom prst="homePlate">
              <a:avLst>
                <a:gd fmla="val 50000" name="adj"/>
              </a:avLst>
            </a:prstGeom>
            <a:solidFill>
              <a:srgbClr val="45B36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3"/>
            <p:cNvSpPr txBox="1"/>
            <p:nvPr/>
          </p:nvSpPr>
          <p:spPr>
            <a:xfrm>
              <a:off x="2380895" y="2821915"/>
              <a:ext cx="6268761" cy="1085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478800" spcFirstLastPara="1" rIns="16357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COMUNICACIÓN: permite el intercambio de mensajes entre robots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3"/>
            <p:cNvSpPr/>
            <p:nvPr/>
          </p:nvSpPr>
          <p:spPr>
            <a:xfrm>
              <a:off x="1027850" y="2821915"/>
              <a:ext cx="1085808" cy="1085808"/>
            </a:xfrm>
            <a:prstGeom prst="ellipse">
              <a:avLst/>
            </a:prstGeom>
            <a:solidFill>
              <a:srgbClr val="BEDDC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3"/>
            <p:cNvSpPr/>
            <p:nvPr/>
          </p:nvSpPr>
          <p:spPr>
            <a:xfrm rot="10800000">
              <a:off x="2109443" y="4231846"/>
              <a:ext cx="6540213" cy="1085808"/>
            </a:xfrm>
            <a:prstGeom prst="homePlate">
              <a:avLst>
                <a:gd fmla="val 50000" name="adj"/>
              </a:avLst>
            </a:prstGeom>
            <a:solidFill>
              <a:srgbClr val="6FAA4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3"/>
            <p:cNvSpPr txBox="1"/>
            <p:nvPr/>
          </p:nvSpPr>
          <p:spPr>
            <a:xfrm>
              <a:off x="2380895" y="4231846"/>
              <a:ext cx="6268761" cy="1085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478800" spcFirstLastPara="1" rIns="16357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SINCRONIZACIÓN: permite bloquear y desbloquear recursos compartidos (esquinas)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3"/>
            <p:cNvSpPr/>
            <p:nvPr/>
          </p:nvSpPr>
          <p:spPr>
            <a:xfrm>
              <a:off x="1027850" y="4231846"/>
              <a:ext cx="1085808" cy="1085808"/>
            </a:xfrm>
            <a:prstGeom prst="ellipse">
              <a:avLst/>
            </a:prstGeom>
            <a:solidFill>
              <a:srgbClr val="C6D9B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3" name="Google Shape;22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51203">
            <a:off x="980724" y="2054520"/>
            <a:ext cx="4485135" cy="3455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3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7826375" y="3351212"/>
            <a:ext cx="3673475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 un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005454" y="1055688"/>
            <a:ext cx="7712075" cy="5690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4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42" name="Google Shape;24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4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4"/>
          <p:cNvSpPr txBox="1"/>
          <p:nvPr/>
        </p:nvSpPr>
        <p:spPr>
          <a:xfrm>
            <a:off x="1768507" y="968846"/>
            <a:ext cx="7712075" cy="5690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54"/>
          <p:cNvSpPr/>
          <p:nvPr/>
        </p:nvSpPr>
        <p:spPr>
          <a:xfrm rot="5400000">
            <a:off x="7563665" y="1778311"/>
            <a:ext cx="1070315" cy="123971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AEABAB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4"/>
          <p:cNvSpPr txBox="1"/>
          <p:nvPr/>
        </p:nvSpPr>
        <p:spPr>
          <a:xfrm>
            <a:off x="5624544" y="2753372"/>
            <a:ext cx="6416700" cy="2031900"/>
          </a:xfrm>
          <a:prstGeom prst="rect">
            <a:avLst/>
          </a:prstGeom>
          <a:noFill/>
          <a:ln cap="flat" cmpd="sng" w="9525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 </a:t>
            </a:r>
            <a:r>
              <a:rPr b="0" i="0" lang="en-US" sz="1800" u="none" cap="none" strike="noStrike">
                <a:solidFill>
                  <a:srgbClr val="191919"/>
                </a:solidFill>
                <a:latin typeface="Consolas"/>
                <a:ea typeface="Consolas"/>
                <a:cs typeface="Consolas"/>
                <a:sym typeface="Consolas"/>
              </a:rPr>
              <a:t>nombre (ES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flores:numero;E valor:boolean)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nombre : tipo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//código del proceso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54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5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54" name="Google Shape;25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5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5"/>
          <p:cNvSpPr txBox="1"/>
          <p:nvPr/>
        </p:nvSpPr>
        <p:spPr>
          <a:xfrm>
            <a:off x="1778667" y="1091179"/>
            <a:ext cx="5597493" cy="54937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55"/>
          <p:cNvSpPr txBox="1"/>
          <p:nvPr/>
        </p:nvSpPr>
        <p:spPr>
          <a:xfrm>
            <a:off x="6488906" y="2459530"/>
            <a:ext cx="4652075" cy="1015663"/>
          </a:xfrm>
          <a:prstGeom prst="rect">
            <a:avLst/>
          </a:prstGeom>
          <a:noFill/>
          <a:ln cap="flat" cmpd="sng" w="9525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ciudad1: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areaC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(1,1,10,10)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ciudad2: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areaP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(15,15,20,20)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ciudad3: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areaPC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(30,32,50,51)</a:t>
            </a:r>
            <a:endParaRPr/>
          </a:p>
        </p:txBody>
      </p:sp>
      <p:sp>
        <p:nvSpPr>
          <p:cNvPr id="258" name="Google Shape;258;p55"/>
          <p:cNvSpPr txBox="1"/>
          <p:nvPr/>
        </p:nvSpPr>
        <p:spPr>
          <a:xfrm>
            <a:off x="6900041" y="3679477"/>
            <a:ext cx="4976999" cy="646331"/>
          </a:xfrm>
          <a:prstGeom prst="rect">
            <a:avLst/>
          </a:prstGeom>
          <a:noFill/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areaC: área compartida (pueden acceder todos los robots declarados)</a:t>
            </a:r>
            <a:endParaRPr/>
          </a:p>
        </p:txBody>
      </p:sp>
      <p:sp>
        <p:nvSpPr>
          <p:cNvPr id="259" name="Google Shape;259;p55"/>
          <p:cNvSpPr txBox="1"/>
          <p:nvPr/>
        </p:nvSpPr>
        <p:spPr>
          <a:xfrm>
            <a:off x="6900041" y="4504714"/>
            <a:ext cx="4976999" cy="646331"/>
          </a:xfrm>
          <a:prstGeom prst="rect">
            <a:avLst/>
          </a:prstGeom>
          <a:noFill/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areaP: área privada (pueden acceder sólo un robot de los declarados)</a:t>
            </a:r>
            <a:endParaRPr/>
          </a:p>
        </p:txBody>
      </p:sp>
      <p:sp>
        <p:nvSpPr>
          <p:cNvPr id="260" name="Google Shape;260;p55"/>
          <p:cNvSpPr/>
          <p:nvPr/>
        </p:nvSpPr>
        <p:spPr>
          <a:xfrm>
            <a:off x="5311439" y="2627646"/>
            <a:ext cx="926801" cy="67943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EABAB"/>
          </a:solidFill>
          <a:ln cap="flat" cmpd="sng" w="25400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5"/>
          <p:cNvSpPr txBox="1"/>
          <p:nvPr/>
        </p:nvSpPr>
        <p:spPr>
          <a:xfrm>
            <a:off x="6865624" y="5329951"/>
            <a:ext cx="4976999" cy="923330"/>
          </a:xfrm>
          <a:prstGeom prst="rect">
            <a:avLst/>
          </a:prstGeom>
          <a:noFill/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areaPC: área parcialmente compartida (pueden acceder más de un robot pero no todos los robots declarados)</a:t>
            </a:r>
            <a:endParaRPr/>
          </a:p>
        </p:txBody>
      </p:sp>
      <p:sp>
        <p:nvSpPr>
          <p:cNvPr id="262" name="Google Shape;262;p55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68" name="Google Shape;2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9387" y="1138237"/>
            <a:ext cx="9424987" cy="5302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24"/>
          <p:cNvGrpSpPr/>
          <p:nvPr/>
        </p:nvGrpSpPr>
        <p:grpSpPr>
          <a:xfrm>
            <a:off x="192563" y="5105406"/>
            <a:ext cx="2899727" cy="918665"/>
            <a:chOff x="8662353" y="2444197"/>
            <a:chExt cx="2899727" cy="918665"/>
          </a:xfrm>
        </p:grpSpPr>
        <p:sp>
          <p:nvSpPr>
            <p:cNvPr id="272" name="Google Shape;272;p24"/>
            <p:cNvSpPr txBox="1"/>
            <p:nvPr/>
          </p:nvSpPr>
          <p:spPr>
            <a:xfrm>
              <a:off x="8662353" y="2470350"/>
              <a:ext cx="2899727" cy="892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AREA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COMPARTIDA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 rot="9471404">
              <a:off x="10826349" y="2519142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24"/>
          <p:cNvGrpSpPr/>
          <p:nvPr/>
        </p:nvGrpSpPr>
        <p:grpSpPr>
          <a:xfrm>
            <a:off x="2941032" y="3627101"/>
            <a:ext cx="2899727" cy="1303674"/>
            <a:chOff x="8662353" y="2387007"/>
            <a:chExt cx="2899727" cy="1303674"/>
          </a:xfrm>
        </p:grpSpPr>
        <p:sp>
          <p:nvSpPr>
            <p:cNvPr id="275" name="Google Shape;275;p24"/>
            <p:cNvSpPr txBox="1"/>
            <p:nvPr/>
          </p:nvSpPr>
          <p:spPr>
            <a:xfrm>
              <a:off x="8662353" y="2387007"/>
              <a:ext cx="2899727" cy="892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AREA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PRIVADA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 rot="-5400000">
              <a:off x="9840232" y="3238561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24"/>
          <p:cNvGrpSpPr/>
          <p:nvPr/>
        </p:nvGrpSpPr>
        <p:grpSpPr>
          <a:xfrm>
            <a:off x="5783752" y="4519613"/>
            <a:ext cx="3260870" cy="1292621"/>
            <a:chOff x="8301210" y="2470350"/>
            <a:chExt cx="3260870" cy="1292621"/>
          </a:xfrm>
        </p:grpSpPr>
        <p:sp>
          <p:nvSpPr>
            <p:cNvPr id="278" name="Google Shape;278;p24"/>
            <p:cNvSpPr txBox="1"/>
            <p:nvPr/>
          </p:nvSpPr>
          <p:spPr>
            <a:xfrm>
              <a:off x="8662353" y="2470350"/>
              <a:ext cx="2899727" cy="1292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AREA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PARCIALMENTE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757070"/>
                  </a:solidFill>
                  <a:latin typeface="Arial"/>
                  <a:ea typeface="Arial"/>
                  <a:cs typeface="Arial"/>
                  <a:sym typeface="Arial"/>
                </a:rPr>
                <a:t>COMPARTIDA</a:t>
              </a:r>
              <a:endParaRPr b="1" i="0" sz="26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 rot="-1585270">
              <a:off x="8370372" y="2824440"/>
              <a:ext cx="480568" cy="4236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6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87" name="Google Shape;28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6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6"/>
          <p:cNvSpPr txBox="1"/>
          <p:nvPr/>
        </p:nvSpPr>
        <p:spPr>
          <a:xfrm>
            <a:off x="1768507" y="968846"/>
            <a:ext cx="7712075" cy="5690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90" name="Google Shape;290;p56"/>
          <p:cNvGrpSpPr/>
          <p:nvPr/>
        </p:nvGrpSpPr>
        <p:grpSpPr>
          <a:xfrm>
            <a:off x="5537200" y="3923208"/>
            <a:ext cx="4214699" cy="2824641"/>
            <a:chOff x="5537200" y="3923208"/>
            <a:chExt cx="4214699" cy="2824641"/>
          </a:xfrm>
        </p:grpSpPr>
        <p:sp>
          <p:nvSpPr>
            <p:cNvPr id="291" name="Google Shape;291;p56"/>
            <p:cNvSpPr/>
            <p:nvPr/>
          </p:nvSpPr>
          <p:spPr>
            <a:xfrm rot="5400000">
              <a:off x="5892569" y="3567839"/>
              <a:ext cx="1070315" cy="1781053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AEABAB"/>
            </a:solidFill>
            <a:ln cap="flat" cmpd="sng" w="25400">
              <a:solidFill>
                <a:srgbClr val="2641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6"/>
            <p:cNvSpPr txBox="1"/>
            <p:nvPr/>
          </p:nvSpPr>
          <p:spPr>
            <a:xfrm>
              <a:off x="6118258" y="4993523"/>
              <a:ext cx="3633641" cy="1754326"/>
            </a:xfrm>
            <a:prstGeom prst="rect">
              <a:avLst/>
            </a:prstGeom>
            <a:noFill/>
            <a:ln cap="flat" cmpd="sng" w="9525">
              <a:solidFill>
                <a:srgbClr val="3A3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 tipo1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variables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...     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comenzar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   // Código del robot 1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fin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56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7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00" name="Google Shape;30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7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7"/>
          <p:cNvSpPr txBox="1"/>
          <p:nvPr/>
        </p:nvSpPr>
        <p:spPr>
          <a:xfrm>
            <a:off x="1805259" y="968815"/>
            <a:ext cx="5763941" cy="5690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57"/>
          <p:cNvSpPr txBox="1"/>
          <p:nvPr/>
        </p:nvSpPr>
        <p:spPr>
          <a:xfrm>
            <a:off x="5738224" y="2554162"/>
            <a:ext cx="3175465" cy="1569660"/>
          </a:xfrm>
          <a:prstGeom prst="rect">
            <a:avLst/>
          </a:prstGeom>
          <a:noFill/>
          <a:ln cap="flat" cmpd="sng" w="9525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 tipo1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variables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    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// Código del robot 1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04" name="Google Shape;304;p57"/>
          <p:cNvGrpSpPr/>
          <p:nvPr/>
        </p:nvGrpSpPr>
        <p:grpSpPr>
          <a:xfrm>
            <a:off x="5466011" y="4475878"/>
            <a:ext cx="3281750" cy="679433"/>
            <a:chOff x="5466011" y="4475878"/>
            <a:chExt cx="3281750" cy="679433"/>
          </a:xfrm>
        </p:grpSpPr>
        <p:sp>
          <p:nvSpPr>
            <p:cNvPr id="305" name="Google Shape;305;p57"/>
            <p:cNvSpPr txBox="1"/>
            <p:nvPr/>
          </p:nvSpPr>
          <p:spPr>
            <a:xfrm>
              <a:off x="6530705" y="4478203"/>
              <a:ext cx="2217056" cy="677108"/>
            </a:xfrm>
            <a:prstGeom prst="rect">
              <a:avLst/>
            </a:prstGeom>
            <a:noFill/>
            <a:ln cap="flat" cmpd="sng" w="9525">
              <a:solidFill>
                <a:srgbClr val="3A3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robot1: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robot2: tipo1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6" name="Google Shape;306;p57"/>
            <p:cNvSpPr/>
            <p:nvPr/>
          </p:nvSpPr>
          <p:spPr>
            <a:xfrm>
              <a:off x="5466011" y="4475878"/>
              <a:ext cx="926801" cy="67943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AEABAB"/>
            </a:solidFill>
            <a:ln cap="flat" cmpd="sng" w="25400">
              <a:solidFill>
                <a:srgbClr val="3A3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57"/>
          <p:cNvSpPr txBox="1"/>
          <p:nvPr/>
        </p:nvSpPr>
        <p:spPr>
          <a:xfrm>
            <a:off x="9051582" y="2241651"/>
            <a:ext cx="2989605" cy="2893100"/>
          </a:xfrm>
          <a:prstGeom prst="rect">
            <a:avLst/>
          </a:prstGeom>
          <a:noFill/>
          <a:ln cap="flat" cmpd="sng" w="9525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 tipo1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variables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     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// Código del robot 1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variables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     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// Código del robot 2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57"/>
          <p:cNvSpPr txBox="1"/>
          <p:nvPr/>
        </p:nvSpPr>
        <p:spPr>
          <a:xfrm>
            <a:off x="9616587" y="5381949"/>
            <a:ext cx="2097894" cy="677108"/>
          </a:xfrm>
          <a:prstGeom prst="rect">
            <a:avLst/>
          </a:prstGeom>
          <a:noFill/>
          <a:ln cap="flat" cmpd="sng" w="9525">
            <a:solidFill>
              <a:srgbClr val="3A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ola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robot1: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robot2: tipo2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9" name="Google Shape;309;p57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351203">
            <a:off x="274334" y="1429650"/>
            <a:ext cx="2306531" cy="17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8"/>
          <p:cNvSpPr txBox="1"/>
          <p:nvPr/>
        </p:nvSpPr>
        <p:spPr>
          <a:xfrm>
            <a:off x="936625" y="1984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16" name="Google Shape;3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8"/>
          <p:cNvSpPr txBox="1"/>
          <p:nvPr/>
        </p:nvSpPr>
        <p:spPr>
          <a:xfrm>
            <a:off x="1146175" y="273050"/>
            <a:ext cx="100679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CONCURRENTE – AMBIENTE CMRE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8"/>
          <p:cNvSpPr txBox="1"/>
          <p:nvPr/>
        </p:nvSpPr>
        <p:spPr>
          <a:xfrm>
            <a:off x="1882186" y="1014412"/>
            <a:ext cx="7712075" cy="5690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nombre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Procesos utilizados por los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Áreas de la ciudad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Robots del programa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Variables robots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Asignación de áreas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00"/>
              <a:buFont typeface="Consolas"/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 // Inicialización de robots </a:t>
            </a:r>
            <a:endParaRPr b="1" i="0" sz="20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nsola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19" name="Google Shape;319;p58"/>
          <p:cNvGrpSpPr/>
          <p:nvPr/>
        </p:nvGrpSpPr>
        <p:grpSpPr>
          <a:xfrm>
            <a:off x="5621488" y="4934085"/>
            <a:ext cx="6228999" cy="1255153"/>
            <a:chOff x="5621488" y="4934085"/>
            <a:chExt cx="6228999" cy="1255153"/>
          </a:xfrm>
        </p:grpSpPr>
        <p:sp>
          <p:nvSpPr>
            <p:cNvPr id="320" name="Google Shape;320;p58"/>
            <p:cNvSpPr txBox="1"/>
            <p:nvPr/>
          </p:nvSpPr>
          <p:spPr>
            <a:xfrm>
              <a:off x="6738785" y="4934085"/>
              <a:ext cx="5111702" cy="923330"/>
            </a:xfrm>
            <a:prstGeom prst="rect">
              <a:avLst/>
            </a:prstGeom>
            <a:noFill/>
            <a:ln cap="flat" cmpd="sng" w="9525">
              <a:solidFill>
                <a:srgbClr val="3A3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//AsignarArea(variableRobot,nombreArea)</a:t>
              </a:r>
              <a:endParaRPr b="0" i="0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AsignarArea(robot1,ciudad1)</a:t>
              </a:r>
              <a:endParaRPr b="0" i="0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nsola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iniciar(robot1, 5, 5)</a:t>
              </a:r>
              <a:endParaRPr b="0" i="0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1" name="Google Shape;321;p58"/>
            <p:cNvSpPr/>
            <p:nvPr/>
          </p:nvSpPr>
          <p:spPr>
            <a:xfrm rot="-1363148">
              <a:off x="5716736" y="5357192"/>
              <a:ext cx="926801" cy="67943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AEABAB"/>
            </a:solidFill>
            <a:ln cap="flat" cmpd="sng" w="25400">
              <a:solidFill>
                <a:srgbClr val="3A38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58"/>
          <p:cNvGrpSpPr/>
          <p:nvPr/>
        </p:nvGrpSpPr>
        <p:grpSpPr>
          <a:xfrm>
            <a:off x="8891915" y="1429446"/>
            <a:ext cx="3396250" cy="3396250"/>
            <a:chOff x="8891915" y="1429446"/>
            <a:chExt cx="3396250" cy="3396250"/>
          </a:xfrm>
        </p:grpSpPr>
        <p:sp>
          <p:nvSpPr>
            <p:cNvPr id="323" name="Google Shape;323;p58"/>
            <p:cNvSpPr/>
            <p:nvPr/>
          </p:nvSpPr>
          <p:spPr>
            <a:xfrm rot="8100000">
              <a:off x="9370081" y="1946019"/>
              <a:ext cx="2439919" cy="2363104"/>
            </a:xfrm>
            <a:custGeom>
              <a:rect b="b" l="l" r="r" t="t"/>
              <a:pathLst>
                <a:path extrusionOk="0" h="2664296" w="2664296">
                  <a:moveTo>
                    <a:pt x="0" y="1332148"/>
                  </a:moveTo>
                  <a:cubicBezTo>
                    <a:pt x="0" y="596423"/>
                    <a:pt x="596423" y="0"/>
                    <a:pt x="1332148" y="0"/>
                  </a:cubicBezTo>
                  <a:lnTo>
                    <a:pt x="2664296" y="0"/>
                  </a:lnTo>
                  <a:lnTo>
                    <a:pt x="2664296" y="1332148"/>
                  </a:lnTo>
                  <a:cubicBezTo>
                    <a:pt x="2664296" y="2067873"/>
                    <a:pt x="2067873" y="2664296"/>
                    <a:pt x="1332148" y="2664296"/>
                  </a:cubicBezTo>
                  <a:cubicBezTo>
                    <a:pt x="596423" y="2664296"/>
                    <a:pt x="0" y="2067873"/>
                    <a:pt x="0" y="1332148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2700">
              <a:solidFill>
                <a:srgbClr val="2F767D"/>
              </a:solidFill>
              <a:prstDash val="solid"/>
              <a:miter lim="343597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4" name="Google Shape;324;p58"/>
            <p:cNvSpPr txBox="1"/>
            <p:nvPr/>
          </p:nvSpPr>
          <p:spPr>
            <a:xfrm>
              <a:off x="9364248" y="2486554"/>
              <a:ext cx="2320758" cy="1384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 robot puede estar asignado a 1 o más de un áreas del programa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58"/>
          <p:cNvGrpSpPr/>
          <p:nvPr/>
        </p:nvGrpSpPr>
        <p:grpSpPr>
          <a:xfrm>
            <a:off x="6446678" y="1396108"/>
            <a:ext cx="3396250" cy="3396250"/>
            <a:chOff x="6446678" y="1396108"/>
            <a:chExt cx="3396250" cy="3396250"/>
          </a:xfrm>
        </p:grpSpPr>
        <p:sp>
          <p:nvSpPr>
            <p:cNvPr id="326" name="Google Shape;326;p58"/>
            <p:cNvSpPr/>
            <p:nvPr/>
          </p:nvSpPr>
          <p:spPr>
            <a:xfrm rot="8100000">
              <a:off x="6924844" y="1912681"/>
              <a:ext cx="2439919" cy="2363104"/>
            </a:xfrm>
            <a:custGeom>
              <a:rect b="b" l="l" r="r" t="t"/>
              <a:pathLst>
                <a:path extrusionOk="0" h="2664296" w="2664296">
                  <a:moveTo>
                    <a:pt x="0" y="1332148"/>
                  </a:moveTo>
                  <a:cubicBezTo>
                    <a:pt x="0" y="596423"/>
                    <a:pt x="596423" y="0"/>
                    <a:pt x="1332148" y="0"/>
                  </a:cubicBezTo>
                  <a:lnTo>
                    <a:pt x="2664296" y="0"/>
                  </a:lnTo>
                  <a:lnTo>
                    <a:pt x="2664296" y="1332148"/>
                  </a:lnTo>
                  <a:cubicBezTo>
                    <a:pt x="2664296" y="2067873"/>
                    <a:pt x="2067873" y="2664296"/>
                    <a:pt x="1332148" y="2664296"/>
                  </a:cubicBezTo>
                  <a:cubicBezTo>
                    <a:pt x="596423" y="2664296"/>
                    <a:pt x="0" y="2067873"/>
                    <a:pt x="0" y="1332148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2700">
              <a:solidFill>
                <a:srgbClr val="2F767D"/>
              </a:solidFill>
              <a:prstDash val="solid"/>
              <a:miter lim="343597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7" name="Google Shape;327;p58"/>
            <p:cNvSpPr txBox="1"/>
            <p:nvPr/>
          </p:nvSpPr>
          <p:spPr>
            <a:xfrm>
              <a:off x="6979971" y="2453216"/>
              <a:ext cx="2320758" cy="1384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Todos los robots declarados deben estar asignados al menos a un area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58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34" name="Google Shape;33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9"/>
          <p:cNvSpPr txBox="1"/>
          <p:nvPr/>
        </p:nvSpPr>
        <p:spPr>
          <a:xfrm>
            <a:off x="1146175" y="273050"/>
            <a:ext cx="651986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9"/>
          <p:cNvSpPr txBox="1"/>
          <p:nvPr/>
        </p:nvSpPr>
        <p:spPr>
          <a:xfrm>
            <a:off x="958102" y="892480"/>
            <a:ext cx="405384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Ejercicio-1-a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ciudad : AreaC(1,1,100,100)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 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robot1: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robot2: tipo2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AsignarArea(robot1,ciudad)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AsignarArea(robot2,ciudad)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Iniciar(robot1, 10, 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Iniciar(robot2, 13, 15 )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/>
          </a:p>
        </p:txBody>
      </p:sp>
      <p:sp>
        <p:nvSpPr>
          <p:cNvPr id="337" name="Google Shape;337;p59"/>
          <p:cNvSpPr txBox="1"/>
          <p:nvPr/>
        </p:nvSpPr>
        <p:spPr>
          <a:xfrm>
            <a:off x="6099175" y="892480"/>
            <a:ext cx="60960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Ejercicio-1-b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ciudad : AreaC(1,1,100,100)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 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repetir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robot1: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robot2: tipo2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AsignarArea(robot1,ciudad)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/>
          </a:p>
        </p:txBody>
      </p:sp>
      <p:sp>
        <p:nvSpPr>
          <p:cNvPr id="338" name="Google Shape;338;p59"/>
          <p:cNvSpPr txBox="1"/>
          <p:nvPr/>
        </p:nvSpPr>
        <p:spPr>
          <a:xfrm>
            <a:off x="47625" y="650938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44" name="Google Shape;34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60"/>
          <p:cNvSpPr txBox="1"/>
          <p:nvPr/>
        </p:nvSpPr>
        <p:spPr>
          <a:xfrm>
            <a:off x="1146175" y="273050"/>
            <a:ext cx="651986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0"/>
          <p:cNvSpPr txBox="1"/>
          <p:nvPr/>
        </p:nvSpPr>
        <p:spPr>
          <a:xfrm>
            <a:off x="933450" y="1005978"/>
            <a:ext cx="4053840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Ejercicio-1-c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ciudad : AreaC(1,1,100,100)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 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Pos(40,40)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 tipo2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repetir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Pos(20,20)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fin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robot1: tipo1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robot2: tipo2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/>
          </a:p>
        </p:txBody>
      </p:sp>
      <p:grpSp>
        <p:nvGrpSpPr>
          <p:cNvPr id="347" name="Google Shape;347;p60"/>
          <p:cNvGrpSpPr/>
          <p:nvPr/>
        </p:nvGrpSpPr>
        <p:grpSpPr>
          <a:xfrm>
            <a:off x="5100320" y="1013777"/>
            <a:ext cx="6516846" cy="5663248"/>
            <a:chOff x="5100320" y="1013777"/>
            <a:chExt cx="6516846" cy="5663248"/>
          </a:xfrm>
        </p:grpSpPr>
        <p:sp>
          <p:nvSpPr>
            <p:cNvPr id="348" name="Google Shape;348;p60"/>
            <p:cNvSpPr txBox="1"/>
            <p:nvPr/>
          </p:nvSpPr>
          <p:spPr>
            <a:xfrm>
              <a:off x="5100320" y="1013777"/>
              <a:ext cx="6096000" cy="4524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programa Ejercicio 1-d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 b="1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parte1ciudad : AreaC(1,1,50,50)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parte2ciudad : AreaP(51,51,99,99)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comenzar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mover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Pos (20,20)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Pos(40,40)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Pos(75,78)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fin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 tipo2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comenzar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repetir 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  mover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Pos(80,80)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fin</a:t>
              </a:r>
              <a:endParaRPr/>
            </a:p>
          </p:txBody>
        </p:sp>
        <p:sp>
          <p:nvSpPr>
            <p:cNvPr id="349" name="Google Shape;349;p60"/>
            <p:cNvSpPr txBox="1"/>
            <p:nvPr/>
          </p:nvSpPr>
          <p:spPr>
            <a:xfrm>
              <a:off x="7490301" y="4122480"/>
              <a:ext cx="4126865" cy="2554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robot1: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robot2: tipo2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AsignarArea(robot1,parte1ciudad)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AsignarArea(robot2,parte1ciudad)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AsignarArea(robot2,parte2ciudad)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Iniciar(robot1, 10, 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Iniciar(robot2, 62, 62)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fin</a:t>
              </a:r>
              <a:endParaRPr b="1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50" name="Google Shape;350;p60"/>
            <p:cNvCxnSpPr/>
            <p:nvPr/>
          </p:nvCxnSpPr>
          <p:spPr>
            <a:xfrm flipH="1" rot="10800000">
              <a:off x="6485731" y="4338320"/>
              <a:ext cx="931069" cy="160528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51" name="Google Shape;351;p60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57" name="Google Shape;3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181179" y="1360170"/>
            <a:ext cx="367962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Ejercicio: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Realice un programa donde un robot recorra el perímetro de un rectángulo de un tamaño 5 (alto) x 3 (ancho) juntando flores.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 finalizar el robot debe informar las flores juntadas. Inicialmente el robot se encuentra en la esquina (2,2).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Debe modularizar el rectángulo. El rectángulo debe recibir alto y ancho y devolver las flores.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1075055" y="212090"/>
            <a:ext cx="651986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4093550" y="980896"/>
            <a:ext cx="4809014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Rectangulos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proceso juntar (ES flor:numero)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flor:= flor + 1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proceso rectangulo (E alto:numero;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E ancho:numero;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ES flores:numero)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flores:=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repetir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repetir alto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juntar(flores)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derecha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repetir ancho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juntar(flores)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derecha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/>
          </a:p>
        </p:txBody>
      </p:sp>
      <p:grpSp>
        <p:nvGrpSpPr>
          <p:cNvPr id="361" name="Google Shape;361;p30"/>
          <p:cNvGrpSpPr/>
          <p:nvPr/>
        </p:nvGrpSpPr>
        <p:grpSpPr>
          <a:xfrm>
            <a:off x="6431280" y="1330960"/>
            <a:ext cx="5606733" cy="5151120"/>
            <a:chOff x="6431280" y="1330960"/>
            <a:chExt cx="5606733" cy="5151120"/>
          </a:xfrm>
        </p:grpSpPr>
        <p:sp>
          <p:nvSpPr>
            <p:cNvPr id="362" name="Google Shape;362;p30"/>
            <p:cNvSpPr txBox="1"/>
            <p:nvPr/>
          </p:nvSpPr>
          <p:spPr>
            <a:xfrm>
              <a:off x="8595361" y="1841440"/>
              <a:ext cx="3442652" cy="4278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 b="1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ciudad : AreaC(1,1,100,100)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variables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f:numero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comenzar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rectangulo (5,3,f)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Informar (f)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fin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robot1: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AsignarArea(robot1,ciudad)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Iniciar(robot1, 2, 2)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fin</a:t>
              </a: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6431280" y="1330960"/>
              <a:ext cx="3241040" cy="5151120"/>
            </a:xfrm>
            <a:custGeom>
              <a:rect b="b" l="l" r="r" t="t"/>
              <a:pathLst>
                <a:path extrusionOk="0" h="5151120" w="3241040">
                  <a:moveTo>
                    <a:pt x="0" y="4826000"/>
                  </a:moveTo>
                  <a:cubicBezTo>
                    <a:pt x="73293" y="4913951"/>
                    <a:pt x="48900" y="4894203"/>
                    <a:pt x="172720" y="4978400"/>
                  </a:cubicBezTo>
                  <a:cubicBezTo>
                    <a:pt x="215468" y="5007469"/>
                    <a:pt x="259504" y="5034767"/>
                    <a:pt x="304800" y="5059680"/>
                  </a:cubicBezTo>
                  <a:cubicBezTo>
                    <a:pt x="348554" y="5083745"/>
                    <a:pt x="408324" y="5102763"/>
                    <a:pt x="457200" y="5110480"/>
                  </a:cubicBezTo>
                  <a:cubicBezTo>
                    <a:pt x="558445" y="5126466"/>
                    <a:pt x="762000" y="5151120"/>
                    <a:pt x="762000" y="5151120"/>
                  </a:cubicBezTo>
                  <a:lnTo>
                    <a:pt x="1066800" y="5140960"/>
                  </a:lnTo>
                  <a:cubicBezTo>
                    <a:pt x="1144918" y="5127440"/>
                    <a:pt x="1290320" y="5059680"/>
                    <a:pt x="1290320" y="5059680"/>
                  </a:cubicBezTo>
                  <a:cubicBezTo>
                    <a:pt x="1375248" y="4991737"/>
                    <a:pt x="1511910" y="4888542"/>
                    <a:pt x="1564640" y="4805680"/>
                  </a:cubicBezTo>
                  <a:cubicBezTo>
                    <a:pt x="1588347" y="4768427"/>
                    <a:pt x="1614615" y="4732685"/>
                    <a:pt x="1635760" y="4693920"/>
                  </a:cubicBezTo>
                  <a:cubicBezTo>
                    <a:pt x="1673161" y="4625351"/>
                    <a:pt x="1725007" y="4484888"/>
                    <a:pt x="1747520" y="4419600"/>
                  </a:cubicBezTo>
                  <a:cubicBezTo>
                    <a:pt x="1762536" y="4376053"/>
                    <a:pt x="1773593" y="4331220"/>
                    <a:pt x="1788160" y="4287520"/>
                  </a:cubicBezTo>
                  <a:cubicBezTo>
                    <a:pt x="1804081" y="4239757"/>
                    <a:pt x="1820887" y="4192271"/>
                    <a:pt x="1838960" y="4145280"/>
                  </a:cubicBezTo>
                  <a:cubicBezTo>
                    <a:pt x="1854765" y="4104188"/>
                    <a:pt x="1875838" y="4065127"/>
                    <a:pt x="1889760" y="4023360"/>
                  </a:cubicBezTo>
                  <a:cubicBezTo>
                    <a:pt x="1930594" y="3900859"/>
                    <a:pt x="1911689" y="3909977"/>
                    <a:pt x="1940560" y="3789680"/>
                  </a:cubicBezTo>
                  <a:cubicBezTo>
                    <a:pt x="1952068" y="3741731"/>
                    <a:pt x="1968494" y="3695086"/>
                    <a:pt x="1981200" y="3647440"/>
                  </a:cubicBezTo>
                  <a:cubicBezTo>
                    <a:pt x="2012523" y="3529978"/>
                    <a:pt x="2031729" y="3427456"/>
                    <a:pt x="2072640" y="3312160"/>
                  </a:cubicBezTo>
                  <a:cubicBezTo>
                    <a:pt x="2176602" y="3019177"/>
                    <a:pt x="2099925" y="3315845"/>
                    <a:pt x="2164080" y="3037840"/>
                  </a:cubicBezTo>
                  <a:cubicBezTo>
                    <a:pt x="2170853" y="2959947"/>
                    <a:pt x="2179809" y="2882212"/>
                    <a:pt x="2184400" y="2804160"/>
                  </a:cubicBezTo>
                  <a:cubicBezTo>
                    <a:pt x="2187787" y="2746587"/>
                    <a:pt x="2188459" y="2688789"/>
                    <a:pt x="2194560" y="2631440"/>
                  </a:cubicBezTo>
                  <a:cubicBezTo>
                    <a:pt x="2205403" y="2529516"/>
                    <a:pt x="2225001" y="2428630"/>
                    <a:pt x="2235200" y="2326640"/>
                  </a:cubicBezTo>
                  <a:lnTo>
                    <a:pt x="2245360" y="2225040"/>
                  </a:lnTo>
                  <a:cubicBezTo>
                    <a:pt x="2238587" y="2082800"/>
                    <a:pt x="2237116" y="1940208"/>
                    <a:pt x="2225040" y="1798320"/>
                  </a:cubicBezTo>
                  <a:cubicBezTo>
                    <a:pt x="2223493" y="1780148"/>
                    <a:pt x="2209961" y="1764989"/>
                    <a:pt x="2204720" y="1747520"/>
                  </a:cubicBezTo>
                  <a:cubicBezTo>
                    <a:pt x="2199758" y="1730980"/>
                    <a:pt x="2200021" y="1713103"/>
                    <a:pt x="2194560" y="1696720"/>
                  </a:cubicBezTo>
                  <a:cubicBezTo>
                    <a:pt x="2185966" y="1670939"/>
                    <a:pt x="2168785" y="1647897"/>
                    <a:pt x="2153920" y="1625600"/>
                  </a:cubicBezTo>
                  <a:cubicBezTo>
                    <a:pt x="2147147" y="1578187"/>
                    <a:pt x="2144838" y="1529918"/>
                    <a:pt x="2133600" y="1483360"/>
                  </a:cubicBezTo>
                  <a:cubicBezTo>
                    <a:pt x="2104306" y="1361998"/>
                    <a:pt x="2083074" y="1331508"/>
                    <a:pt x="2032000" y="1229360"/>
                  </a:cubicBezTo>
                  <a:cubicBezTo>
                    <a:pt x="2025227" y="1195493"/>
                    <a:pt x="2020057" y="1161266"/>
                    <a:pt x="2011680" y="1127760"/>
                  </a:cubicBezTo>
                  <a:cubicBezTo>
                    <a:pt x="2006485" y="1106980"/>
                    <a:pt x="1994017" y="1088054"/>
                    <a:pt x="1991360" y="1066800"/>
                  </a:cubicBezTo>
                  <a:cubicBezTo>
                    <a:pt x="1983787" y="1006217"/>
                    <a:pt x="1984587" y="944880"/>
                    <a:pt x="1981200" y="883920"/>
                  </a:cubicBezTo>
                  <a:cubicBezTo>
                    <a:pt x="1987973" y="802640"/>
                    <a:pt x="1982486" y="719390"/>
                    <a:pt x="2001520" y="640080"/>
                  </a:cubicBezTo>
                  <a:cubicBezTo>
                    <a:pt x="2027841" y="530408"/>
                    <a:pt x="2105094" y="345175"/>
                    <a:pt x="2184400" y="243840"/>
                  </a:cubicBezTo>
                  <a:cubicBezTo>
                    <a:pt x="2213918" y="206123"/>
                    <a:pt x="2249029" y="172687"/>
                    <a:pt x="2286000" y="142240"/>
                  </a:cubicBezTo>
                  <a:cubicBezTo>
                    <a:pt x="2321370" y="113112"/>
                    <a:pt x="2421835" y="72186"/>
                    <a:pt x="2458720" y="60960"/>
                  </a:cubicBezTo>
                  <a:cubicBezTo>
                    <a:pt x="2548213" y="33723"/>
                    <a:pt x="2650958" y="19702"/>
                    <a:pt x="2743200" y="10160"/>
                  </a:cubicBezTo>
                  <a:cubicBezTo>
                    <a:pt x="2790482" y="5269"/>
                    <a:pt x="2838027" y="3387"/>
                    <a:pt x="2885440" y="0"/>
                  </a:cubicBezTo>
                  <a:cubicBezTo>
                    <a:pt x="2949787" y="3387"/>
                    <a:pt x="3014586" y="1826"/>
                    <a:pt x="3078480" y="10160"/>
                  </a:cubicBezTo>
                  <a:cubicBezTo>
                    <a:pt x="3108446" y="14069"/>
                    <a:pt x="3128130" y="35512"/>
                    <a:pt x="3139440" y="60960"/>
                  </a:cubicBezTo>
                  <a:cubicBezTo>
                    <a:pt x="3148139" y="80533"/>
                    <a:pt x="3151805" y="102033"/>
                    <a:pt x="3159760" y="121920"/>
                  </a:cubicBezTo>
                  <a:cubicBezTo>
                    <a:pt x="3165385" y="135982"/>
                    <a:pt x="3173307" y="149013"/>
                    <a:pt x="3180080" y="162560"/>
                  </a:cubicBezTo>
                  <a:cubicBezTo>
                    <a:pt x="3183467" y="182880"/>
                    <a:pt x="3184820" y="203646"/>
                    <a:pt x="3190240" y="223520"/>
                  </a:cubicBezTo>
                  <a:cubicBezTo>
                    <a:pt x="3215648" y="316683"/>
                    <a:pt x="3208238" y="231506"/>
                    <a:pt x="3220720" y="325120"/>
                  </a:cubicBezTo>
                  <a:cubicBezTo>
                    <a:pt x="3225218" y="358857"/>
                    <a:pt x="3226067" y="393026"/>
                    <a:pt x="3230880" y="426720"/>
                  </a:cubicBezTo>
                  <a:cubicBezTo>
                    <a:pt x="3232855" y="440543"/>
                    <a:pt x="3241040" y="467360"/>
                    <a:pt x="3241040" y="467360"/>
                  </a:cubicBezTo>
                </a:path>
              </a:pathLst>
            </a:cu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30"/>
          <p:cNvSpPr txBox="1"/>
          <p:nvPr/>
        </p:nvSpPr>
        <p:spPr>
          <a:xfrm>
            <a:off x="8018069" y="6028472"/>
            <a:ext cx="4126306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Calibri"/>
              <a:buNone/>
            </a:pPr>
            <a:r>
              <a:rPr b="1" i="0" lang="en-US" sz="20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Modifique el ejercicio para que exista otro robot que comience en (8,8)</a:t>
            </a:r>
            <a:endParaRPr b="1" i="0" sz="2000" u="none" cap="none" strike="noStrike">
              <a:solidFill>
                <a:srgbClr val="33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71" name="Google Shape;37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1"/>
          <p:cNvSpPr txBox="1"/>
          <p:nvPr/>
        </p:nvSpPr>
        <p:spPr>
          <a:xfrm>
            <a:off x="1105535" y="222250"/>
            <a:ext cx="651986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1"/>
          <p:cNvSpPr txBox="1"/>
          <p:nvPr/>
        </p:nvSpPr>
        <p:spPr>
          <a:xfrm>
            <a:off x="2001599" y="943292"/>
            <a:ext cx="4809014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programa Rectangulos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proceso juntar (ES flor:numero)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flor:= flor + 1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proceso rectangulo (E alto:numero;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E ancho:numero;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ES flores:numero)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flores:=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repetir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repetir alto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juntar(flores)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derecha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repetir ancho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juntar(flores)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derecha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/>
          </a:p>
        </p:txBody>
      </p:sp>
      <p:grpSp>
        <p:nvGrpSpPr>
          <p:cNvPr id="374" name="Google Shape;374;p61"/>
          <p:cNvGrpSpPr/>
          <p:nvPr/>
        </p:nvGrpSpPr>
        <p:grpSpPr>
          <a:xfrm>
            <a:off x="4406106" y="1177716"/>
            <a:ext cx="6789056" cy="5755422"/>
            <a:chOff x="4406106" y="1177716"/>
            <a:chExt cx="6789056" cy="5755422"/>
          </a:xfrm>
        </p:grpSpPr>
        <p:sp>
          <p:nvSpPr>
            <p:cNvPr id="375" name="Google Shape;375;p61"/>
            <p:cNvSpPr txBox="1"/>
            <p:nvPr/>
          </p:nvSpPr>
          <p:spPr>
            <a:xfrm>
              <a:off x="7752510" y="1177716"/>
              <a:ext cx="3442652" cy="5755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 b="1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ciudad : AreaC(1,1,100,100)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robots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variables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f:numero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rectangulo (5,3,f)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Informar (f)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fin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robot1: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1" i="0" lang="en-US" sz="1600" u="none" cap="none" strike="noStrike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robot2: tipo1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AsignarArea(robot1,ciudad)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Iniciar(robot1, 2, 2)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AsignarArea(robot2,ciudad)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Iniciar(robot2, 8, 8)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fin</a:t>
              </a:r>
              <a:endParaRPr/>
            </a:p>
          </p:txBody>
        </p:sp>
        <p:sp>
          <p:nvSpPr>
            <p:cNvPr id="376" name="Google Shape;376;p61"/>
            <p:cNvSpPr/>
            <p:nvPr/>
          </p:nvSpPr>
          <p:spPr>
            <a:xfrm>
              <a:off x="4406106" y="1479867"/>
              <a:ext cx="3241040" cy="5151120"/>
            </a:xfrm>
            <a:custGeom>
              <a:rect b="b" l="l" r="r" t="t"/>
              <a:pathLst>
                <a:path extrusionOk="0" h="5151120" w="3241040">
                  <a:moveTo>
                    <a:pt x="0" y="4826000"/>
                  </a:moveTo>
                  <a:cubicBezTo>
                    <a:pt x="73293" y="4913951"/>
                    <a:pt x="48900" y="4894203"/>
                    <a:pt x="172720" y="4978400"/>
                  </a:cubicBezTo>
                  <a:cubicBezTo>
                    <a:pt x="215468" y="5007469"/>
                    <a:pt x="259504" y="5034767"/>
                    <a:pt x="304800" y="5059680"/>
                  </a:cubicBezTo>
                  <a:cubicBezTo>
                    <a:pt x="348554" y="5083745"/>
                    <a:pt x="408324" y="5102763"/>
                    <a:pt x="457200" y="5110480"/>
                  </a:cubicBezTo>
                  <a:cubicBezTo>
                    <a:pt x="558445" y="5126466"/>
                    <a:pt x="762000" y="5151120"/>
                    <a:pt x="762000" y="5151120"/>
                  </a:cubicBezTo>
                  <a:lnTo>
                    <a:pt x="1066800" y="5140960"/>
                  </a:lnTo>
                  <a:cubicBezTo>
                    <a:pt x="1144918" y="5127440"/>
                    <a:pt x="1290320" y="5059680"/>
                    <a:pt x="1290320" y="5059680"/>
                  </a:cubicBezTo>
                  <a:cubicBezTo>
                    <a:pt x="1375248" y="4991737"/>
                    <a:pt x="1511910" y="4888542"/>
                    <a:pt x="1564640" y="4805680"/>
                  </a:cubicBezTo>
                  <a:cubicBezTo>
                    <a:pt x="1588347" y="4768427"/>
                    <a:pt x="1614615" y="4732685"/>
                    <a:pt x="1635760" y="4693920"/>
                  </a:cubicBezTo>
                  <a:cubicBezTo>
                    <a:pt x="1673161" y="4625351"/>
                    <a:pt x="1725007" y="4484888"/>
                    <a:pt x="1747520" y="4419600"/>
                  </a:cubicBezTo>
                  <a:cubicBezTo>
                    <a:pt x="1762536" y="4376053"/>
                    <a:pt x="1773593" y="4331220"/>
                    <a:pt x="1788160" y="4287520"/>
                  </a:cubicBezTo>
                  <a:cubicBezTo>
                    <a:pt x="1804081" y="4239757"/>
                    <a:pt x="1820887" y="4192271"/>
                    <a:pt x="1838960" y="4145280"/>
                  </a:cubicBezTo>
                  <a:cubicBezTo>
                    <a:pt x="1854765" y="4104188"/>
                    <a:pt x="1875838" y="4065127"/>
                    <a:pt x="1889760" y="4023360"/>
                  </a:cubicBezTo>
                  <a:cubicBezTo>
                    <a:pt x="1930594" y="3900859"/>
                    <a:pt x="1911689" y="3909977"/>
                    <a:pt x="1940560" y="3789680"/>
                  </a:cubicBezTo>
                  <a:cubicBezTo>
                    <a:pt x="1952068" y="3741731"/>
                    <a:pt x="1968494" y="3695086"/>
                    <a:pt x="1981200" y="3647440"/>
                  </a:cubicBezTo>
                  <a:cubicBezTo>
                    <a:pt x="2012523" y="3529978"/>
                    <a:pt x="2031729" y="3427456"/>
                    <a:pt x="2072640" y="3312160"/>
                  </a:cubicBezTo>
                  <a:cubicBezTo>
                    <a:pt x="2176602" y="3019177"/>
                    <a:pt x="2099925" y="3315845"/>
                    <a:pt x="2164080" y="3037840"/>
                  </a:cubicBezTo>
                  <a:cubicBezTo>
                    <a:pt x="2170853" y="2959947"/>
                    <a:pt x="2179809" y="2882212"/>
                    <a:pt x="2184400" y="2804160"/>
                  </a:cubicBezTo>
                  <a:cubicBezTo>
                    <a:pt x="2187787" y="2746587"/>
                    <a:pt x="2188459" y="2688789"/>
                    <a:pt x="2194560" y="2631440"/>
                  </a:cubicBezTo>
                  <a:cubicBezTo>
                    <a:pt x="2205403" y="2529516"/>
                    <a:pt x="2225001" y="2428630"/>
                    <a:pt x="2235200" y="2326640"/>
                  </a:cubicBezTo>
                  <a:lnTo>
                    <a:pt x="2245360" y="2225040"/>
                  </a:lnTo>
                  <a:cubicBezTo>
                    <a:pt x="2238587" y="2082800"/>
                    <a:pt x="2237116" y="1940208"/>
                    <a:pt x="2225040" y="1798320"/>
                  </a:cubicBezTo>
                  <a:cubicBezTo>
                    <a:pt x="2223493" y="1780148"/>
                    <a:pt x="2209961" y="1764989"/>
                    <a:pt x="2204720" y="1747520"/>
                  </a:cubicBezTo>
                  <a:cubicBezTo>
                    <a:pt x="2199758" y="1730980"/>
                    <a:pt x="2200021" y="1713103"/>
                    <a:pt x="2194560" y="1696720"/>
                  </a:cubicBezTo>
                  <a:cubicBezTo>
                    <a:pt x="2185966" y="1670939"/>
                    <a:pt x="2168785" y="1647897"/>
                    <a:pt x="2153920" y="1625600"/>
                  </a:cubicBezTo>
                  <a:cubicBezTo>
                    <a:pt x="2147147" y="1578187"/>
                    <a:pt x="2144838" y="1529918"/>
                    <a:pt x="2133600" y="1483360"/>
                  </a:cubicBezTo>
                  <a:cubicBezTo>
                    <a:pt x="2104306" y="1361998"/>
                    <a:pt x="2083074" y="1331508"/>
                    <a:pt x="2032000" y="1229360"/>
                  </a:cubicBezTo>
                  <a:cubicBezTo>
                    <a:pt x="2025227" y="1195493"/>
                    <a:pt x="2020057" y="1161266"/>
                    <a:pt x="2011680" y="1127760"/>
                  </a:cubicBezTo>
                  <a:cubicBezTo>
                    <a:pt x="2006485" y="1106980"/>
                    <a:pt x="1994017" y="1088054"/>
                    <a:pt x="1991360" y="1066800"/>
                  </a:cubicBezTo>
                  <a:cubicBezTo>
                    <a:pt x="1983787" y="1006217"/>
                    <a:pt x="1984587" y="944880"/>
                    <a:pt x="1981200" y="883920"/>
                  </a:cubicBezTo>
                  <a:cubicBezTo>
                    <a:pt x="1987973" y="802640"/>
                    <a:pt x="1982486" y="719390"/>
                    <a:pt x="2001520" y="640080"/>
                  </a:cubicBezTo>
                  <a:cubicBezTo>
                    <a:pt x="2027841" y="530408"/>
                    <a:pt x="2105094" y="345175"/>
                    <a:pt x="2184400" y="243840"/>
                  </a:cubicBezTo>
                  <a:cubicBezTo>
                    <a:pt x="2213918" y="206123"/>
                    <a:pt x="2249029" y="172687"/>
                    <a:pt x="2286000" y="142240"/>
                  </a:cubicBezTo>
                  <a:cubicBezTo>
                    <a:pt x="2321370" y="113112"/>
                    <a:pt x="2421835" y="72186"/>
                    <a:pt x="2458720" y="60960"/>
                  </a:cubicBezTo>
                  <a:cubicBezTo>
                    <a:pt x="2548213" y="33723"/>
                    <a:pt x="2650958" y="19702"/>
                    <a:pt x="2743200" y="10160"/>
                  </a:cubicBezTo>
                  <a:cubicBezTo>
                    <a:pt x="2790482" y="5269"/>
                    <a:pt x="2838027" y="3387"/>
                    <a:pt x="2885440" y="0"/>
                  </a:cubicBezTo>
                  <a:cubicBezTo>
                    <a:pt x="2949787" y="3387"/>
                    <a:pt x="3014586" y="1826"/>
                    <a:pt x="3078480" y="10160"/>
                  </a:cubicBezTo>
                  <a:cubicBezTo>
                    <a:pt x="3108446" y="14069"/>
                    <a:pt x="3128130" y="35512"/>
                    <a:pt x="3139440" y="60960"/>
                  </a:cubicBezTo>
                  <a:cubicBezTo>
                    <a:pt x="3148139" y="80533"/>
                    <a:pt x="3151805" y="102033"/>
                    <a:pt x="3159760" y="121920"/>
                  </a:cubicBezTo>
                  <a:cubicBezTo>
                    <a:pt x="3165385" y="135982"/>
                    <a:pt x="3173307" y="149013"/>
                    <a:pt x="3180080" y="162560"/>
                  </a:cubicBezTo>
                  <a:cubicBezTo>
                    <a:pt x="3183467" y="182880"/>
                    <a:pt x="3184820" y="203646"/>
                    <a:pt x="3190240" y="223520"/>
                  </a:cubicBezTo>
                  <a:cubicBezTo>
                    <a:pt x="3215648" y="316683"/>
                    <a:pt x="3208238" y="231506"/>
                    <a:pt x="3220720" y="325120"/>
                  </a:cubicBezTo>
                  <a:cubicBezTo>
                    <a:pt x="3225218" y="358857"/>
                    <a:pt x="3226067" y="393026"/>
                    <a:pt x="3230880" y="426720"/>
                  </a:cubicBezTo>
                  <a:cubicBezTo>
                    <a:pt x="3232855" y="440543"/>
                    <a:pt x="3241040" y="467360"/>
                    <a:pt x="3241040" y="467360"/>
                  </a:cubicBezTo>
                </a:path>
              </a:pathLst>
            </a:cu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6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1-2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6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0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9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8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7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2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2004-03-08T16:29:06Z</dcterms:created>
  <dc:creator>Cecilia Verónica Sanz</dc:creator>
</cp:coreProperties>
</file>