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6858000" cx="12192000"/>
  <p:notesSz cx="6794500" cy="9925050"/>
  <p:embeddedFontLst>
    <p:embeddedFont>
      <p:font typeface="Architects Daughter"/>
      <p:regular r:id="rId16"/>
    </p:embeddedFont>
    <p:embeddedFont>
      <p:font typeface="Tahoma"/>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2D200454-40CA-4A62-9FC3-DE9A4176ACB9}">
      <p15:notesGuideLst>
        <p15:guide id="1" orient="horz" pos="3126">
          <p15:clr>
            <a:srgbClr val="000000"/>
          </p15:clr>
        </p15:guide>
        <p15:guide id="2" pos="2140">
          <p15:clr>
            <a:srgbClr val="000000"/>
          </p15:clr>
        </p15:guide>
      </p15:notesGuideLst>
    </p:ext>
    <p:ext uri="GoogleSlidesCustomDataVersion2">
      <go:slidesCustomData xmlns:go="http://customooxmlschemas.google.com/" r:id="rId19" roundtripDataSignature="AMtx7mjXeI+4WrNY8lg++HzCBN6aABOR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3126" orient="horz"/>
        <p:guide pos="2140"/>
      </p:guideLst>
    </p:cSldViewPr>
  </p:notes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Tahoma-regular.fntdata"/><Relationship Id="rId16" Type="http://schemas.openxmlformats.org/officeDocument/2006/relationships/font" Target="fonts/ArchitectsDaughter-regular.fntdata"/><Relationship Id="rId5" Type="http://schemas.openxmlformats.org/officeDocument/2006/relationships/slideMaster" Target="slideMasters/slideMaster2.xml"/><Relationship Id="rId19" Type="http://customschemas.google.com/relationships/presentationmetadata" Target="metadata"/><Relationship Id="rId6" Type="http://schemas.openxmlformats.org/officeDocument/2006/relationships/notesMaster" Target="notesMasters/notesMaster1.xml"/><Relationship Id="rId18" Type="http://schemas.openxmlformats.org/officeDocument/2006/relationships/font" Target="fonts/Tahoma-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533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9pPr>
          </a:lstStyle>
          <a:p/>
        </p:txBody>
      </p:sp>
      <p:sp>
        <p:nvSpPr>
          <p:cNvPr id="4" name="Google Shape;4;n"/>
          <p:cNvSpPr txBox="1"/>
          <p:nvPr>
            <p:ph idx="10" type="dt"/>
          </p:nvPr>
        </p:nvSpPr>
        <p:spPr>
          <a:xfrm>
            <a:off x="3886200" y="0"/>
            <a:ext cx="2895600" cy="533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9pPr>
          </a:lstStyle>
          <a:p/>
        </p:txBody>
      </p:sp>
      <p:sp>
        <p:nvSpPr>
          <p:cNvPr id="5" name="Google Shape;5;n"/>
          <p:cNvSpPr/>
          <p:nvPr>
            <p:ph idx="3"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9448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Tahoma"/>
                <a:ea typeface="Tahoma"/>
                <a:cs typeface="Tahoma"/>
                <a:sym typeface="Tahoma"/>
              </a:defRPr>
            </a:lvl9pPr>
          </a:lstStyle>
          <a:p/>
        </p:txBody>
      </p:sp>
      <p:sp>
        <p:nvSpPr>
          <p:cNvPr id="8" name="Google Shape;8;n"/>
          <p:cNvSpPr txBox="1"/>
          <p:nvPr>
            <p:ph idx="12" type="sldNum"/>
          </p:nvPr>
        </p:nvSpPr>
        <p:spPr>
          <a:xfrm>
            <a:off x="3886200" y="9448800"/>
            <a:ext cx="28956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nvSpPr>
        <p:spPr>
          <a:xfrm>
            <a:off x="3886200" y="9448800"/>
            <a:ext cx="28956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Tahoma"/>
              <a:buNone/>
            </a:pPr>
            <a:fld id="{00000000-1234-1234-1234-123412341234}" type="slidenum">
              <a:rPr b="0" i="0" lang="en-US" sz="1800" u="none" cap="none" strike="noStrike">
                <a:solidFill>
                  <a:srgbClr val="000000"/>
                </a:solidFill>
                <a:latin typeface="Tahoma"/>
                <a:ea typeface="Tahoma"/>
                <a:cs typeface="Tahoma"/>
                <a:sym typeface="Tahoma"/>
              </a:rPr>
              <a:t>‹#›</a:t>
            </a:fld>
            <a:endParaRPr b="0" i="0" sz="1400" u="none" cap="none" strike="noStrike">
              <a:solidFill>
                <a:srgbClr val="000000"/>
              </a:solidFill>
              <a:latin typeface="Arial"/>
              <a:ea typeface="Arial"/>
              <a:cs typeface="Arial"/>
              <a:sym typeface="Arial"/>
            </a:endParaRPr>
          </a:p>
        </p:txBody>
      </p:sp>
      <p:sp>
        <p:nvSpPr>
          <p:cNvPr id="41" name="Google Shape;41;p1: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 name="Google Shape;42;p1:notes"/>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p2:notes"/>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 name="Google Shape;49;p2: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3:notes"/>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 name="Google Shape;59;p3: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 name="Google Shape;85;p4: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 name="Google Shape;109;p5: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 name="Google Shape;123;p6: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6:notes"/>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7" name="Google Shape;177;p16: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9" name="Google Shape;199;p18: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7:notes"/>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7: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36"/>
          <p:cNvSpPr txBox="1"/>
          <p:nvPr>
            <p:ph type="ctrTitle"/>
          </p:nvPr>
        </p:nvSpPr>
        <p:spPr>
          <a:xfrm>
            <a:off x="1524000" y="1124530"/>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3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750"/>
              </a:spcBef>
              <a:spcAft>
                <a:spcPts val="0"/>
              </a:spcAft>
              <a:buClr>
                <a:srgbClr val="3F3F3F"/>
              </a:buClr>
              <a:buSzPts val="1800"/>
              <a:buNone/>
              <a:defRPr sz="1800">
                <a:solidFill>
                  <a:srgbClr val="3F3F3F"/>
                </a:solidFill>
              </a:defRPr>
            </a:lvl1pPr>
            <a:lvl2pPr lvl="1" algn="ctr">
              <a:lnSpc>
                <a:spcPct val="90000"/>
              </a:lnSpc>
              <a:spcBef>
                <a:spcPts val="375"/>
              </a:spcBef>
              <a:spcAft>
                <a:spcPts val="0"/>
              </a:spcAft>
              <a:buClr>
                <a:schemeClr val="dk1"/>
              </a:buClr>
              <a:buSzPts val="2100"/>
              <a:buNone/>
              <a:defRPr sz="2100"/>
            </a:lvl2pPr>
            <a:lvl3pPr lvl="2" algn="ctr">
              <a:lnSpc>
                <a:spcPct val="90000"/>
              </a:lnSpc>
              <a:spcBef>
                <a:spcPts val="375"/>
              </a:spcBef>
              <a:spcAft>
                <a:spcPts val="0"/>
              </a:spcAft>
              <a:buClr>
                <a:schemeClr val="dk1"/>
              </a:buClr>
              <a:buSzPts val="1800"/>
              <a:buNone/>
              <a:defRPr sz="1800"/>
            </a:lvl3pPr>
            <a:lvl4pPr lvl="3" algn="ctr">
              <a:lnSpc>
                <a:spcPct val="90000"/>
              </a:lnSpc>
              <a:spcBef>
                <a:spcPts val="375"/>
              </a:spcBef>
              <a:spcAft>
                <a:spcPts val="0"/>
              </a:spcAft>
              <a:buClr>
                <a:schemeClr val="dk1"/>
              </a:buClr>
              <a:buSzPts val="1500"/>
              <a:buNone/>
              <a:defRPr sz="1500"/>
            </a:lvl4pPr>
            <a:lvl5pPr lvl="4" algn="ctr">
              <a:lnSpc>
                <a:spcPct val="90000"/>
              </a:lnSpc>
              <a:spcBef>
                <a:spcPts val="375"/>
              </a:spcBef>
              <a:spcAft>
                <a:spcPts val="0"/>
              </a:spcAft>
              <a:buClr>
                <a:schemeClr val="dk1"/>
              </a:buClr>
              <a:buSzPts val="1500"/>
              <a:buNone/>
              <a:defRPr sz="1500"/>
            </a:lvl5pPr>
            <a:lvl6pPr lvl="5" algn="ctr">
              <a:lnSpc>
                <a:spcPct val="100000"/>
              </a:lnSpc>
              <a:spcBef>
                <a:spcPts val="300"/>
              </a:spcBef>
              <a:spcAft>
                <a:spcPts val="0"/>
              </a:spcAft>
              <a:buClr>
                <a:schemeClr val="dk1"/>
              </a:buClr>
              <a:buSzPts val="1500"/>
              <a:buNone/>
              <a:defRPr sz="1500"/>
            </a:lvl6pPr>
            <a:lvl7pPr lvl="6" algn="ctr">
              <a:lnSpc>
                <a:spcPct val="100000"/>
              </a:lnSpc>
              <a:spcBef>
                <a:spcPts val="300"/>
              </a:spcBef>
              <a:spcAft>
                <a:spcPts val="0"/>
              </a:spcAft>
              <a:buClr>
                <a:schemeClr val="dk1"/>
              </a:buClr>
              <a:buSzPts val="1500"/>
              <a:buNone/>
              <a:defRPr sz="1500"/>
            </a:lvl7pPr>
            <a:lvl8pPr lvl="7" algn="ctr">
              <a:lnSpc>
                <a:spcPct val="100000"/>
              </a:lnSpc>
              <a:spcBef>
                <a:spcPts val="300"/>
              </a:spcBef>
              <a:spcAft>
                <a:spcPts val="0"/>
              </a:spcAft>
              <a:buClr>
                <a:schemeClr val="dk1"/>
              </a:buClr>
              <a:buSzPts val="1500"/>
              <a:buNone/>
              <a:defRPr sz="1500"/>
            </a:lvl8pPr>
            <a:lvl9pPr lvl="8" algn="ctr">
              <a:lnSpc>
                <a:spcPct val="100000"/>
              </a:lnSpc>
              <a:spcBef>
                <a:spcPts val="300"/>
              </a:spcBef>
              <a:spcAft>
                <a:spcPts val="0"/>
              </a:spcAft>
              <a:buClr>
                <a:schemeClr val="dk1"/>
              </a:buClr>
              <a:buSzPts val="1500"/>
              <a:buNone/>
              <a:defRPr sz="1500"/>
            </a:lvl9pPr>
          </a:lstStyle>
          <a:p/>
        </p:txBody>
      </p:sp>
      <p:sp>
        <p:nvSpPr>
          <p:cNvPr id="18" name="Google Shape;18;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6"/>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8"/>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3" name="Google Shape;23;p8"/>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8"/>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33" name="Shape 33"/>
        <p:cNvGrpSpPr/>
        <p:nvPr/>
      </p:nvGrpSpPr>
      <p:grpSpPr>
        <a:xfrm>
          <a:off x="0" y="0"/>
          <a:ext cx="0" cy="0"/>
          <a:chOff x="0" y="0"/>
          <a:chExt cx="0" cy="0"/>
        </a:xfrm>
      </p:grpSpPr>
      <p:sp>
        <p:nvSpPr>
          <p:cNvPr id="34" name="Google Shape;34;p38"/>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38"/>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 name="Google Shape;36;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8"/>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5"/>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9pPr>
          </a:lstStyle>
          <a:p/>
        </p:txBody>
      </p:sp>
      <p:sp>
        <p:nvSpPr>
          <p:cNvPr id="11" name="Google Shape;11;p35"/>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12" name="Google Shape;12;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rgbClr val="595959"/>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9pPr>
          </a:lstStyle>
          <a:p/>
        </p:txBody>
      </p:sp>
      <p:sp>
        <p:nvSpPr>
          <p:cNvPr id="13" name="Google Shape;13;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800" u="none" cap="none" strike="noStrike">
                <a:solidFill>
                  <a:srgbClr val="595959"/>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9pPr>
          </a:lstStyle>
          <a:p/>
        </p:txBody>
      </p:sp>
      <p:sp>
        <p:nvSpPr>
          <p:cNvPr id="14" name="Google Shape;14;p35"/>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sp>
        <p:nvSpPr>
          <p:cNvPr id="28" name="Google Shape;28;p37"/>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3300" u="none" cap="none" strike="noStrike">
                <a:solidFill>
                  <a:schemeClr val="dk1"/>
                </a:solidFill>
                <a:latin typeface="Calibri"/>
                <a:ea typeface="Calibri"/>
                <a:cs typeface="Calibri"/>
                <a:sym typeface="Calibri"/>
              </a:defRPr>
            </a:lvl9pPr>
          </a:lstStyle>
          <a:p/>
        </p:txBody>
      </p:sp>
      <p:sp>
        <p:nvSpPr>
          <p:cNvPr id="29" name="Google Shape;29;p37"/>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lnSpc>
                <a:spcPct val="100000"/>
              </a:lnSpc>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30" name="Google Shape;30;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800" u="none" cap="none" strike="noStrike">
                <a:solidFill>
                  <a:srgbClr val="595959"/>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9pPr>
          </a:lstStyle>
          <a:p/>
        </p:txBody>
      </p:sp>
      <p:sp>
        <p:nvSpPr>
          <p:cNvPr id="31" name="Google Shape;31;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800" u="none" cap="none" strike="noStrike">
                <a:solidFill>
                  <a:srgbClr val="595959"/>
                </a:solidFill>
                <a:latin typeface="Tahoma"/>
                <a:ea typeface="Tahoma"/>
                <a:cs typeface="Tahoma"/>
                <a:sym typeface="Tahom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Tahoma"/>
                <a:ea typeface="Tahoma"/>
                <a:cs typeface="Tahoma"/>
                <a:sym typeface="Tahoma"/>
              </a:defRPr>
            </a:lvl9pPr>
          </a:lstStyle>
          <a:p/>
        </p:txBody>
      </p:sp>
      <p:sp>
        <p:nvSpPr>
          <p:cNvPr id="32" name="Google Shape;32;p37"/>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2"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18.png"/><Relationship Id="rId11" Type="http://schemas.openxmlformats.org/officeDocument/2006/relationships/image" Target="../media/image12.png"/><Relationship Id="rId10" Type="http://schemas.openxmlformats.org/officeDocument/2006/relationships/image" Target="../media/image13.jpg"/><Relationship Id="rId12" Type="http://schemas.openxmlformats.org/officeDocument/2006/relationships/image" Target="../media/image16.png"/><Relationship Id="rId9"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4.png"/><Relationship Id="rId7" Type="http://schemas.openxmlformats.org/officeDocument/2006/relationships/image" Target="../media/image21.png"/><Relationship Id="rId8"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11.jpg"/><Relationship Id="rId11" Type="http://schemas.openxmlformats.org/officeDocument/2006/relationships/image" Target="../media/image19.png"/><Relationship Id="rId10" Type="http://schemas.openxmlformats.org/officeDocument/2006/relationships/image" Target="../media/image20.jpg"/><Relationship Id="rId9" Type="http://schemas.openxmlformats.org/officeDocument/2006/relationships/image" Target="../media/image17.jpg"/><Relationship Id="rId5" Type="http://schemas.openxmlformats.org/officeDocument/2006/relationships/image" Target="../media/image10.png"/><Relationship Id="rId6" Type="http://schemas.openxmlformats.org/officeDocument/2006/relationships/image" Target="../media/image7.png"/><Relationship Id="rId7" Type="http://schemas.openxmlformats.org/officeDocument/2006/relationships/image" Target="../media/image6.jpg"/><Relationship Id="rId8"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 name="Shape 43"/>
        <p:cNvGrpSpPr/>
        <p:nvPr/>
      </p:nvGrpSpPr>
      <p:grpSpPr>
        <a:xfrm>
          <a:off x="0" y="0"/>
          <a:ext cx="0" cy="0"/>
          <a:chOff x="0" y="0"/>
          <a:chExt cx="0" cy="0"/>
        </a:xfrm>
      </p:grpSpPr>
      <p:sp>
        <p:nvSpPr>
          <p:cNvPr id="44" name="Google Shape;44;p1"/>
          <p:cNvSpPr txBox="1"/>
          <p:nvPr>
            <p:ph type="ctrTitle"/>
          </p:nvPr>
        </p:nvSpPr>
        <p:spPr>
          <a:xfrm>
            <a:off x="4632325" y="981075"/>
            <a:ext cx="7113587" cy="288448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2E75B6"/>
              </a:buClr>
              <a:buSzPts val="6000"/>
              <a:buFont typeface="Calibri"/>
              <a:buNone/>
            </a:pPr>
            <a:r>
              <a:rPr b="1" i="0" lang="en-US" sz="6000" u="none">
                <a:solidFill>
                  <a:srgbClr val="2E75B6"/>
                </a:solidFill>
                <a:latin typeface="Calibri"/>
                <a:ea typeface="Calibri"/>
                <a:cs typeface="Calibri"/>
                <a:sym typeface="Calibri"/>
              </a:rPr>
              <a:t>Taller de </a:t>
            </a:r>
            <a:br>
              <a:rPr b="1" i="0" lang="en-US" sz="6000" u="none">
                <a:solidFill>
                  <a:srgbClr val="2E75B6"/>
                </a:solidFill>
                <a:latin typeface="Calibri"/>
                <a:ea typeface="Calibri"/>
                <a:cs typeface="Calibri"/>
                <a:sym typeface="Calibri"/>
              </a:rPr>
            </a:br>
            <a:r>
              <a:rPr b="1" i="0" lang="en-US" sz="6000" u="none">
                <a:solidFill>
                  <a:srgbClr val="2E75B6"/>
                </a:solidFill>
                <a:latin typeface="Calibri"/>
                <a:ea typeface="Calibri"/>
                <a:cs typeface="Calibri"/>
                <a:sym typeface="Calibri"/>
              </a:rPr>
              <a:t>Programación</a:t>
            </a:r>
            <a:endParaRPr/>
          </a:p>
        </p:txBody>
      </p:sp>
      <p:sp>
        <p:nvSpPr>
          <p:cNvPr id="45" name="Google Shape;45;p1"/>
          <p:cNvSpPr txBox="1"/>
          <p:nvPr/>
        </p:nvSpPr>
        <p:spPr>
          <a:xfrm>
            <a:off x="9767887" y="6356350"/>
            <a:ext cx="865187" cy="457200"/>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898989"/>
              </a:buClr>
              <a:buSzPts val="800"/>
              <a:buFont typeface="Tahoma"/>
              <a:buNone/>
            </a:pPr>
            <a:r>
              <a:rPr b="0" i="0" lang="en-US" sz="800" u="none" cap="none" strike="noStrike">
                <a:solidFill>
                  <a:srgbClr val="898989"/>
                </a:solidFill>
                <a:latin typeface="Tahoma"/>
                <a:ea typeface="Tahoma"/>
                <a:cs typeface="Tahoma"/>
                <a:sym typeface="Tahoma"/>
              </a:rPr>
              <a:t>1</a:t>
            </a:r>
            <a:endParaRPr b="0" i="0" sz="1400" u="none" cap="none" strike="noStrike">
              <a:solidFill>
                <a:srgbClr val="000000"/>
              </a:solidFill>
              <a:latin typeface="Arial"/>
              <a:ea typeface="Arial"/>
              <a:cs typeface="Arial"/>
              <a:sym typeface="Arial"/>
            </a:endParaRPr>
          </a:p>
        </p:txBody>
      </p:sp>
      <p:pic>
        <p:nvPicPr>
          <p:cNvPr descr="Imagen que contiene dibujo&#10;&#10;Descripción generada automáticamente" id="46" name="Google Shape;46;p1"/>
          <p:cNvPicPr preferRelativeResize="0"/>
          <p:nvPr/>
        </p:nvPicPr>
        <p:blipFill rotWithShape="1">
          <a:blip r:embed="rId3">
            <a:alphaModFix/>
          </a:blip>
          <a:srcRect b="0" l="0" r="0" t="0"/>
          <a:stretch/>
        </p:blipFill>
        <p:spPr>
          <a:xfrm>
            <a:off x="911424" y="1196752"/>
            <a:ext cx="3387725" cy="3387725"/>
          </a:xfrm>
          <a:prstGeom prst="rect">
            <a:avLst/>
          </a:prstGeom>
          <a:noFill/>
          <a:ln>
            <a:noFill/>
          </a:ln>
        </p:spPr>
      </p:pic>
    </p:spTree>
  </p:cSld>
  <p:clrMapOvr>
    <a:masterClrMapping/>
  </p:clrMapOvr>
  <p:transition>
    <p:random/>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2"/>
          <p:cNvSpPr txBox="1"/>
          <p:nvPr/>
        </p:nvSpPr>
        <p:spPr>
          <a:xfrm>
            <a:off x="936625" y="274637"/>
            <a:ext cx="11104562" cy="741362"/>
          </a:xfrm>
          <a:prstGeom prst="rect">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pic>
        <p:nvPicPr>
          <p:cNvPr descr="Imagen que contiene dibujo&#10;&#10;Descripción generada automáticamente" id="52" name="Google Shape;52;p2"/>
          <p:cNvPicPr preferRelativeResize="0"/>
          <p:nvPr/>
        </p:nvPicPr>
        <p:blipFill rotWithShape="1">
          <a:blip r:embed="rId3">
            <a:alphaModFix/>
          </a:blip>
          <a:srcRect b="0" l="0" r="0" t="0"/>
          <a:stretch/>
        </p:blipFill>
        <p:spPr>
          <a:xfrm>
            <a:off x="21999" y="177267"/>
            <a:ext cx="936103" cy="936103"/>
          </a:xfrm>
          <a:prstGeom prst="rect">
            <a:avLst/>
          </a:prstGeom>
          <a:noFill/>
          <a:ln>
            <a:noFill/>
          </a:ln>
        </p:spPr>
      </p:pic>
      <p:sp>
        <p:nvSpPr>
          <p:cNvPr id="53" name="Google Shape;53;p2"/>
          <p:cNvSpPr txBox="1"/>
          <p:nvPr/>
        </p:nvSpPr>
        <p:spPr>
          <a:xfrm>
            <a:off x="1146175" y="273050"/>
            <a:ext cx="1987550"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4000"/>
              <a:buFont typeface="Calibri"/>
              <a:buNone/>
            </a:pPr>
            <a:r>
              <a:rPr b="0" i="0" lang="en-US" sz="4000" u="none" cap="none" strike="noStrike">
                <a:solidFill>
                  <a:schemeClr val="lt1"/>
                </a:solidFill>
                <a:latin typeface="Calibri"/>
                <a:ea typeface="Calibri"/>
                <a:cs typeface="Calibri"/>
                <a:sym typeface="Calibri"/>
              </a:rPr>
              <a:t>AGENDA</a:t>
            </a:r>
            <a:endParaRPr b="0" i="0" sz="1400" u="none" cap="none" strike="noStrike">
              <a:solidFill>
                <a:srgbClr val="000000"/>
              </a:solidFill>
              <a:latin typeface="Arial"/>
              <a:ea typeface="Arial"/>
              <a:cs typeface="Arial"/>
              <a:sym typeface="Arial"/>
            </a:endParaRPr>
          </a:p>
        </p:txBody>
      </p:sp>
      <p:pic>
        <p:nvPicPr>
          <p:cNvPr descr="Icono&#10;&#10;Descripción generada automáticamente" id="54" name="Google Shape;54;p2"/>
          <p:cNvPicPr preferRelativeResize="0"/>
          <p:nvPr/>
        </p:nvPicPr>
        <p:blipFill rotWithShape="1">
          <a:blip r:embed="rId4">
            <a:alphaModFix/>
          </a:blip>
          <a:srcRect b="0" l="0" r="0" t="0"/>
          <a:stretch/>
        </p:blipFill>
        <p:spPr>
          <a:xfrm>
            <a:off x="11260137" y="276225"/>
            <a:ext cx="876300" cy="876300"/>
          </a:xfrm>
          <a:prstGeom prst="rect">
            <a:avLst/>
          </a:prstGeom>
          <a:noFill/>
          <a:ln>
            <a:noFill/>
          </a:ln>
        </p:spPr>
      </p:pic>
      <p:sp>
        <p:nvSpPr>
          <p:cNvPr id="55" name="Google Shape;55;p2"/>
          <p:cNvSpPr txBox="1"/>
          <p:nvPr/>
        </p:nvSpPr>
        <p:spPr>
          <a:xfrm>
            <a:off x="806450" y="1739900"/>
            <a:ext cx="6367236"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595959"/>
              </a:buClr>
              <a:buSzPts val="4000"/>
              <a:buFont typeface="Calibri"/>
              <a:buNone/>
            </a:pPr>
            <a:r>
              <a:rPr b="0" i="0" lang="en-US" sz="4000" u="none" cap="none" strike="noStrike">
                <a:solidFill>
                  <a:srgbClr val="595959"/>
                </a:solidFill>
                <a:latin typeface="Calibri"/>
                <a:ea typeface="Calibri"/>
                <a:cs typeface="Calibri"/>
                <a:sym typeface="Calibri"/>
              </a:rPr>
              <a:t>Esturctura de datos arbol</a:t>
            </a:r>
            <a:endParaRPr b="0" i="0" sz="1400" u="none" cap="none" strike="noStrike">
              <a:solidFill>
                <a:srgbClr val="000000"/>
              </a:solidFill>
              <a:latin typeface="Arial"/>
              <a:ea typeface="Arial"/>
              <a:cs typeface="Arial"/>
              <a:sym typeface="Arial"/>
            </a:endParaRPr>
          </a:p>
        </p:txBody>
      </p:sp>
      <p:sp>
        <p:nvSpPr>
          <p:cNvPr id="56" name="Google Shape;56;p2"/>
          <p:cNvSpPr txBox="1"/>
          <p:nvPr/>
        </p:nvSpPr>
        <p:spPr>
          <a:xfrm>
            <a:off x="47625" y="6466114"/>
            <a:ext cx="2880632" cy="34743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cap="none" strike="noStrike">
                <a:solidFill>
                  <a:srgbClr val="595959"/>
                </a:solidFill>
                <a:latin typeface="Tahoma"/>
                <a:ea typeface="Tahoma"/>
                <a:cs typeface="Tahoma"/>
                <a:sym typeface="Tahoma"/>
              </a:rPr>
              <a:t>Clase 3-1 – Módulo Imperativo</a:t>
            </a:r>
            <a:endParaRPr b="0" i="0" sz="1400" u="none" cap="none" strike="noStrike">
              <a:solidFill>
                <a:srgbClr val="000000"/>
              </a:solidFill>
              <a:latin typeface="Arial"/>
              <a:ea typeface="Arial"/>
              <a:cs typeface="Arial"/>
              <a:sym typeface="Arial"/>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3"/>
          <p:cNvSpPr txBox="1"/>
          <p:nvPr/>
        </p:nvSpPr>
        <p:spPr>
          <a:xfrm>
            <a:off x="47625" y="6448425"/>
            <a:ext cx="2717346" cy="4095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cap="none" strike="noStrike">
                <a:solidFill>
                  <a:srgbClr val="595959"/>
                </a:solidFill>
                <a:latin typeface="Tahoma"/>
                <a:ea typeface="Tahoma"/>
                <a:cs typeface="Tahoma"/>
                <a:sym typeface="Tahoma"/>
              </a:rPr>
              <a:t>Clase 3-1 – Módulo Imperativo</a:t>
            </a:r>
            <a:endParaRPr b="0" i="0" sz="1400" u="none" cap="none" strike="noStrike">
              <a:solidFill>
                <a:srgbClr val="000000"/>
              </a:solidFill>
              <a:latin typeface="Arial"/>
              <a:ea typeface="Arial"/>
              <a:cs typeface="Arial"/>
              <a:sym typeface="Arial"/>
            </a:endParaRPr>
          </a:p>
        </p:txBody>
      </p:sp>
      <p:sp>
        <p:nvSpPr>
          <p:cNvPr id="62" name="Google Shape;62;p3"/>
          <p:cNvSpPr txBox="1"/>
          <p:nvPr/>
        </p:nvSpPr>
        <p:spPr>
          <a:xfrm>
            <a:off x="936625" y="274637"/>
            <a:ext cx="11104562" cy="741362"/>
          </a:xfrm>
          <a:prstGeom prst="rect">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pic>
        <p:nvPicPr>
          <p:cNvPr descr="Imagen que contiene dibujo&#10;&#10;Descripción generada automáticamente" id="63" name="Google Shape;63;p3"/>
          <p:cNvPicPr preferRelativeResize="0"/>
          <p:nvPr/>
        </p:nvPicPr>
        <p:blipFill rotWithShape="1">
          <a:blip r:embed="rId3">
            <a:alphaModFix/>
          </a:blip>
          <a:srcRect b="0" l="0" r="0" t="0"/>
          <a:stretch/>
        </p:blipFill>
        <p:spPr>
          <a:xfrm>
            <a:off x="21999" y="177267"/>
            <a:ext cx="936103" cy="936103"/>
          </a:xfrm>
          <a:prstGeom prst="rect">
            <a:avLst/>
          </a:prstGeom>
          <a:noFill/>
          <a:ln>
            <a:noFill/>
          </a:ln>
        </p:spPr>
      </p:pic>
      <p:sp>
        <p:nvSpPr>
          <p:cNvPr id="64" name="Google Shape;64;p3"/>
          <p:cNvSpPr txBox="1"/>
          <p:nvPr/>
        </p:nvSpPr>
        <p:spPr>
          <a:xfrm>
            <a:off x="1146175" y="273050"/>
            <a:ext cx="10661650"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4000"/>
              <a:buFont typeface="Calibri"/>
              <a:buNone/>
            </a:pPr>
            <a:r>
              <a:rPr b="0" i="0" lang="en-US" sz="4000" u="none" cap="none" strike="noStrike">
                <a:solidFill>
                  <a:schemeClr val="lt1"/>
                </a:solidFill>
                <a:latin typeface="Calibri"/>
                <a:ea typeface="Calibri"/>
                <a:cs typeface="Calibri"/>
                <a:sym typeface="Calibri"/>
              </a:rPr>
              <a:t>ESTRUCTURA DE DATOS ARBOL</a:t>
            </a:r>
            <a:endParaRPr b="0" i="0" sz="1400" u="none" cap="none" strike="noStrike">
              <a:solidFill>
                <a:srgbClr val="000000"/>
              </a:solidFill>
              <a:latin typeface="Arial"/>
              <a:ea typeface="Arial"/>
              <a:cs typeface="Arial"/>
              <a:sym typeface="Arial"/>
            </a:endParaRPr>
          </a:p>
        </p:txBody>
      </p:sp>
      <p:sp>
        <p:nvSpPr>
          <p:cNvPr id="65" name="Google Shape;65;p3"/>
          <p:cNvSpPr txBox="1"/>
          <p:nvPr/>
        </p:nvSpPr>
        <p:spPr>
          <a:xfrm>
            <a:off x="47625" y="1307419"/>
            <a:ext cx="6327562" cy="3351668"/>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800"/>
              </a:spcBef>
              <a:spcAft>
                <a:spcPts val="0"/>
              </a:spcAft>
              <a:buClr>
                <a:srgbClr val="595959"/>
              </a:buClr>
              <a:buSzPts val="3200"/>
              <a:buFont typeface="Calibri"/>
              <a:buNone/>
            </a:pPr>
            <a:r>
              <a:rPr b="0" i="0" lang="en-US" sz="2400" u="none" cap="none" strike="noStrike">
                <a:solidFill>
                  <a:srgbClr val="595959"/>
                </a:solidFill>
                <a:latin typeface="Consolas"/>
                <a:ea typeface="Consolas"/>
                <a:cs typeface="Consolas"/>
                <a:sym typeface="Consolas"/>
              </a:rPr>
              <a:t>Supongamos que queremos representar el arbol genealógico de una familia a partir de un integrante (por ejemplo un abuelo).</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3600"/>
              </a:spcBef>
              <a:spcAft>
                <a:spcPts val="1800"/>
              </a:spcAft>
              <a:buClr>
                <a:srgbClr val="595959"/>
              </a:buClr>
              <a:buSzPts val="3200"/>
              <a:buFont typeface="Calibri"/>
              <a:buNone/>
            </a:pPr>
            <a:r>
              <a:rPr b="0" i="0" lang="en-US" sz="2400" u="none" cap="none" strike="noStrike">
                <a:solidFill>
                  <a:srgbClr val="595959"/>
                </a:solidFill>
                <a:latin typeface="Consolas"/>
                <a:ea typeface="Consolas"/>
                <a:cs typeface="Consolas"/>
                <a:sym typeface="Consolas"/>
              </a:rPr>
              <a:t>El abuelo tiene hijos y a su vez esos hijos también pueden tener hijos (nietos del abuelo)</a:t>
            </a:r>
            <a:endParaRPr b="0" i="0" sz="2400" u="none" cap="none" strike="noStrike">
              <a:solidFill>
                <a:srgbClr val="000000"/>
              </a:solidFill>
              <a:latin typeface="Consolas"/>
              <a:ea typeface="Consolas"/>
              <a:cs typeface="Consolas"/>
              <a:sym typeface="Consolas"/>
            </a:endParaRPr>
          </a:p>
        </p:txBody>
      </p:sp>
      <p:pic>
        <p:nvPicPr>
          <p:cNvPr descr="Un dibujo de un perro&#10;&#10;Descripción generada automáticamente con confianza media" id="66" name="Google Shape;66;p3"/>
          <p:cNvPicPr preferRelativeResize="0"/>
          <p:nvPr/>
        </p:nvPicPr>
        <p:blipFill rotWithShape="1">
          <a:blip r:embed="rId4">
            <a:alphaModFix/>
          </a:blip>
          <a:srcRect b="0" l="0" r="0" t="0"/>
          <a:stretch/>
        </p:blipFill>
        <p:spPr>
          <a:xfrm>
            <a:off x="7897826" y="1307419"/>
            <a:ext cx="1613446" cy="1613446"/>
          </a:xfrm>
          <a:prstGeom prst="ellipse">
            <a:avLst/>
          </a:prstGeom>
          <a:noFill/>
          <a:ln cap="rnd" cmpd="sng" w="190500">
            <a:solidFill>
              <a:srgbClr val="C8C6BD"/>
            </a:solidFill>
            <a:prstDash val="solid"/>
            <a:round/>
            <a:headEnd len="sm" w="sm" type="none"/>
            <a:tailEnd len="sm" w="sm" type="none"/>
          </a:ln>
          <a:effectLst>
            <a:outerShdw blurRad="127000" rotWithShape="0" algn="bl">
              <a:srgbClr val="000000"/>
            </a:outerShdw>
          </a:effectLst>
        </p:spPr>
      </p:pic>
      <p:pic>
        <p:nvPicPr>
          <p:cNvPr descr="Icono&#10;&#10;Descripción generada automáticamente" id="67" name="Google Shape;67;p3"/>
          <p:cNvPicPr preferRelativeResize="0"/>
          <p:nvPr/>
        </p:nvPicPr>
        <p:blipFill rotWithShape="1">
          <a:blip r:embed="rId5">
            <a:alphaModFix/>
          </a:blip>
          <a:srcRect b="0" l="0" r="0" t="0"/>
          <a:stretch/>
        </p:blipFill>
        <p:spPr>
          <a:xfrm>
            <a:off x="5803016" y="3244366"/>
            <a:ext cx="1943997" cy="1943997"/>
          </a:xfrm>
          <a:prstGeom prst="rect">
            <a:avLst/>
          </a:prstGeom>
          <a:noFill/>
          <a:ln>
            <a:noFill/>
          </a:ln>
        </p:spPr>
      </p:pic>
      <p:pic>
        <p:nvPicPr>
          <p:cNvPr descr="Icono&#10;&#10;Descripción generada automáticamente" id="68" name="Google Shape;68;p3"/>
          <p:cNvPicPr preferRelativeResize="0"/>
          <p:nvPr/>
        </p:nvPicPr>
        <p:blipFill rotWithShape="1">
          <a:blip r:embed="rId6">
            <a:alphaModFix/>
          </a:blip>
          <a:srcRect b="0" l="0" r="0" t="0"/>
          <a:stretch/>
        </p:blipFill>
        <p:spPr>
          <a:xfrm>
            <a:off x="10097190" y="3244366"/>
            <a:ext cx="1943997" cy="1943997"/>
          </a:xfrm>
          <a:prstGeom prst="rect">
            <a:avLst/>
          </a:prstGeom>
          <a:noFill/>
          <a:ln>
            <a:noFill/>
          </a:ln>
        </p:spPr>
      </p:pic>
      <p:pic>
        <p:nvPicPr>
          <p:cNvPr descr="Un dibujo de un personaje animado&#10;&#10;Descripción generada automáticamente con confianza baja" id="69" name="Google Shape;69;p3"/>
          <p:cNvPicPr preferRelativeResize="0"/>
          <p:nvPr/>
        </p:nvPicPr>
        <p:blipFill rotWithShape="1">
          <a:blip r:embed="rId7">
            <a:alphaModFix/>
          </a:blip>
          <a:srcRect b="0" l="0" r="0" t="0"/>
          <a:stretch/>
        </p:blipFill>
        <p:spPr>
          <a:xfrm>
            <a:off x="7968347" y="3219668"/>
            <a:ext cx="1943997" cy="1943997"/>
          </a:xfrm>
          <a:prstGeom prst="rect">
            <a:avLst/>
          </a:prstGeom>
          <a:noFill/>
          <a:ln>
            <a:noFill/>
          </a:ln>
        </p:spPr>
      </p:pic>
      <p:pic>
        <p:nvPicPr>
          <p:cNvPr descr="Un dibujo de un perro&#10;&#10;Descripción generada automáticamente con confianza media" id="70" name="Google Shape;70;p3"/>
          <p:cNvPicPr preferRelativeResize="0"/>
          <p:nvPr/>
        </p:nvPicPr>
        <p:blipFill rotWithShape="1">
          <a:blip r:embed="rId8">
            <a:alphaModFix/>
          </a:blip>
          <a:srcRect b="0" l="0" r="0" t="0"/>
          <a:stretch/>
        </p:blipFill>
        <p:spPr>
          <a:xfrm>
            <a:off x="7418066" y="5502276"/>
            <a:ext cx="983700" cy="983700"/>
          </a:xfrm>
          <a:prstGeom prst="rect">
            <a:avLst/>
          </a:prstGeom>
          <a:noFill/>
          <a:ln>
            <a:noFill/>
          </a:ln>
        </p:spPr>
      </p:pic>
      <p:pic>
        <p:nvPicPr>
          <p:cNvPr descr="Un dibujo de un perro&#10;&#10;Descripción generada automáticamente con confianza media" id="71" name="Google Shape;71;p3"/>
          <p:cNvPicPr preferRelativeResize="0"/>
          <p:nvPr/>
        </p:nvPicPr>
        <p:blipFill rotWithShape="1">
          <a:blip r:embed="rId9">
            <a:alphaModFix/>
          </a:blip>
          <a:srcRect b="0" l="0" r="0" t="0"/>
          <a:stretch/>
        </p:blipFill>
        <p:spPr>
          <a:xfrm>
            <a:off x="5239148" y="5576781"/>
            <a:ext cx="784409" cy="884085"/>
          </a:xfrm>
          <a:prstGeom prst="rect">
            <a:avLst/>
          </a:prstGeom>
          <a:noFill/>
          <a:ln>
            <a:noFill/>
          </a:ln>
        </p:spPr>
      </p:pic>
      <p:pic>
        <p:nvPicPr>
          <p:cNvPr descr="Círculo&#10;&#10;Descripción generada automáticamente" id="72" name="Google Shape;72;p3"/>
          <p:cNvPicPr preferRelativeResize="0"/>
          <p:nvPr/>
        </p:nvPicPr>
        <p:blipFill rotWithShape="1">
          <a:blip r:embed="rId10">
            <a:alphaModFix/>
          </a:blip>
          <a:srcRect b="0" l="0" r="0" t="0"/>
          <a:stretch/>
        </p:blipFill>
        <p:spPr>
          <a:xfrm>
            <a:off x="9681081" y="5552083"/>
            <a:ext cx="983700" cy="884085"/>
          </a:xfrm>
          <a:prstGeom prst="rect">
            <a:avLst/>
          </a:prstGeom>
          <a:noFill/>
          <a:ln>
            <a:noFill/>
          </a:ln>
        </p:spPr>
      </p:pic>
      <p:pic>
        <p:nvPicPr>
          <p:cNvPr descr="Diagrama&#10;&#10;Descripción generada automáticamente con confianza media" id="73" name="Google Shape;73;p3"/>
          <p:cNvPicPr preferRelativeResize="0"/>
          <p:nvPr/>
        </p:nvPicPr>
        <p:blipFill rotWithShape="1">
          <a:blip r:embed="rId11">
            <a:alphaModFix/>
          </a:blip>
          <a:srcRect b="0" l="0" r="0" t="0"/>
          <a:stretch/>
        </p:blipFill>
        <p:spPr>
          <a:xfrm>
            <a:off x="11241997" y="5611215"/>
            <a:ext cx="805082" cy="884085"/>
          </a:xfrm>
          <a:prstGeom prst="rect">
            <a:avLst/>
          </a:prstGeom>
          <a:noFill/>
          <a:ln>
            <a:noFill/>
          </a:ln>
        </p:spPr>
      </p:pic>
      <p:pic>
        <p:nvPicPr>
          <p:cNvPr descr="Una caricatura de una persona&#10;&#10;Descripción generada automáticamente con confianza media" id="74" name="Google Shape;74;p3"/>
          <p:cNvPicPr preferRelativeResize="0"/>
          <p:nvPr/>
        </p:nvPicPr>
        <p:blipFill rotWithShape="1">
          <a:blip r:embed="rId12">
            <a:alphaModFix/>
          </a:blip>
          <a:srcRect b="0" l="0" r="0" t="0"/>
          <a:stretch/>
        </p:blipFill>
        <p:spPr>
          <a:xfrm>
            <a:off x="6336340" y="5576781"/>
            <a:ext cx="747844" cy="839561"/>
          </a:xfrm>
          <a:prstGeom prst="rect">
            <a:avLst/>
          </a:prstGeom>
          <a:noFill/>
          <a:ln>
            <a:noFill/>
          </a:ln>
        </p:spPr>
      </p:pic>
      <p:cxnSp>
        <p:nvCxnSpPr>
          <p:cNvPr id="75" name="Google Shape;75;p3"/>
          <p:cNvCxnSpPr>
            <a:endCxn id="68" idx="0"/>
          </p:cNvCxnSpPr>
          <p:nvPr/>
        </p:nvCxnSpPr>
        <p:spPr>
          <a:xfrm>
            <a:off x="9652589" y="2220766"/>
            <a:ext cx="1416600" cy="1023600"/>
          </a:xfrm>
          <a:prstGeom prst="straightConnector1">
            <a:avLst/>
          </a:prstGeom>
          <a:noFill/>
          <a:ln cap="flat" cmpd="sng" w="38100">
            <a:solidFill>
              <a:schemeClr val="dk2"/>
            </a:solidFill>
            <a:prstDash val="dash"/>
            <a:round/>
            <a:headEnd len="sm" w="sm" type="none"/>
            <a:tailEnd len="med" w="med" type="triangle"/>
          </a:ln>
        </p:spPr>
      </p:cxnSp>
      <p:cxnSp>
        <p:nvCxnSpPr>
          <p:cNvPr id="76" name="Google Shape;76;p3"/>
          <p:cNvCxnSpPr/>
          <p:nvPr/>
        </p:nvCxnSpPr>
        <p:spPr>
          <a:xfrm>
            <a:off x="8758037" y="3024642"/>
            <a:ext cx="20815" cy="390052"/>
          </a:xfrm>
          <a:prstGeom prst="straightConnector1">
            <a:avLst/>
          </a:prstGeom>
          <a:noFill/>
          <a:ln cap="flat" cmpd="sng" w="38100">
            <a:solidFill>
              <a:schemeClr val="dk2"/>
            </a:solidFill>
            <a:prstDash val="dash"/>
            <a:round/>
            <a:headEnd len="sm" w="sm" type="none"/>
            <a:tailEnd len="med" w="med" type="triangle"/>
          </a:ln>
        </p:spPr>
      </p:cxnSp>
      <p:cxnSp>
        <p:nvCxnSpPr>
          <p:cNvPr id="77" name="Google Shape;77;p3"/>
          <p:cNvCxnSpPr>
            <a:endCxn id="67" idx="0"/>
          </p:cNvCxnSpPr>
          <p:nvPr/>
        </p:nvCxnSpPr>
        <p:spPr>
          <a:xfrm flipH="1">
            <a:off x="6775015" y="2211166"/>
            <a:ext cx="1056000" cy="1033200"/>
          </a:xfrm>
          <a:prstGeom prst="straightConnector1">
            <a:avLst/>
          </a:prstGeom>
          <a:noFill/>
          <a:ln cap="flat" cmpd="sng" w="38100">
            <a:solidFill>
              <a:schemeClr val="dk2"/>
            </a:solidFill>
            <a:prstDash val="dash"/>
            <a:round/>
            <a:headEnd len="sm" w="sm" type="none"/>
            <a:tailEnd len="med" w="med" type="triangle"/>
          </a:ln>
        </p:spPr>
      </p:cxnSp>
      <p:cxnSp>
        <p:nvCxnSpPr>
          <p:cNvPr id="78" name="Google Shape;78;p3"/>
          <p:cNvCxnSpPr>
            <a:endCxn id="71" idx="0"/>
          </p:cNvCxnSpPr>
          <p:nvPr/>
        </p:nvCxnSpPr>
        <p:spPr>
          <a:xfrm flipH="1">
            <a:off x="5631352" y="4950381"/>
            <a:ext cx="1100400" cy="626400"/>
          </a:xfrm>
          <a:prstGeom prst="straightConnector1">
            <a:avLst/>
          </a:prstGeom>
          <a:noFill/>
          <a:ln cap="flat" cmpd="sng" w="38100">
            <a:solidFill>
              <a:schemeClr val="dk2"/>
            </a:solidFill>
            <a:prstDash val="dash"/>
            <a:round/>
            <a:headEnd len="sm" w="sm" type="none"/>
            <a:tailEnd len="med" w="med" type="triangle"/>
          </a:ln>
        </p:spPr>
      </p:cxnSp>
      <p:cxnSp>
        <p:nvCxnSpPr>
          <p:cNvPr id="79" name="Google Shape;79;p3"/>
          <p:cNvCxnSpPr>
            <a:endCxn id="74" idx="0"/>
          </p:cNvCxnSpPr>
          <p:nvPr/>
        </p:nvCxnSpPr>
        <p:spPr>
          <a:xfrm>
            <a:off x="6666462" y="4950381"/>
            <a:ext cx="43800" cy="626400"/>
          </a:xfrm>
          <a:prstGeom prst="straightConnector1">
            <a:avLst/>
          </a:prstGeom>
          <a:noFill/>
          <a:ln cap="flat" cmpd="sng" w="38100">
            <a:solidFill>
              <a:schemeClr val="dk2"/>
            </a:solidFill>
            <a:prstDash val="dash"/>
            <a:round/>
            <a:headEnd len="sm" w="sm" type="none"/>
            <a:tailEnd len="med" w="med" type="triangle"/>
          </a:ln>
        </p:spPr>
      </p:cxnSp>
      <p:cxnSp>
        <p:nvCxnSpPr>
          <p:cNvPr id="80" name="Google Shape;80;p3"/>
          <p:cNvCxnSpPr>
            <a:endCxn id="70" idx="0"/>
          </p:cNvCxnSpPr>
          <p:nvPr/>
        </p:nvCxnSpPr>
        <p:spPr>
          <a:xfrm>
            <a:off x="6634016" y="4950576"/>
            <a:ext cx="1275900" cy="551700"/>
          </a:xfrm>
          <a:prstGeom prst="straightConnector1">
            <a:avLst/>
          </a:prstGeom>
          <a:noFill/>
          <a:ln cap="flat" cmpd="sng" w="38100">
            <a:solidFill>
              <a:schemeClr val="dk2"/>
            </a:solidFill>
            <a:prstDash val="dash"/>
            <a:round/>
            <a:headEnd len="sm" w="sm" type="none"/>
            <a:tailEnd len="med" w="med" type="triangle"/>
          </a:ln>
        </p:spPr>
      </p:cxnSp>
      <p:cxnSp>
        <p:nvCxnSpPr>
          <p:cNvPr id="81" name="Google Shape;81;p3"/>
          <p:cNvCxnSpPr/>
          <p:nvPr/>
        </p:nvCxnSpPr>
        <p:spPr>
          <a:xfrm flipH="1">
            <a:off x="10360881" y="4978324"/>
            <a:ext cx="710417" cy="494409"/>
          </a:xfrm>
          <a:prstGeom prst="straightConnector1">
            <a:avLst/>
          </a:prstGeom>
          <a:noFill/>
          <a:ln cap="flat" cmpd="sng" w="38100">
            <a:solidFill>
              <a:schemeClr val="dk2"/>
            </a:solidFill>
            <a:prstDash val="dash"/>
            <a:round/>
            <a:headEnd len="sm" w="sm" type="none"/>
            <a:tailEnd len="med" w="med" type="triangle"/>
          </a:ln>
        </p:spPr>
      </p:cxnSp>
      <p:cxnSp>
        <p:nvCxnSpPr>
          <p:cNvPr id="82" name="Google Shape;82;p3"/>
          <p:cNvCxnSpPr/>
          <p:nvPr/>
        </p:nvCxnSpPr>
        <p:spPr>
          <a:xfrm>
            <a:off x="11097296" y="4978324"/>
            <a:ext cx="547242" cy="523952"/>
          </a:xfrm>
          <a:prstGeom prst="straightConnector1">
            <a:avLst/>
          </a:prstGeom>
          <a:noFill/>
          <a:ln cap="flat" cmpd="sng" w="38100">
            <a:solidFill>
              <a:schemeClr val="dk2"/>
            </a:solidFill>
            <a:prstDash val="dash"/>
            <a:round/>
            <a:headEnd len="sm" w="sm" type="none"/>
            <a:tailEnd len="med" w="med" type="triangle"/>
          </a:ln>
        </p:spPr>
      </p:cxn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
                                        </p:tgtEl>
                                        <p:attrNameLst>
                                          <p:attrName>style.visibility</p:attrName>
                                        </p:attrNameLst>
                                      </p:cBhvr>
                                      <p:to>
                                        <p:strVal val="visible"/>
                                      </p:to>
                                    </p:set>
                                    <p:animEffect filter="fade" transition="in">
                                      <p:cBhvr>
                                        <p:cTn dur="1000"/>
                                        <p:tgtEl>
                                          <p:spTgt spid="66"/>
                                        </p:tgtEl>
                                      </p:cBhvr>
                                    </p:animEffect>
                                  </p:childTnLst>
                                </p:cTn>
                              </p:par>
                              <p:par>
                                <p:cTn fill="hold" nodeType="with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1000"/>
                                        <p:tgtEl>
                                          <p:spTgt spid="67"/>
                                        </p:tgtEl>
                                      </p:cBhvr>
                                    </p:animEffect>
                                  </p:childTnLst>
                                </p:cTn>
                              </p:par>
                              <p:par>
                                <p:cTn fill="hold" nodeType="withEffect" presetClass="entr" presetID="10" presetSubtype="0">
                                  <p:stCondLst>
                                    <p:cond delay="0"/>
                                  </p:stCondLst>
                                  <p:childTnLst>
                                    <p:set>
                                      <p:cBhvr>
                                        <p:cTn dur="1" fill="hold">
                                          <p:stCondLst>
                                            <p:cond delay="0"/>
                                          </p:stCondLst>
                                        </p:cTn>
                                        <p:tgtEl>
                                          <p:spTgt spid="68"/>
                                        </p:tgtEl>
                                        <p:attrNameLst>
                                          <p:attrName>style.visibility</p:attrName>
                                        </p:attrNameLst>
                                      </p:cBhvr>
                                      <p:to>
                                        <p:strVal val="visible"/>
                                      </p:to>
                                    </p:set>
                                    <p:animEffect filter="fade" transition="in">
                                      <p:cBhvr>
                                        <p:cTn dur="1000"/>
                                        <p:tgtEl>
                                          <p:spTgt spid="68"/>
                                        </p:tgtEl>
                                      </p:cBhvr>
                                    </p:animEffect>
                                  </p:childTnLst>
                                </p:cTn>
                              </p:par>
                              <p:par>
                                <p:cTn fill="hold" nodeType="withEffect" presetClass="entr" presetID="10" presetSubtype="0">
                                  <p:stCondLst>
                                    <p:cond delay="0"/>
                                  </p:stCondLst>
                                  <p:childTnLst>
                                    <p:set>
                                      <p:cBhvr>
                                        <p:cTn dur="1" fill="hold">
                                          <p:stCondLst>
                                            <p:cond delay="0"/>
                                          </p:stCondLst>
                                        </p:cTn>
                                        <p:tgtEl>
                                          <p:spTgt spid="69"/>
                                        </p:tgtEl>
                                        <p:attrNameLst>
                                          <p:attrName>style.visibility</p:attrName>
                                        </p:attrNameLst>
                                      </p:cBhvr>
                                      <p:to>
                                        <p:strVal val="visible"/>
                                      </p:to>
                                    </p:set>
                                    <p:animEffect filter="fade" transition="in">
                                      <p:cBhvr>
                                        <p:cTn dur="1000"/>
                                        <p:tgtEl>
                                          <p:spTgt spid="69"/>
                                        </p:tgtEl>
                                      </p:cBhvr>
                                    </p:animEffect>
                                  </p:childTnLst>
                                </p:cTn>
                              </p:par>
                              <p:par>
                                <p:cTn fill="hold" nodeType="with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1000"/>
                                        <p:tgtEl>
                                          <p:spTgt spid="70"/>
                                        </p:tgtEl>
                                      </p:cBhvr>
                                    </p:animEffect>
                                  </p:childTnLst>
                                </p:cTn>
                              </p:par>
                              <p:par>
                                <p:cTn fill="hold" nodeType="withEffect" presetClass="entr" presetID="10" presetSubtype="0">
                                  <p:stCondLst>
                                    <p:cond delay="0"/>
                                  </p:stCondLst>
                                  <p:childTnLst>
                                    <p:set>
                                      <p:cBhvr>
                                        <p:cTn dur="1" fill="hold">
                                          <p:stCondLst>
                                            <p:cond delay="0"/>
                                          </p:stCondLst>
                                        </p:cTn>
                                        <p:tgtEl>
                                          <p:spTgt spid="71"/>
                                        </p:tgtEl>
                                        <p:attrNameLst>
                                          <p:attrName>style.visibility</p:attrName>
                                        </p:attrNameLst>
                                      </p:cBhvr>
                                      <p:to>
                                        <p:strVal val="visible"/>
                                      </p:to>
                                    </p:set>
                                    <p:animEffect filter="fade" transition="in">
                                      <p:cBhvr>
                                        <p:cTn dur="1000"/>
                                        <p:tgtEl>
                                          <p:spTgt spid="71"/>
                                        </p:tgtEl>
                                      </p:cBhvr>
                                    </p:animEffect>
                                  </p:childTnLst>
                                </p:cTn>
                              </p:par>
                              <p:par>
                                <p:cTn fill="hold" nodeType="withEffect" presetClass="entr" presetID="10" presetSubtype="0">
                                  <p:stCondLst>
                                    <p:cond delay="0"/>
                                  </p:stCondLst>
                                  <p:childTnLst>
                                    <p:set>
                                      <p:cBhvr>
                                        <p:cTn dur="1" fill="hold">
                                          <p:stCondLst>
                                            <p:cond delay="0"/>
                                          </p:stCondLst>
                                        </p:cTn>
                                        <p:tgtEl>
                                          <p:spTgt spid="72"/>
                                        </p:tgtEl>
                                        <p:attrNameLst>
                                          <p:attrName>style.visibility</p:attrName>
                                        </p:attrNameLst>
                                      </p:cBhvr>
                                      <p:to>
                                        <p:strVal val="visible"/>
                                      </p:to>
                                    </p:set>
                                    <p:animEffect filter="fade" transition="in">
                                      <p:cBhvr>
                                        <p:cTn dur="1000"/>
                                        <p:tgtEl>
                                          <p:spTgt spid="72"/>
                                        </p:tgtEl>
                                      </p:cBhvr>
                                    </p:animEffect>
                                  </p:childTnLst>
                                </p:cTn>
                              </p:par>
                              <p:par>
                                <p:cTn fill="hold" nodeType="withEffect" presetClass="entr" presetID="10" presetSubtype="0">
                                  <p:stCondLst>
                                    <p:cond delay="0"/>
                                  </p:stCondLst>
                                  <p:childTnLst>
                                    <p:set>
                                      <p:cBhvr>
                                        <p:cTn dur="1" fill="hold">
                                          <p:stCondLst>
                                            <p:cond delay="0"/>
                                          </p:stCondLst>
                                        </p:cTn>
                                        <p:tgtEl>
                                          <p:spTgt spid="73"/>
                                        </p:tgtEl>
                                        <p:attrNameLst>
                                          <p:attrName>style.visibility</p:attrName>
                                        </p:attrNameLst>
                                      </p:cBhvr>
                                      <p:to>
                                        <p:strVal val="visible"/>
                                      </p:to>
                                    </p:set>
                                    <p:animEffect filter="fade" transition="in">
                                      <p:cBhvr>
                                        <p:cTn dur="1000"/>
                                        <p:tgtEl>
                                          <p:spTgt spid="73"/>
                                        </p:tgtEl>
                                      </p:cBhvr>
                                    </p:animEffect>
                                  </p:childTnLst>
                                </p:cTn>
                              </p:par>
                              <p:par>
                                <p:cTn fill="hold" nodeType="withEffect" presetClass="entr" presetID="10" presetSubtype="0">
                                  <p:stCondLst>
                                    <p:cond delay="0"/>
                                  </p:stCondLst>
                                  <p:childTnLst>
                                    <p:set>
                                      <p:cBhvr>
                                        <p:cTn dur="1" fill="hold">
                                          <p:stCondLst>
                                            <p:cond delay="0"/>
                                          </p:stCondLst>
                                        </p:cTn>
                                        <p:tgtEl>
                                          <p:spTgt spid="74"/>
                                        </p:tgtEl>
                                        <p:attrNameLst>
                                          <p:attrName>style.visibility</p:attrName>
                                        </p:attrNameLst>
                                      </p:cBhvr>
                                      <p:to>
                                        <p:strVal val="visible"/>
                                      </p:to>
                                    </p:set>
                                    <p:animEffect filter="fade" transition="in">
                                      <p:cBhvr>
                                        <p:cTn dur="1000"/>
                                        <p:tgtEl>
                                          <p:spTgt spid="74"/>
                                        </p:tgtEl>
                                      </p:cBhvr>
                                    </p:animEffect>
                                  </p:childTnLst>
                                </p:cTn>
                              </p:par>
                              <p:par>
                                <p:cTn fill="hold" nodeType="withEffect" presetClass="entr" presetID="10" presetSubtype="0">
                                  <p:stCondLst>
                                    <p:cond delay="0"/>
                                  </p:stCondLst>
                                  <p:childTnLst>
                                    <p:set>
                                      <p:cBhvr>
                                        <p:cTn dur="1" fill="hold">
                                          <p:stCondLst>
                                            <p:cond delay="0"/>
                                          </p:stCondLst>
                                        </p:cTn>
                                        <p:tgtEl>
                                          <p:spTgt spid="75"/>
                                        </p:tgtEl>
                                        <p:attrNameLst>
                                          <p:attrName>style.visibility</p:attrName>
                                        </p:attrNameLst>
                                      </p:cBhvr>
                                      <p:to>
                                        <p:strVal val="visible"/>
                                      </p:to>
                                    </p:set>
                                    <p:animEffect filter="fade" transition="in">
                                      <p:cBhvr>
                                        <p:cTn dur="1000"/>
                                        <p:tgtEl>
                                          <p:spTgt spid="75"/>
                                        </p:tgtEl>
                                      </p:cBhvr>
                                    </p:animEffect>
                                  </p:childTnLst>
                                </p:cTn>
                              </p:par>
                              <p:par>
                                <p:cTn fill="hold" nodeType="withEffect" presetClass="entr" presetID="10" presetSubtype="0">
                                  <p:stCondLst>
                                    <p:cond delay="0"/>
                                  </p:stCondLst>
                                  <p:childTnLst>
                                    <p:set>
                                      <p:cBhvr>
                                        <p:cTn dur="1" fill="hold">
                                          <p:stCondLst>
                                            <p:cond delay="0"/>
                                          </p:stCondLst>
                                        </p:cTn>
                                        <p:tgtEl>
                                          <p:spTgt spid="76"/>
                                        </p:tgtEl>
                                        <p:attrNameLst>
                                          <p:attrName>style.visibility</p:attrName>
                                        </p:attrNameLst>
                                      </p:cBhvr>
                                      <p:to>
                                        <p:strVal val="visible"/>
                                      </p:to>
                                    </p:set>
                                    <p:animEffect filter="fade" transition="in">
                                      <p:cBhvr>
                                        <p:cTn dur="1000"/>
                                        <p:tgtEl>
                                          <p:spTgt spid="76"/>
                                        </p:tgtEl>
                                      </p:cBhvr>
                                    </p:animEffect>
                                  </p:childTnLst>
                                </p:cTn>
                              </p:par>
                              <p:par>
                                <p:cTn fill="hold" nodeType="with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par>
                                <p:cTn fill="hold" nodeType="withEffect" presetClass="entr" presetID="10" presetSubtype="0">
                                  <p:stCondLst>
                                    <p:cond delay="0"/>
                                  </p:stCondLst>
                                  <p:childTnLst>
                                    <p:set>
                                      <p:cBhvr>
                                        <p:cTn dur="1" fill="hold">
                                          <p:stCondLst>
                                            <p:cond delay="0"/>
                                          </p:stCondLst>
                                        </p:cTn>
                                        <p:tgtEl>
                                          <p:spTgt spid="78"/>
                                        </p:tgtEl>
                                        <p:attrNameLst>
                                          <p:attrName>style.visibility</p:attrName>
                                        </p:attrNameLst>
                                      </p:cBhvr>
                                      <p:to>
                                        <p:strVal val="visible"/>
                                      </p:to>
                                    </p:set>
                                    <p:animEffect filter="fade" transition="in">
                                      <p:cBhvr>
                                        <p:cTn dur="1000"/>
                                        <p:tgtEl>
                                          <p:spTgt spid="78"/>
                                        </p:tgtEl>
                                      </p:cBhvr>
                                    </p:animEffect>
                                  </p:childTnLst>
                                </p:cTn>
                              </p:par>
                              <p:par>
                                <p:cTn fill="hold" nodeType="withEffect" presetClass="entr" presetID="10" presetSubtype="0">
                                  <p:stCondLst>
                                    <p:cond delay="0"/>
                                  </p:stCondLst>
                                  <p:childTnLst>
                                    <p:set>
                                      <p:cBhvr>
                                        <p:cTn dur="1" fill="hold">
                                          <p:stCondLst>
                                            <p:cond delay="0"/>
                                          </p:stCondLst>
                                        </p:cTn>
                                        <p:tgtEl>
                                          <p:spTgt spid="79"/>
                                        </p:tgtEl>
                                        <p:attrNameLst>
                                          <p:attrName>style.visibility</p:attrName>
                                        </p:attrNameLst>
                                      </p:cBhvr>
                                      <p:to>
                                        <p:strVal val="visible"/>
                                      </p:to>
                                    </p:set>
                                    <p:animEffect filter="fade" transition="in">
                                      <p:cBhvr>
                                        <p:cTn dur="1000"/>
                                        <p:tgtEl>
                                          <p:spTgt spid="79"/>
                                        </p:tgtEl>
                                      </p:cBhvr>
                                    </p:animEffect>
                                  </p:childTnLst>
                                </p:cTn>
                              </p:par>
                              <p:par>
                                <p:cTn fill="hold" nodeType="withEffect" presetClass="entr" presetID="10" presetSubtype="0">
                                  <p:stCondLst>
                                    <p:cond delay="0"/>
                                  </p:stCondLst>
                                  <p:childTnLst>
                                    <p:set>
                                      <p:cBhvr>
                                        <p:cTn dur="1" fill="hold">
                                          <p:stCondLst>
                                            <p:cond delay="0"/>
                                          </p:stCondLst>
                                        </p:cTn>
                                        <p:tgtEl>
                                          <p:spTgt spid="80"/>
                                        </p:tgtEl>
                                        <p:attrNameLst>
                                          <p:attrName>style.visibility</p:attrName>
                                        </p:attrNameLst>
                                      </p:cBhvr>
                                      <p:to>
                                        <p:strVal val="visible"/>
                                      </p:to>
                                    </p:set>
                                    <p:animEffect filter="fade" transition="in">
                                      <p:cBhvr>
                                        <p:cTn dur="1000"/>
                                        <p:tgtEl>
                                          <p:spTgt spid="80"/>
                                        </p:tgtEl>
                                      </p:cBhvr>
                                    </p:animEffect>
                                  </p:childTnLst>
                                </p:cTn>
                              </p:par>
                              <p:par>
                                <p:cTn fill="hold" nodeType="withEffect" presetClass="entr" presetID="10" presetSubtype="0">
                                  <p:stCondLst>
                                    <p:cond delay="0"/>
                                  </p:stCondLst>
                                  <p:childTnLst>
                                    <p:set>
                                      <p:cBhvr>
                                        <p:cTn dur="1" fill="hold">
                                          <p:stCondLst>
                                            <p:cond delay="0"/>
                                          </p:stCondLst>
                                        </p:cTn>
                                        <p:tgtEl>
                                          <p:spTgt spid="81"/>
                                        </p:tgtEl>
                                        <p:attrNameLst>
                                          <p:attrName>style.visibility</p:attrName>
                                        </p:attrNameLst>
                                      </p:cBhvr>
                                      <p:to>
                                        <p:strVal val="visible"/>
                                      </p:to>
                                    </p:set>
                                    <p:animEffect filter="fade" transition="in">
                                      <p:cBhvr>
                                        <p:cTn dur="1000"/>
                                        <p:tgtEl>
                                          <p:spTgt spid="81"/>
                                        </p:tgtEl>
                                      </p:cBhvr>
                                    </p:animEffect>
                                  </p:childTnLst>
                                </p:cTn>
                              </p:par>
                              <p:par>
                                <p:cTn fill="hold" nodeType="withEffect" presetClass="entr" presetID="10" presetSubtype="0">
                                  <p:stCondLst>
                                    <p:cond delay="0"/>
                                  </p:stCondLst>
                                  <p:childTnLst>
                                    <p:set>
                                      <p:cBhvr>
                                        <p:cTn dur="1" fill="hold">
                                          <p:stCondLst>
                                            <p:cond delay="0"/>
                                          </p:stCondLst>
                                        </p:cTn>
                                        <p:tgtEl>
                                          <p:spTgt spid="82"/>
                                        </p:tgtEl>
                                        <p:attrNameLst>
                                          <p:attrName>style.visibility</p:attrName>
                                        </p:attrNameLst>
                                      </p:cBhvr>
                                      <p:to>
                                        <p:strVal val="visible"/>
                                      </p:to>
                                    </p:set>
                                    <p:animEffect filter="fade" transition="in">
                                      <p:cBhvr>
                                        <p:cTn dur="1000"/>
                                        <p:tgtEl>
                                          <p:spTgt spid="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4"/>
          <p:cNvSpPr txBox="1"/>
          <p:nvPr/>
        </p:nvSpPr>
        <p:spPr>
          <a:xfrm>
            <a:off x="47625" y="6448425"/>
            <a:ext cx="2717346" cy="4095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cap="none" strike="noStrike">
                <a:solidFill>
                  <a:srgbClr val="595959"/>
                </a:solidFill>
                <a:latin typeface="Tahoma"/>
                <a:ea typeface="Tahoma"/>
                <a:cs typeface="Tahoma"/>
                <a:sym typeface="Tahoma"/>
              </a:rPr>
              <a:t>Clase 3-1 – Módulo Imperativo</a:t>
            </a:r>
            <a:endParaRPr b="0" i="0" sz="1400" u="none" cap="none" strike="noStrike">
              <a:solidFill>
                <a:srgbClr val="000000"/>
              </a:solidFill>
              <a:latin typeface="Arial"/>
              <a:ea typeface="Arial"/>
              <a:cs typeface="Arial"/>
              <a:sym typeface="Arial"/>
            </a:endParaRPr>
          </a:p>
        </p:txBody>
      </p:sp>
      <p:sp>
        <p:nvSpPr>
          <p:cNvPr id="88" name="Google Shape;88;p4"/>
          <p:cNvSpPr txBox="1"/>
          <p:nvPr/>
        </p:nvSpPr>
        <p:spPr>
          <a:xfrm>
            <a:off x="936625" y="274637"/>
            <a:ext cx="11104562" cy="741362"/>
          </a:xfrm>
          <a:prstGeom prst="rect">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pic>
        <p:nvPicPr>
          <p:cNvPr descr="Imagen que contiene dibujo&#10;&#10;Descripción generada automáticamente" id="89" name="Google Shape;89;p4"/>
          <p:cNvPicPr preferRelativeResize="0"/>
          <p:nvPr/>
        </p:nvPicPr>
        <p:blipFill rotWithShape="1">
          <a:blip r:embed="rId3">
            <a:alphaModFix/>
          </a:blip>
          <a:srcRect b="0" l="0" r="0" t="0"/>
          <a:stretch/>
        </p:blipFill>
        <p:spPr>
          <a:xfrm>
            <a:off x="21999" y="177267"/>
            <a:ext cx="936103" cy="936103"/>
          </a:xfrm>
          <a:prstGeom prst="rect">
            <a:avLst/>
          </a:prstGeom>
          <a:noFill/>
          <a:ln>
            <a:noFill/>
          </a:ln>
        </p:spPr>
      </p:pic>
      <p:sp>
        <p:nvSpPr>
          <p:cNvPr id="90" name="Google Shape;90;p4"/>
          <p:cNvSpPr txBox="1"/>
          <p:nvPr/>
        </p:nvSpPr>
        <p:spPr>
          <a:xfrm>
            <a:off x="1146175" y="273050"/>
            <a:ext cx="10661650"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4000"/>
              <a:buFont typeface="Calibri"/>
              <a:buNone/>
            </a:pPr>
            <a:r>
              <a:rPr b="0" i="0" lang="en-US" sz="4000" u="none" cap="none" strike="noStrike">
                <a:solidFill>
                  <a:schemeClr val="lt1"/>
                </a:solidFill>
                <a:latin typeface="Calibri"/>
                <a:ea typeface="Calibri"/>
                <a:cs typeface="Calibri"/>
                <a:sym typeface="Calibri"/>
              </a:rPr>
              <a:t>ESTRUCTURA DE DATOS ARBOL</a:t>
            </a:r>
            <a:endParaRPr b="0" i="0" sz="1400" u="none" cap="none" strike="noStrike">
              <a:solidFill>
                <a:srgbClr val="000000"/>
              </a:solidFill>
              <a:latin typeface="Arial"/>
              <a:ea typeface="Arial"/>
              <a:cs typeface="Arial"/>
              <a:sym typeface="Arial"/>
            </a:endParaRPr>
          </a:p>
        </p:txBody>
      </p:sp>
      <p:sp>
        <p:nvSpPr>
          <p:cNvPr id="91" name="Google Shape;91;p4"/>
          <p:cNvSpPr txBox="1"/>
          <p:nvPr/>
        </p:nvSpPr>
        <p:spPr>
          <a:xfrm>
            <a:off x="6874" y="1009989"/>
            <a:ext cx="5560727" cy="58540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200"/>
              </a:spcBef>
              <a:spcAft>
                <a:spcPts val="0"/>
              </a:spcAft>
              <a:buClr>
                <a:srgbClr val="595959"/>
              </a:buClr>
              <a:buSzPts val="3200"/>
              <a:buFont typeface="Calibri"/>
              <a:buNone/>
            </a:pPr>
            <a:r>
              <a:rPr b="0" i="0" lang="en-US" sz="2400" u="none" cap="none" strike="noStrike">
                <a:solidFill>
                  <a:srgbClr val="595959"/>
                </a:solidFill>
                <a:latin typeface="Consolas"/>
                <a:ea typeface="Consolas"/>
                <a:cs typeface="Consolas"/>
                <a:sym typeface="Consolas"/>
              </a:rPr>
              <a:t>Supongamos que queremos representar la organización de una empresa.</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2400"/>
              </a:spcBef>
              <a:spcAft>
                <a:spcPts val="0"/>
              </a:spcAft>
              <a:buClr>
                <a:srgbClr val="595959"/>
              </a:buClr>
              <a:buSzPts val="3200"/>
              <a:buFont typeface="Calibri"/>
              <a:buNone/>
            </a:pPr>
            <a:r>
              <a:rPr b="0" i="0" lang="en-US" sz="2400" u="none" cap="none" strike="noStrike">
                <a:solidFill>
                  <a:srgbClr val="595959"/>
                </a:solidFill>
                <a:latin typeface="Consolas"/>
                <a:ea typeface="Consolas"/>
                <a:cs typeface="Consolas"/>
                <a:sym typeface="Consolas"/>
              </a:rPr>
              <a:t>La empresa tiene un area generencial (con una jefa), la cual está compuesta por varias areas de trabajo (area de personal, area contable, etc con diferentes personas a cargo).</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3000"/>
              </a:spcBef>
              <a:spcAft>
                <a:spcPts val="1800"/>
              </a:spcAft>
              <a:buClr>
                <a:srgbClr val="595959"/>
              </a:buClr>
              <a:buSzPts val="3200"/>
              <a:buFont typeface="Calibri"/>
              <a:buNone/>
            </a:pPr>
            <a:r>
              <a:rPr b="0" i="0" lang="en-US" sz="2400" u="none" cap="none" strike="noStrike">
                <a:solidFill>
                  <a:srgbClr val="595959"/>
                </a:solidFill>
                <a:latin typeface="Consolas"/>
                <a:ea typeface="Consolas"/>
                <a:cs typeface="Consolas"/>
                <a:sym typeface="Consolas"/>
              </a:rPr>
              <a:t>Cada una de estas areas a su vez también podría estas compuesta por alguna/s subarea (con varias personas a cargo).</a:t>
            </a:r>
            <a:endParaRPr b="0" i="0" sz="2400" u="none" cap="none" strike="noStrike">
              <a:solidFill>
                <a:srgbClr val="000000"/>
              </a:solidFill>
              <a:latin typeface="Consolas"/>
              <a:ea typeface="Consolas"/>
              <a:cs typeface="Consolas"/>
              <a:sym typeface="Consolas"/>
            </a:endParaRPr>
          </a:p>
        </p:txBody>
      </p:sp>
      <p:pic>
        <p:nvPicPr>
          <p:cNvPr descr="Un dibujo de un personaje de caricatura&#10;&#10;Descripción generada automáticamente con confianza media" id="92" name="Google Shape;92;p4"/>
          <p:cNvPicPr preferRelativeResize="0"/>
          <p:nvPr/>
        </p:nvPicPr>
        <p:blipFill rotWithShape="1">
          <a:blip r:embed="rId4">
            <a:alphaModFix/>
          </a:blip>
          <a:srcRect b="0" l="0" r="0" t="0"/>
          <a:stretch/>
        </p:blipFill>
        <p:spPr>
          <a:xfrm>
            <a:off x="8316686" y="1307419"/>
            <a:ext cx="1864178" cy="1690399"/>
          </a:xfrm>
          <a:prstGeom prst="rect">
            <a:avLst/>
          </a:prstGeom>
          <a:noFill/>
          <a:ln>
            <a:noFill/>
          </a:ln>
        </p:spPr>
      </p:pic>
      <p:pic>
        <p:nvPicPr>
          <p:cNvPr descr="Icono&#10;&#10;Descripción generada automáticamente" id="93" name="Google Shape;93;p4"/>
          <p:cNvPicPr preferRelativeResize="0"/>
          <p:nvPr/>
        </p:nvPicPr>
        <p:blipFill rotWithShape="1">
          <a:blip r:embed="rId5">
            <a:alphaModFix/>
          </a:blip>
          <a:srcRect b="0" l="0" r="0" t="0"/>
          <a:stretch/>
        </p:blipFill>
        <p:spPr>
          <a:xfrm>
            <a:off x="10119596" y="3166800"/>
            <a:ext cx="1540399" cy="1540399"/>
          </a:xfrm>
          <a:prstGeom prst="rect">
            <a:avLst/>
          </a:prstGeom>
          <a:noFill/>
          <a:ln>
            <a:noFill/>
          </a:ln>
        </p:spPr>
      </p:pic>
      <p:pic>
        <p:nvPicPr>
          <p:cNvPr descr="Un dibujo de una persona&#10;&#10;Descripción generada automáticamente" id="94" name="Google Shape;94;p4"/>
          <p:cNvPicPr preferRelativeResize="0"/>
          <p:nvPr/>
        </p:nvPicPr>
        <p:blipFill rotWithShape="1">
          <a:blip r:embed="rId6">
            <a:alphaModFix/>
          </a:blip>
          <a:srcRect b="0" l="0" r="0" t="0"/>
          <a:stretch/>
        </p:blipFill>
        <p:spPr>
          <a:xfrm>
            <a:off x="6822945" y="3166800"/>
            <a:ext cx="1690399" cy="1690399"/>
          </a:xfrm>
          <a:prstGeom prst="rect">
            <a:avLst/>
          </a:prstGeom>
          <a:noFill/>
          <a:ln>
            <a:noFill/>
          </a:ln>
        </p:spPr>
      </p:pic>
      <p:pic>
        <p:nvPicPr>
          <p:cNvPr descr="Texto&#10;&#10;Descripción generada automáticamente con confianza baja" id="95" name="Google Shape;95;p4"/>
          <p:cNvPicPr preferRelativeResize="0"/>
          <p:nvPr/>
        </p:nvPicPr>
        <p:blipFill rotWithShape="1">
          <a:blip r:embed="rId7">
            <a:alphaModFix/>
          </a:blip>
          <a:srcRect b="0" l="0" r="0" t="0"/>
          <a:stretch/>
        </p:blipFill>
        <p:spPr>
          <a:xfrm>
            <a:off x="5588009" y="5585662"/>
            <a:ext cx="933194" cy="997701"/>
          </a:xfrm>
          <a:prstGeom prst="rect">
            <a:avLst/>
          </a:prstGeom>
          <a:noFill/>
          <a:ln>
            <a:noFill/>
          </a:ln>
        </p:spPr>
      </p:pic>
      <p:pic>
        <p:nvPicPr>
          <p:cNvPr descr="Un dibujo de un personaje animado&#10;&#10;Descripción generada automáticamente con confianza media" id="96" name="Google Shape;96;p4"/>
          <p:cNvPicPr preferRelativeResize="0"/>
          <p:nvPr/>
        </p:nvPicPr>
        <p:blipFill rotWithShape="1">
          <a:blip r:embed="rId8">
            <a:alphaModFix/>
          </a:blip>
          <a:srcRect b="0" l="0" r="0" t="0"/>
          <a:stretch/>
        </p:blipFill>
        <p:spPr>
          <a:xfrm>
            <a:off x="7109496" y="5676435"/>
            <a:ext cx="1329710" cy="941255"/>
          </a:xfrm>
          <a:prstGeom prst="rect">
            <a:avLst/>
          </a:prstGeom>
          <a:noFill/>
          <a:ln>
            <a:noFill/>
          </a:ln>
        </p:spPr>
      </p:pic>
      <p:pic>
        <p:nvPicPr>
          <p:cNvPr descr="Un dibujo de un personaje de caricatura&#10;&#10;Descripción generada automáticamente con confianza baja" id="97" name="Google Shape;97;p4"/>
          <p:cNvPicPr preferRelativeResize="0"/>
          <p:nvPr/>
        </p:nvPicPr>
        <p:blipFill rotWithShape="1">
          <a:blip r:embed="rId9">
            <a:alphaModFix/>
          </a:blip>
          <a:srcRect b="0" l="0" r="0" t="0"/>
          <a:stretch/>
        </p:blipFill>
        <p:spPr>
          <a:xfrm>
            <a:off x="8607828" y="5680838"/>
            <a:ext cx="971367" cy="884564"/>
          </a:xfrm>
          <a:prstGeom prst="rect">
            <a:avLst/>
          </a:prstGeom>
          <a:noFill/>
          <a:ln>
            <a:noFill/>
          </a:ln>
        </p:spPr>
      </p:pic>
      <p:pic>
        <p:nvPicPr>
          <p:cNvPr descr="Imagen que contiene competencia de atletismo, deporte, edificio, tabla&#10;&#10;Descripción generada automáticamente" id="98" name="Google Shape;98;p4"/>
          <p:cNvPicPr preferRelativeResize="0"/>
          <p:nvPr/>
        </p:nvPicPr>
        <p:blipFill rotWithShape="1">
          <a:blip r:embed="rId10">
            <a:alphaModFix/>
          </a:blip>
          <a:srcRect b="0" l="0" r="0" t="0"/>
          <a:stretch/>
        </p:blipFill>
        <p:spPr>
          <a:xfrm>
            <a:off x="9959417" y="5575525"/>
            <a:ext cx="675095" cy="1014486"/>
          </a:xfrm>
          <a:prstGeom prst="rect">
            <a:avLst/>
          </a:prstGeom>
          <a:noFill/>
          <a:ln>
            <a:noFill/>
          </a:ln>
        </p:spPr>
      </p:pic>
      <p:pic>
        <p:nvPicPr>
          <p:cNvPr descr="Un dibujo de un personaje de caricatura&#10;&#10;Descripción generada automáticamente con confianza media" id="99" name="Google Shape;99;p4"/>
          <p:cNvPicPr preferRelativeResize="0"/>
          <p:nvPr/>
        </p:nvPicPr>
        <p:blipFill rotWithShape="1">
          <a:blip r:embed="rId11">
            <a:alphaModFix/>
          </a:blip>
          <a:srcRect b="0" l="0" r="0" t="0"/>
          <a:stretch/>
        </p:blipFill>
        <p:spPr>
          <a:xfrm>
            <a:off x="11227977" y="5539929"/>
            <a:ext cx="1085677" cy="1085677"/>
          </a:xfrm>
          <a:prstGeom prst="rect">
            <a:avLst/>
          </a:prstGeom>
          <a:noFill/>
          <a:ln>
            <a:noFill/>
          </a:ln>
        </p:spPr>
      </p:pic>
      <p:cxnSp>
        <p:nvCxnSpPr>
          <p:cNvPr id="100" name="Google Shape;100;p4"/>
          <p:cNvCxnSpPr>
            <a:stCxn id="92" idx="2"/>
          </p:cNvCxnSpPr>
          <p:nvPr/>
        </p:nvCxnSpPr>
        <p:spPr>
          <a:xfrm>
            <a:off x="9248775" y="2997818"/>
            <a:ext cx="1269600" cy="291300"/>
          </a:xfrm>
          <a:prstGeom prst="straightConnector1">
            <a:avLst/>
          </a:prstGeom>
          <a:noFill/>
          <a:ln cap="flat" cmpd="sng" w="38100">
            <a:solidFill>
              <a:schemeClr val="dk2"/>
            </a:solidFill>
            <a:prstDash val="dash"/>
            <a:round/>
            <a:headEnd len="sm" w="sm" type="none"/>
            <a:tailEnd len="med" w="med" type="triangle"/>
          </a:ln>
        </p:spPr>
      </p:cxnSp>
      <p:cxnSp>
        <p:nvCxnSpPr>
          <p:cNvPr id="101" name="Google Shape;101;p4"/>
          <p:cNvCxnSpPr/>
          <p:nvPr/>
        </p:nvCxnSpPr>
        <p:spPr>
          <a:xfrm flipH="1">
            <a:off x="7794171" y="2997816"/>
            <a:ext cx="1426739" cy="291422"/>
          </a:xfrm>
          <a:prstGeom prst="straightConnector1">
            <a:avLst/>
          </a:prstGeom>
          <a:noFill/>
          <a:ln cap="flat" cmpd="sng" w="38100">
            <a:solidFill>
              <a:schemeClr val="dk2"/>
            </a:solidFill>
            <a:prstDash val="dash"/>
            <a:round/>
            <a:headEnd len="sm" w="sm" type="none"/>
            <a:tailEnd len="med" w="med" type="triangle"/>
          </a:ln>
        </p:spPr>
      </p:cxnSp>
      <p:cxnSp>
        <p:nvCxnSpPr>
          <p:cNvPr id="102" name="Google Shape;102;p4"/>
          <p:cNvCxnSpPr>
            <a:endCxn id="97" idx="0"/>
          </p:cNvCxnSpPr>
          <p:nvPr/>
        </p:nvCxnSpPr>
        <p:spPr>
          <a:xfrm>
            <a:off x="8109512" y="4552838"/>
            <a:ext cx="984000" cy="1128000"/>
          </a:xfrm>
          <a:prstGeom prst="straightConnector1">
            <a:avLst/>
          </a:prstGeom>
          <a:noFill/>
          <a:ln cap="flat" cmpd="sng" w="38100">
            <a:solidFill>
              <a:schemeClr val="dk2"/>
            </a:solidFill>
            <a:prstDash val="dash"/>
            <a:round/>
            <a:headEnd len="sm" w="sm" type="none"/>
            <a:tailEnd len="med" w="med" type="triangle"/>
          </a:ln>
        </p:spPr>
      </p:cxnSp>
      <p:cxnSp>
        <p:nvCxnSpPr>
          <p:cNvPr id="103" name="Google Shape;103;p4"/>
          <p:cNvCxnSpPr/>
          <p:nvPr/>
        </p:nvCxnSpPr>
        <p:spPr>
          <a:xfrm flipH="1">
            <a:off x="6267743" y="4584917"/>
            <a:ext cx="1055950" cy="1033268"/>
          </a:xfrm>
          <a:prstGeom prst="straightConnector1">
            <a:avLst/>
          </a:prstGeom>
          <a:noFill/>
          <a:ln cap="flat" cmpd="sng" w="38100">
            <a:solidFill>
              <a:schemeClr val="dk2"/>
            </a:solidFill>
            <a:prstDash val="dash"/>
            <a:round/>
            <a:headEnd len="sm" w="sm" type="none"/>
            <a:tailEnd len="med" w="med" type="triangle"/>
          </a:ln>
        </p:spPr>
      </p:cxnSp>
      <p:cxnSp>
        <p:nvCxnSpPr>
          <p:cNvPr id="104" name="Google Shape;104;p4"/>
          <p:cNvCxnSpPr/>
          <p:nvPr/>
        </p:nvCxnSpPr>
        <p:spPr>
          <a:xfrm flipH="1">
            <a:off x="7695078" y="4735771"/>
            <a:ext cx="24296" cy="882414"/>
          </a:xfrm>
          <a:prstGeom prst="straightConnector1">
            <a:avLst/>
          </a:prstGeom>
          <a:noFill/>
          <a:ln cap="flat" cmpd="sng" w="38100">
            <a:solidFill>
              <a:schemeClr val="dk2"/>
            </a:solidFill>
            <a:prstDash val="dash"/>
            <a:round/>
            <a:headEnd len="sm" w="sm" type="none"/>
            <a:tailEnd len="med" w="med" type="triangle"/>
          </a:ln>
        </p:spPr>
      </p:cxnSp>
      <p:cxnSp>
        <p:nvCxnSpPr>
          <p:cNvPr id="105" name="Google Shape;105;p4"/>
          <p:cNvCxnSpPr>
            <a:endCxn id="98" idx="0"/>
          </p:cNvCxnSpPr>
          <p:nvPr/>
        </p:nvCxnSpPr>
        <p:spPr>
          <a:xfrm flipH="1">
            <a:off x="10296965" y="4548625"/>
            <a:ext cx="593400" cy="1026900"/>
          </a:xfrm>
          <a:prstGeom prst="straightConnector1">
            <a:avLst/>
          </a:prstGeom>
          <a:noFill/>
          <a:ln cap="flat" cmpd="sng" w="38100">
            <a:solidFill>
              <a:schemeClr val="dk2"/>
            </a:solidFill>
            <a:prstDash val="dash"/>
            <a:round/>
            <a:headEnd len="sm" w="sm" type="none"/>
            <a:tailEnd len="med" w="med" type="triangle"/>
          </a:ln>
        </p:spPr>
      </p:cxnSp>
      <p:cxnSp>
        <p:nvCxnSpPr>
          <p:cNvPr id="106" name="Google Shape;106;p4"/>
          <p:cNvCxnSpPr/>
          <p:nvPr/>
        </p:nvCxnSpPr>
        <p:spPr>
          <a:xfrm>
            <a:off x="10931244" y="4548545"/>
            <a:ext cx="728751" cy="991384"/>
          </a:xfrm>
          <a:prstGeom prst="straightConnector1">
            <a:avLst/>
          </a:prstGeom>
          <a:noFill/>
          <a:ln cap="flat" cmpd="sng" w="38100">
            <a:solidFill>
              <a:schemeClr val="dk2"/>
            </a:solidFill>
            <a:prstDash val="dash"/>
            <a:round/>
            <a:headEnd len="sm" w="sm" type="none"/>
            <a:tailEnd len="med" w="med" type="triangle"/>
          </a:ln>
        </p:spPr>
      </p:cxn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1250"/>
                                        <p:tgtEl>
                                          <p:spTgt spid="92"/>
                                        </p:tgtEl>
                                      </p:cBhvr>
                                    </p:animEffect>
                                  </p:childTnLst>
                                </p:cTn>
                              </p:par>
                              <p:par>
                                <p:cTn fill="hold" nodeType="with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1250"/>
                                        <p:tgtEl>
                                          <p:spTgt spid="93"/>
                                        </p:tgtEl>
                                      </p:cBhvr>
                                    </p:animEffect>
                                  </p:childTnLst>
                                </p:cTn>
                              </p:par>
                              <p:par>
                                <p:cTn fill="hold" nodeType="with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1250"/>
                                        <p:tgtEl>
                                          <p:spTgt spid="94"/>
                                        </p:tgtEl>
                                      </p:cBhvr>
                                    </p:animEffect>
                                  </p:childTnLst>
                                </p:cTn>
                              </p:par>
                              <p:par>
                                <p:cTn fill="hold" nodeType="with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250"/>
                                        <p:tgtEl>
                                          <p:spTgt spid="95"/>
                                        </p:tgtEl>
                                      </p:cBhvr>
                                    </p:animEffect>
                                  </p:childTnLst>
                                </p:cTn>
                              </p:par>
                              <p:par>
                                <p:cTn fill="hold" nodeType="withEffect" presetClass="entr" presetID="10" presetSubtype="0">
                                  <p:stCondLst>
                                    <p:cond delay="0"/>
                                  </p:stCondLst>
                                  <p:childTnLst>
                                    <p:set>
                                      <p:cBhvr>
                                        <p:cTn dur="1" fill="hold">
                                          <p:stCondLst>
                                            <p:cond delay="0"/>
                                          </p:stCondLst>
                                        </p:cTn>
                                        <p:tgtEl>
                                          <p:spTgt spid="96"/>
                                        </p:tgtEl>
                                        <p:attrNameLst>
                                          <p:attrName>style.visibility</p:attrName>
                                        </p:attrNameLst>
                                      </p:cBhvr>
                                      <p:to>
                                        <p:strVal val="visible"/>
                                      </p:to>
                                    </p:set>
                                    <p:animEffect filter="fade" transition="in">
                                      <p:cBhvr>
                                        <p:cTn dur="1250"/>
                                        <p:tgtEl>
                                          <p:spTgt spid="96"/>
                                        </p:tgtEl>
                                      </p:cBhvr>
                                    </p:animEffect>
                                  </p:childTnLst>
                                </p:cTn>
                              </p:par>
                              <p:par>
                                <p:cTn fill="hold" nodeType="withEffect" presetClass="entr" presetID="10" presetSubtype="0">
                                  <p:stCondLst>
                                    <p:cond delay="0"/>
                                  </p:stCondLst>
                                  <p:childTnLst>
                                    <p:set>
                                      <p:cBhvr>
                                        <p:cTn dur="1" fill="hold">
                                          <p:stCondLst>
                                            <p:cond delay="0"/>
                                          </p:stCondLst>
                                        </p:cTn>
                                        <p:tgtEl>
                                          <p:spTgt spid="97"/>
                                        </p:tgtEl>
                                        <p:attrNameLst>
                                          <p:attrName>style.visibility</p:attrName>
                                        </p:attrNameLst>
                                      </p:cBhvr>
                                      <p:to>
                                        <p:strVal val="visible"/>
                                      </p:to>
                                    </p:set>
                                    <p:animEffect filter="fade" transition="in">
                                      <p:cBhvr>
                                        <p:cTn dur="1250"/>
                                        <p:tgtEl>
                                          <p:spTgt spid="97"/>
                                        </p:tgtEl>
                                      </p:cBhvr>
                                    </p:animEffect>
                                  </p:childTnLst>
                                </p:cTn>
                              </p:par>
                              <p:par>
                                <p:cTn fill="hold" nodeType="with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250"/>
                                        <p:tgtEl>
                                          <p:spTgt spid="98"/>
                                        </p:tgtEl>
                                      </p:cBhvr>
                                    </p:animEffect>
                                  </p:childTnLst>
                                </p:cTn>
                              </p:par>
                              <p:par>
                                <p:cTn fill="hold" nodeType="withEffect" presetClass="entr" presetID="10" presetSubtype="0">
                                  <p:stCondLst>
                                    <p:cond delay="0"/>
                                  </p:stCondLst>
                                  <p:childTnLst>
                                    <p:set>
                                      <p:cBhvr>
                                        <p:cTn dur="1" fill="hold">
                                          <p:stCondLst>
                                            <p:cond delay="0"/>
                                          </p:stCondLst>
                                        </p:cTn>
                                        <p:tgtEl>
                                          <p:spTgt spid="99"/>
                                        </p:tgtEl>
                                        <p:attrNameLst>
                                          <p:attrName>style.visibility</p:attrName>
                                        </p:attrNameLst>
                                      </p:cBhvr>
                                      <p:to>
                                        <p:strVal val="visible"/>
                                      </p:to>
                                    </p:set>
                                    <p:animEffect filter="fade" transition="in">
                                      <p:cBhvr>
                                        <p:cTn dur="1250"/>
                                        <p:tgtEl>
                                          <p:spTgt spid="99"/>
                                        </p:tgtEl>
                                      </p:cBhvr>
                                    </p:animEffect>
                                  </p:childTnLst>
                                </p:cTn>
                              </p:par>
                              <p:par>
                                <p:cTn fill="hold" nodeType="withEffect" presetClass="entr" presetID="10" presetSubtype="0">
                                  <p:stCondLst>
                                    <p:cond delay="0"/>
                                  </p:stCondLst>
                                  <p:childTnLst>
                                    <p:set>
                                      <p:cBhvr>
                                        <p:cTn dur="1" fill="hold">
                                          <p:stCondLst>
                                            <p:cond delay="0"/>
                                          </p:stCondLst>
                                        </p:cTn>
                                        <p:tgtEl>
                                          <p:spTgt spid="100"/>
                                        </p:tgtEl>
                                        <p:attrNameLst>
                                          <p:attrName>style.visibility</p:attrName>
                                        </p:attrNameLst>
                                      </p:cBhvr>
                                      <p:to>
                                        <p:strVal val="visible"/>
                                      </p:to>
                                    </p:set>
                                    <p:animEffect filter="fade" transition="in">
                                      <p:cBhvr>
                                        <p:cTn dur="1250"/>
                                        <p:tgtEl>
                                          <p:spTgt spid="100"/>
                                        </p:tgtEl>
                                      </p:cBhvr>
                                    </p:animEffect>
                                  </p:childTnLst>
                                </p:cTn>
                              </p:par>
                              <p:par>
                                <p:cTn fill="hold" nodeType="withEffect" presetClass="entr" presetID="10" presetSubtype="0">
                                  <p:stCondLst>
                                    <p:cond delay="0"/>
                                  </p:stCondLst>
                                  <p:childTnLst>
                                    <p:set>
                                      <p:cBhvr>
                                        <p:cTn dur="1" fill="hold">
                                          <p:stCondLst>
                                            <p:cond delay="0"/>
                                          </p:stCondLst>
                                        </p:cTn>
                                        <p:tgtEl>
                                          <p:spTgt spid="101"/>
                                        </p:tgtEl>
                                        <p:attrNameLst>
                                          <p:attrName>style.visibility</p:attrName>
                                        </p:attrNameLst>
                                      </p:cBhvr>
                                      <p:to>
                                        <p:strVal val="visible"/>
                                      </p:to>
                                    </p:set>
                                    <p:animEffect filter="fade" transition="in">
                                      <p:cBhvr>
                                        <p:cTn dur="1250"/>
                                        <p:tgtEl>
                                          <p:spTgt spid="101"/>
                                        </p:tgtEl>
                                      </p:cBhvr>
                                    </p:animEffect>
                                  </p:childTnLst>
                                </p:cTn>
                              </p:par>
                              <p:par>
                                <p:cTn fill="hold" nodeType="withEffect" presetClass="entr" presetID="10" presetSubtype="0">
                                  <p:stCondLst>
                                    <p:cond delay="0"/>
                                  </p:stCondLst>
                                  <p:childTnLst>
                                    <p:set>
                                      <p:cBhvr>
                                        <p:cTn dur="1" fill="hold">
                                          <p:stCondLst>
                                            <p:cond delay="0"/>
                                          </p:stCondLst>
                                        </p:cTn>
                                        <p:tgtEl>
                                          <p:spTgt spid="102"/>
                                        </p:tgtEl>
                                        <p:attrNameLst>
                                          <p:attrName>style.visibility</p:attrName>
                                        </p:attrNameLst>
                                      </p:cBhvr>
                                      <p:to>
                                        <p:strVal val="visible"/>
                                      </p:to>
                                    </p:set>
                                    <p:animEffect filter="fade" transition="in">
                                      <p:cBhvr>
                                        <p:cTn dur="1250"/>
                                        <p:tgtEl>
                                          <p:spTgt spid="102"/>
                                        </p:tgtEl>
                                      </p:cBhvr>
                                    </p:animEffect>
                                  </p:childTnLst>
                                </p:cTn>
                              </p:par>
                              <p:par>
                                <p:cTn fill="hold" nodeType="withEffect" presetClass="entr" presetID="10" presetSubtype="0">
                                  <p:stCondLst>
                                    <p:cond delay="0"/>
                                  </p:stCondLst>
                                  <p:childTnLst>
                                    <p:set>
                                      <p:cBhvr>
                                        <p:cTn dur="1" fill="hold">
                                          <p:stCondLst>
                                            <p:cond delay="0"/>
                                          </p:stCondLst>
                                        </p:cTn>
                                        <p:tgtEl>
                                          <p:spTgt spid="103"/>
                                        </p:tgtEl>
                                        <p:attrNameLst>
                                          <p:attrName>style.visibility</p:attrName>
                                        </p:attrNameLst>
                                      </p:cBhvr>
                                      <p:to>
                                        <p:strVal val="visible"/>
                                      </p:to>
                                    </p:set>
                                    <p:animEffect filter="fade" transition="in">
                                      <p:cBhvr>
                                        <p:cTn dur="1250"/>
                                        <p:tgtEl>
                                          <p:spTgt spid="103"/>
                                        </p:tgtEl>
                                      </p:cBhvr>
                                    </p:animEffect>
                                  </p:childTnLst>
                                </p:cTn>
                              </p:par>
                              <p:par>
                                <p:cTn fill="hold" nodeType="withEffect" presetClass="entr" presetID="10" presetSubtype="0">
                                  <p:stCondLst>
                                    <p:cond delay="0"/>
                                  </p:stCondLst>
                                  <p:childTnLst>
                                    <p:set>
                                      <p:cBhvr>
                                        <p:cTn dur="1" fill="hold">
                                          <p:stCondLst>
                                            <p:cond delay="0"/>
                                          </p:stCondLst>
                                        </p:cTn>
                                        <p:tgtEl>
                                          <p:spTgt spid="104"/>
                                        </p:tgtEl>
                                        <p:attrNameLst>
                                          <p:attrName>style.visibility</p:attrName>
                                        </p:attrNameLst>
                                      </p:cBhvr>
                                      <p:to>
                                        <p:strVal val="visible"/>
                                      </p:to>
                                    </p:set>
                                    <p:animEffect filter="fade" transition="in">
                                      <p:cBhvr>
                                        <p:cTn dur="1250"/>
                                        <p:tgtEl>
                                          <p:spTgt spid="104"/>
                                        </p:tgtEl>
                                      </p:cBhvr>
                                    </p:animEffect>
                                  </p:childTnLst>
                                </p:cTn>
                              </p:par>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250"/>
                                        <p:tgtEl>
                                          <p:spTgt spid="105"/>
                                        </p:tgtEl>
                                      </p:cBhvr>
                                    </p:animEffect>
                                  </p:childTnLst>
                                </p:cTn>
                              </p:par>
                              <p:par>
                                <p:cTn fill="hold" nodeType="withEffect" presetClass="entr" presetID="10" presetSubtype="0">
                                  <p:stCondLst>
                                    <p:cond delay="0"/>
                                  </p:stCondLst>
                                  <p:childTnLst>
                                    <p:set>
                                      <p:cBhvr>
                                        <p:cTn dur="1" fill="hold">
                                          <p:stCondLst>
                                            <p:cond delay="0"/>
                                          </p:stCondLst>
                                        </p:cTn>
                                        <p:tgtEl>
                                          <p:spTgt spid="106"/>
                                        </p:tgtEl>
                                        <p:attrNameLst>
                                          <p:attrName>style.visibility</p:attrName>
                                        </p:attrNameLst>
                                      </p:cBhvr>
                                      <p:to>
                                        <p:strVal val="visible"/>
                                      </p:to>
                                    </p:set>
                                    <p:animEffect filter="fade" transition="in">
                                      <p:cBhvr>
                                        <p:cTn dur="1250"/>
                                        <p:tgtEl>
                                          <p:spTgt spid="10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nvSpPr>
        <p:spPr>
          <a:xfrm>
            <a:off x="21999" y="6413274"/>
            <a:ext cx="2717346" cy="4095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cap="none" strike="noStrike">
                <a:solidFill>
                  <a:srgbClr val="595959"/>
                </a:solidFill>
                <a:latin typeface="Tahoma"/>
                <a:ea typeface="Tahoma"/>
                <a:cs typeface="Tahoma"/>
                <a:sym typeface="Tahoma"/>
              </a:rPr>
              <a:t>Clase 3-1 – Módulo Imperativo</a:t>
            </a:r>
            <a:endParaRPr b="0" i="0" sz="1400" u="none" cap="none" strike="noStrike">
              <a:solidFill>
                <a:srgbClr val="000000"/>
              </a:solidFill>
              <a:latin typeface="Arial"/>
              <a:ea typeface="Arial"/>
              <a:cs typeface="Arial"/>
              <a:sym typeface="Arial"/>
            </a:endParaRPr>
          </a:p>
        </p:txBody>
      </p:sp>
      <p:sp>
        <p:nvSpPr>
          <p:cNvPr id="112" name="Google Shape;112;p5"/>
          <p:cNvSpPr txBox="1"/>
          <p:nvPr/>
        </p:nvSpPr>
        <p:spPr>
          <a:xfrm>
            <a:off x="936625" y="274637"/>
            <a:ext cx="11104562" cy="741362"/>
          </a:xfrm>
          <a:prstGeom prst="rect">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pic>
        <p:nvPicPr>
          <p:cNvPr descr="Imagen que contiene dibujo&#10;&#10;Descripción generada automáticamente" id="113" name="Google Shape;113;p5"/>
          <p:cNvPicPr preferRelativeResize="0"/>
          <p:nvPr/>
        </p:nvPicPr>
        <p:blipFill rotWithShape="1">
          <a:blip r:embed="rId3">
            <a:alphaModFix/>
          </a:blip>
          <a:srcRect b="0" l="0" r="0" t="0"/>
          <a:stretch/>
        </p:blipFill>
        <p:spPr>
          <a:xfrm>
            <a:off x="21999" y="177267"/>
            <a:ext cx="936103" cy="936103"/>
          </a:xfrm>
          <a:prstGeom prst="rect">
            <a:avLst/>
          </a:prstGeom>
          <a:noFill/>
          <a:ln>
            <a:noFill/>
          </a:ln>
        </p:spPr>
      </p:pic>
      <p:sp>
        <p:nvSpPr>
          <p:cNvPr id="114" name="Google Shape;114;p5"/>
          <p:cNvSpPr txBox="1"/>
          <p:nvPr/>
        </p:nvSpPr>
        <p:spPr>
          <a:xfrm>
            <a:off x="1146175" y="273050"/>
            <a:ext cx="10661650"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4000"/>
              <a:buFont typeface="Calibri"/>
              <a:buNone/>
            </a:pPr>
            <a:r>
              <a:rPr b="0" i="0" lang="en-US" sz="4000" u="none" cap="none" strike="noStrike">
                <a:solidFill>
                  <a:schemeClr val="lt1"/>
                </a:solidFill>
                <a:latin typeface="Calibri"/>
                <a:ea typeface="Calibri"/>
                <a:cs typeface="Calibri"/>
                <a:sym typeface="Calibri"/>
              </a:rPr>
              <a:t>ESTRUCTURA DE DATOS ARBOL</a:t>
            </a:r>
            <a:endParaRPr b="0" i="0" sz="1400" u="none" cap="none" strike="noStrike">
              <a:solidFill>
                <a:srgbClr val="000000"/>
              </a:solidFill>
              <a:latin typeface="Arial"/>
              <a:ea typeface="Arial"/>
              <a:cs typeface="Arial"/>
              <a:sym typeface="Arial"/>
            </a:endParaRPr>
          </a:p>
        </p:txBody>
      </p:sp>
      <p:sp>
        <p:nvSpPr>
          <p:cNvPr id="115" name="Google Shape;115;p5"/>
          <p:cNvSpPr txBox="1"/>
          <p:nvPr/>
        </p:nvSpPr>
        <p:spPr>
          <a:xfrm>
            <a:off x="936625" y="1144090"/>
            <a:ext cx="10858656" cy="1932666"/>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600"/>
              </a:spcBef>
              <a:spcAft>
                <a:spcPts val="600"/>
              </a:spcAft>
              <a:buClr>
                <a:srgbClr val="595959"/>
              </a:buClr>
              <a:buSzPts val="3200"/>
              <a:buFont typeface="Calibri"/>
              <a:buNone/>
            </a:pPr>
            <a:r>
              <a:rPr b="0" i="0" lang="en-US" sz="3200" u="none" cap="none" strike="noStrike">
                <a:solidFill>
                  <a:srgbClr val="595959"/>
                </a:solidFill>
                <a:latin typeface="Calibri"/>
                <a:ea typeface="Calibri"/>
                <a:cs typeface="Calibri"/>
                <a:sym typeface="Calibri"/>
              </a:rPr>
              <a:t>Por todo lo mencionado es importante notar que existen un montón de problemas que necesitan expresarse de una manera jerarquica característica que no permiten las estructuras vistas hasta el momento (arreglos y listas).</a:t>
            </a:r>
            <a:endParaRPr b="0" i="0" sz="3200" u="none" cap="none" strike="noStrike">
              <a:solidFill>
                <a:srgbClr val="595959"/>
              </a:solidFill>
              <a:latin typeface="Calibri"/>
              <a:ea typeface="Calibri"/>
              <a:cs typeface="Calibri"/>
              <a:sym typeface="Calibri"/>
            </a:endParaRPr>
          </a:p>
        </p:txBody>
      </p:sp>
      <p:grpSp>
        <p:nvGrpSpPr>
          <p:cNvPr id="116" name="Google Shape;116;p5"/>
          <p:cNvGrpSpPr/>
          <p:nvPr/>
        </p:nvGrpSpPr>
        <p:grpSpPr>
          <a:xfrm>
            <a:off x="6252066" y="3076756"/>
            <a:ext cx="1389708" cy="1721076"/>
            <a:chOff x="6252066" y="3076756"/>
            <a:chExt cx="1389708" cy="1721076"/>
          </a:xfrm>
        </p:grpSpPr>
        <p:sp>
          <p:nvSpPr>
            <p:cNvPr id="117" name="Google Shape;117;p5"/>
            <p:cNvSpPr/>
            <p:nvPr/>
          </p:nvSpPr>
          <p:spPr>
            <a:xfrm>
              <a:off x="6368145" y="3076756"/>
              <a:ext cx="914400" cy="979714"/>
            </a:xfrm>
            <a:prstGeom prst="downArrow">
              <a:avLst>
                <a:gd fmla="val 50000" name="adj1"/>
                <a:gd fmla="val 50000" name="adj2"/>
              </a:avLst>
            </a:prstGeom>
            <a:solidFill>
              <a:schemeClr val="accent6"/>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8" name="Google Shape;118;p5"/>
            <p:cNvSpPr txBox="1"/>
            <p:nvPr/>
          </p:nvSpPr>
          <p:spPr>
            <a:xfrm>
              <a:off x="6252066" y="4056470"/>
              <a:ext cx="1389708" cy="741362"/>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1200"/>
                </a:spcBef>
                <a:spcAft>
                  <a:spcPts val="1200"/>
                </a:spcAft>
                <a:buClr>
                  <a:srgbClr val="595959"/>
                </a:buClr>
                <a:buSzPts val="3200"/>
                <a:buFont typeface="Calibri"/>
                <a:buNone/>
              </a:pPr>
              <a:r>
                <a:rPr b="0" i="0" lang="en-US" sz="3200" u="none" cap="none" strike="noStrike">
                  <a:solidFill>
                    <a:srgbClr val="595959"/>
                  </a:solidFill>
                  <a:latin typeface="Calibri"/>
                  <a:ea typeface="Calibri"/>
                  <a:cs typeface="Calibri"/>
                  <a:sym typeface="Calibri"/>
                </a:rPr>
                <a:t>ARBOL</a:t>
              </a:r>
              <a:endParaRPr b="0" i="0" sz="3200" u="none" cap="none" strike="noStrike">
                <a:solidFill>
                  <a:srgbClr val="595959"/>
                </a:solidFill>
                <a:latin typeface="Calibri"/>
                <a:ea typeface="Calibri"/>
                <a:cs typeface="Calibri"/>
                <a:sym typeface="Calibri"/>
              </a:endParaRPr>
            </a:p>
          </p:txBody>
        </p:sp>
      </p:grpSp>
      <p:sp>
        <p:nvSpPr>
          <p:cNvPr id="119" name="Google Shape;119;p5"/>
          <p:cNvSpPr txBox="1"/>
          <p:nvPr/>
        </p:nvSpPr>
        <p:spPr>
          <a:xfrm>
            <a:off x="96628" y="3388696"/>
            <a:ext cx="5270029" cy="3079838"/>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600"/>
              </a:spcBef>
              <a:spcAft>
                <a:spcPts val="0"/>
              </a:spcAft>
              <a:buClr>
                <a:srgbClr val="595959"/>
              </a:buClr>
              <a:buSzPts val="3200"/>
              <a:buFont typeface="Calibri"/>
              <a:buNone/>
            </a:pPr>
            <a:r>
              <a:rPr b="0" i="0" lang="en-US" sz="2600" u="none" cap="none" strike="noStrike">
                <a:solidFill>
                  <a:srgbClr val="595959"/>
                </a:solidFill>
                <a:latin typeface="Calibri"/>
                <a:ea typeface="Calibri"/>
                <a:cs typeface="Calibri"/>
                <a:sym typeface="Calibri"/>
              </a:rPr>
              <a:t>Es una estructura de datos jerárquica. </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200"/>
              </a:spcBef>
              <a:spcAft>
                <a:spcPts val="0"/>
              </a:spcAft>
              <a:buClr>
                <a:srgbClr val="595959"/>
              </a:buClr>
              <a:buSzPts val="3200"/>
              <a:buFont typeface="Calibri"/>
              <a:buNone/>
            </a:pPr>
            <a:r>
              <a:rPr b="0" i="0" lang="en-US" sz="2600" u="none" cap="none" strike="noStrike">
                <a:solidFill>
                  <a:srgbClr val="595959"/>
                </a:solidFill>
                <a:latin typeface="Calibri"/>
                <a:ea typeface="Calibri"/>
                <a:cs typeface="Calibri"/>
                <a:sym typeface="Calibri"/>
              </a:rPr>
              <a:t>Está formada por nodos, donde cada nodo tiene a lo sumo hijos. E</a:t>
            </a:r>
            <a:endParaRPr b="0" i="0" sz="1400" u="none" cap="none" strike="noStrike">
              <a:solidFill>
                <a:srgbClr val="000000"/>
              </a:solidFill>
              <a:latin typeface="Arial"/>
              <a:ea typeface="Arial"/>
              <a:cs typeface="Arial"/>
              <a:sym typeface="Arial"/>
            </a:endParaRPr>
          </a:p>
          <a:p>
            <a:pPr indent="0" lvl="0" marL="0" marR="0" rtl="0" algn="just">
              <a:lnSpc>
                <a:spcPct val="90000"/>
              </a:lnSpc>
              <a:spcBef>
                <a:spcPts val="1200"/>
              </a:spcBef>
              <a:spcAft>
                <a:spcPts val="600"/>
              </a:spcAft>
              <a:buClr>
                <a:srgbClr val="595959"/>
              </a:buClr>
              <a:buSzPts val="3200"/>
              <a:buFont typeface="Calibri"/>
              <a:buNone/>
            </a:pPr>
            <a:r>
              <a:rPr b="0" i="0" lang="en-US" sz="2600" u="none" cap="none" strike="noStrike">
                <a:solidFill>
                  <a:srgbClr val="595959"/>
                </a:solidFill>
                <a:latin typeface="Calibri"/>
                <a:ea typeface="Calibri"/>
                <a:cs typeface="Calibri"/>
                <a:sym typeface="Calibri"/>
              </a:rPr>
              <a:t>El nodo principal del árbol se denomina raíz y los nodos que no tienen hijos se denominan hojas del árbol.</a:t>
            </a:r>
            <a:endParaRPr b="0" i="0" sz="2600" u="none" cap="none" strike="noStrike">
              <a:solidFill>
                <a:srgbClr val="595959"/>
              </a:solidFill>
              <a:latin typeface="Calibri"/>
              <a:ea typeface="Calibri"/>
              <a:cs typeface="Calibri"/>
              <a:sym typeface="Calibri"/>
            </a:endParaRPr>
          </a:p>
        </p:txBody>
      </p:sp>
      <p:sp>
        <p:nvSpPr>
          <p:cNvPr id="120" name="Google Shape;120;p5"/>
          <p:cNvSpPr txBox="1"/>
          <p:nvPr/>
        </p:nvSpPr>
        <p:spPr>
          <a:xfrm>
            <a:off x="8766664" y="3423731"/>
            <a:ext cx="2532708" cy="1932666"/>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600"/>
              </a:spcBef>
              <a:spcAft>
                <a:spcPts val="0"/>
              </a:spcAft>
              <a:buClr>
                <a:srgbClr val="595959"/>
              </a:buClr>
              <a:buSzPts val="3200"/>
              <a:buFont typeface="Calibri"/>
              <a:buNone/>
            </a:pPr>
            <a:r>
              <a:rPr b="0" i="0" lang="en-US" sz="3200" u="none" cap="none" strike="noStrike">
                <a:solidFill>
                  <a:srgbClr val="7F7F7F"/>
                </a:solidFill>
                <a:latin typeface="Calibri"/>
                <a:ea typeface="Calibri"/>
                <a:cs typeface="Calibri"/>
                <a:sym typeface="Calibri"/>
              </a:rPr>
              <a:t>Homogénea</a:t>
            </a:r>
            <a:endParaRPr b="0" i="0" sz="3200" u="none" cap="none" strike="noStrike">
              <a:solidFill>
                <a:srgbClr val="7F7F7F"/>
              </a:solidFill>
              <a:latin typeface="Calibri"/>
              <a:ea typeface="Calibri"/>
              <a:cs typeface="Calibri"/>
              <a:sym typeface="Calibri"/>
            </a:endParaRPr>
          </a:p>
          <a:p>
            <a:pPr indent="0" lvl="0" marL="0" marR="0" rtl="0" algn="just">
              <a:lnSpc>
                <a:spcPct val="90000"/>
              </a:lnSpc>
              <a:spcBef>
                <a:spcPts val="1200"/>
              </a:spcBef>
              <a:spcAft>
                <a:spcPts val="0"/>
              </a:spcAft>
              <a:buClr>
                <a:srgbClr val="595959"/>
              </a:buClr>
              <a:buSzPts val="3200"/>
              <a:buFont typeface="Calibri"/>
              <a:buNone/>
            </a:pPr>
            <a:r>
              <a:rPr b="0" i="0" lang="en-US" sz="3200" u="none" cap="none" strike="noStrike">
                <a:solidFill>
                  <a:srgbClr val="7F7F7F"/>
                </a:solidFill>
                <a:latin typeface="Calibri"/>
                <a:ea typeface="Calibri"/>
                <a:cs typeface="Calibri"/>
                <a:sym typeface="Calibri"/>
              </a:rPr>
              <a:t>Dinámica</a:t>
            </a:r>
            <a:endParaRPr b="0" i="0" sz="3200" u="none" cap="none" strike="noStrike">
              <a:solidFill>
                <a:srgbClr val="7F7F7F"/>
              </a:solidFill>
              <a:latin typeface="Calibri"/>
              <a:ea typeface="Calibri"/>
              <a:cs typeface="Calibri"/>
              <a:sym typeface="Calibri"/>
            </a:endParaRPr>
          </a:p>
          <a:p>
            <a:pPr indent="0" lvl="0" marL="0" marR="0" rtl="0" algn="just">
              <a:lnSpc>
                <a:spcPct val="90000"/>
              </a:lnSpc>
              <a:spcBef>
                <a:spcPts val="1200"/>
              </a:spcBef>
              <a:spcAft>
                <a:spcPts val="600"/>
              </a:spcAft>
              <a:buClr>
                <a:srgbClr val="595959"/>
              </a:buClr>
              <a:buSzPts val="3200"/>
              <a:buFont typeface="Calibri"/>
              <a:buNone/>
            </a:pPr>
            <a:r>
              <a:rPr b="0" i="0" lang="en-US" sz="3200" u="none" cap="none" strike="noStrike">
                <a:solidFill>
                  <a:srgbClr val="7F7F7F"/>
                </a:solidFill>
                <a:latin typeface="Calibri"/>
                <a:ea typeface="Calibri"/>
                <a:cs typeface="Calibri"/>
                <a:sym typeface="Calibri"/>
              </a:rPr>
              <a:t>NO lineal</a:t>
            </a:r>
            <a:endParaRPr b="0" i="0" sz="3200" u="none" cap="none" strike="noStrike">
              <a:solidFill>
                <a:srgbClr val="7F7F7F"/>
              </a:solidFill>
              <a:latin typeface="Calibri"/>
              <a:ea typeface="Calibri"/>
              <a:cs typeface="Calibri"/>
              <a:sym typeface="Calibri"/>
            </a:endParaRPr>
          </a:p>
        </p:txBody>
      </p: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1250"/>
                                        <p:tgtEl>
                                          <p:spTgt spid="1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0" st="0"/>
                                            </p:txEl>
                                          </p:spTgt>
                                        </p:tgtEl>
                                        <p:attrNameLst>
                                          <p:attrName>style.visibility</p:attrName>
                                        </p:attrNameLst>
                                      </p:cBhvr>
                                      <p:to>
                                        <p:strVal val="visible"/>
                                      </p:to>
                                    </p:set>
                                    <p:animEffect filter="fade" transition="in">
                                      <p:cBhvr>
                                        <p:cTn dur="1000"/>
                                        <p:tgtEl>
                                          <p:spTgt spid="11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1" st="1"/>
                                            </p:txEl>
                                          </p:spTgt>
                                        </p:tgtEl>
                                        <p:attrNameLst>
                                          <p:attrName>style.visibility</p:attrName>
                                        </p:attrNameLst>
                                      </p:cBhvr>
                                      <p:to>
                                        <p:strVal val="visible"/>
                                      </p:to>
                                    </p:set>
                                    <p:animEffect filter="fade" transition="in">
                                      <p:cBhvr>
                                        <p:cTn dur="1000"/>
                                        <p:tgtEl>
                                          <p:spTgt spid="11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xEl>
                                              <p:pRg end="2" st="2"/>
                                            </p:txEl>
                                          </p:spTgt>
                                        </p:tgtEl>
                                        <p:attrNameLst>
                                          <p:attrName>style.visibility</p:attrName>
                                        </p:attrNameLst>
                                      </p:cBhvr>
                                      <p:to>
                                        <p:strVal val="visible"/>
                                      </p:to>
                                    </p:set>
                                    <p:animEffect filter="fade" transition="in">
                                      <p:cBhvr>
                                        <p:cTn dur="1000"/>
                                        <p:tgtEl>
                                          <p:spTgt spid="11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000"/>
                                        <p:tgtEl>
                                          <p:spTgt spid="12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nvSpPr>
        <p:spPr>
          <a:xfrm>
            <a:off x="936625" y="274637"/>
            <a:ext cx="11104562" cy="741362"/>
          </a:xfrm>
          <a:prstGeom prst="rect">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pic>
        <p:nvPicPr>
          <p:cNvPr descr="Imagen que contiene dibujo&#10;&#10;Descripción generada automáticamente" id="126" name="Google Shape;126;p6"/>
          <p:cNvPicPr preferRelativeResize="0"/>
          <p:nvPr/>
        </p:nvPicPr>
        <p:blipFill rotWithShape="1">
          <a:blip r:embed="rId3">
            <a:alphaModFix/>
          </a:blip>
          <a:srcRect b="0" l="0" r="0" t="0"/>
          <a:stretch/>
        </p:blipFill>
        <p:spPr>
          <a:xfrm>
            <a:off x="21999" y="177267"/>
            <a:ext cx="936103" cy="936103"/>
          </a:xfrm>
          <a:prstGeom prst="rect">
            <a:avLst/>
          </a:prstGeom>
          <a:noFill/>
          <a:ln>
            <a:noFill/>
          </a:ln>
        </p:spPr>
      </p:pic>
      <p:sp>
        <p:nvSpPr>
          <p:cNvPr id="127" name="Google Shape;127;p6"/>
          <p:cNvSpPr txBox="1"/>
          <p:nvPr/>
        </p:nvSpPr>
        <p:spPr>
          <a:xfrm>
            <a:off x="1146175" y="273050"/>
            <a:ext cx="10471150"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4000"/>
              <a:buFont typeface="Calibri"/>
              <a:buNone/>
            </a:pPr>
            <a:r>
              <a:rPr b="0" i="0" lang="en-US" sz="4000" u="none" cap="none" strike="noStrike">
                <a:solidFill>
                  <a:schemeClr val="lt1"/>
                </a:solidFill>
                <a:latin typeface="Calibri"/>
                <a:ea typeface="Calibri"/>
                <a:cs typeface="Calibri"/>
                <a:sym typeface="Calibri"/>
              </a:rPr>
              <a:t>ESTRUCTURA DE DATOS ARBOL</a:t>
            </a:r>
            <a:endParaRPr b="0" i="0" sz="1400" u="none" cap="none" strike="noStrike">
              <a:solidFill>
                <a:srgbClr val="000000"/>
              </a:solidFill>
              <a:latin typeface="Arial"/>
              <a:ea typeface="Arial"/>
              <a:cs typeface="Arial"/>
              <a:sym typeface="Arial"/>
            </a:endParaRPr>
          </a:p>
        </p:txBody>
      </p:sp>
      <p:sp>
        <p:nvSpPr>
          <p:cNvPr id="128" name="Google Shape;128;p6"/>
          <p:cNvSpPr/>
          <p:nvPr/>
        </p:nvSpPr>
        <p:spPr>
          <a:xfrm>
            <a:off x="3313290" y="1790693"/>
            <a:ext cx="681051" cy="698022"/>
          </a:xfrm>
          <a:prstGeom prst="ellipse">
            <a:avLst/>
          </a:prstGeom>
          <a:solidFill>
            <a:srgbClr val="D0CECE"/>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129" name="Google Shape;129;p6"/>
          <p:cNvSpPr/>
          <p:nvPr/>
        </p:nvSpPr>
        <p:spPr>
          <a:xfrm>
            <a:off x="2252118" y="2854612"/>
            <a:ext cx="683031" cy="698022"/>
          </a:xfrm>
          <a:prstGeom prst="ellipse">
            <a:avLst/>
          </a:prstGeom>
          <a:solidFill>
            <a:srgbClr val="C5E0B4"/>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130" name="Google Shape;130;p6"/>
          <p:cNvSpPr/>
          <p:nvPr/>
        </p:nvSpPr>
        <p:spPr>
          <a:xfrm>
            <a:off x="4637776" y="2802073"/>
            <a:ext cx="681051" cy="696145"/>
          </a:xfrm>
          <a:prstGeom prst="ellipse">
            <a:avLst/>
          </a:prstGeom>
          <a:solidFill>
            <a:srgbClr val="C5E0B4"/>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131" name="Google Shape;131;p6"/>
          <p:cNvSpPr/>
          <p:nvPr/>
        </p:nvSpPr>
        <p:spPr>
          <a:xfrm>
            <a:off x="1404763" y="3856612"/>
            <a:ext cx="681051" cy="698022"/>
          </a:xfrm>
          <a:prstGeom prst="ellipse">
            <a:avLst/>
          </a:prstGeom>
          <a:solidFill>
            <a:srgbClr val="FFE699"/>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132" name="Google Shape;132;p6"/>
          <p:cNvSpPr/>
          <p:nvPr/>
        </p:nvSpPr>
        <p:spPr>
          <a:xfrm>
            <a:off x="2901491" y="3864117"/>
            <a:ext cx="681051" cy="698022"/>
          </a:xfrm>
          <a:prstGeom prst="ellipse">
            <a:avLst/>
          </a:prstGeom>
          <a:solidFill>
            <a:srgbClr val="FFE699"/>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cxnSp>
        <p:nvCxnSpPr>
          <p:cNvPr id="133" name="Google Shape;133;p6"/>
          <p:cNvCxnSpPr/>
          <p:nvPr/>
        </p:nvCxnSpPr>
        <p:spPr>
          <a:xfrm flipH="1">
            <a:off x="2834179" y="2387389"/>
            <a:ext cx="580081" cy="568550"/>
          </a:xfrm>
          <a:prstGeom prst="straightConnector1">
            <a:avLst/>
          </a:prstGeom>
          <a:noFill/>
          <a:ln cap="flat" cmpd="sng" w="57150">
            <a:solidFill>
              <a:srgbClr val="3B3838"/>
            </a:solidFill>
            <a:prstDash val="solid"/>
            <a:miter lim="800000"/>
            <a:headEnd len="sm" w="sm" type="none"/>
            <a:tailEnd len="sm" w="sm" type="none"/>
          </a:ln>
        </p:spPr>
      </p:cxnSp>
      <p:cxnSp>
        <p:nvCxnSpPr>
          <p:cNvPr id="134" name="Google Shape;134;p6"/>
          <p:cNvCxnSpPr/>
          <p:nvPr/>
        </p:nvCxnSpPr>
        <p:spPr>
          <a:xfrm>
            <a:off x="3994342" y="2340479"/>
            <a:ext cx="742424" cy="561045"/>
          </a:xfrm>
          <a:prstGeom prst="straightConnector1">
            <a:avLst/>
          </a:prstGeom>
          <a:noFill/>
          <a:ln cap="flat" cmpd="sng" w="57150">
            <a:solidFill>
              <a:srgbClr val="3B3838"/>
            </a:solidFill>
            <a:prstDash val="solid"/>
            <a:miter lim="800000"/>
            <a:headEnd len="sm" w="sm" type="none"/>
            <a:tailEnd len="sm" w="sm" type="none"/>
          </a:ln>
        </p:spPr>
      </p:cxnSp>
      <p:cxnSp>
        <p:nvCxnSpPr>
          <p:cNvPr id="135" name="Google Shape;135;p6"/>
          <p:cNvCxnSpPr/>
          <p:nvPr/>
        </p:nvCxnSpPr>
        <p:spPr>
          <a:xfrm flipH="1">
            <a:off x="1986824" y="3453185"/>
            <a:ext cx="447434" cy="504751"/>
          </a:xfrm>
          <a:prstGeom prst="straightConnector1">
            <a:avLst/>
          </a:prstGeom>
          <a:noFill/>
          <a:ln cap="flat" cmpd="sng" w="57150">
            <a:solidFill>
              <a:srgbClr val="3B3838"/>
            </a:solidFill>
            <a:prstDash val="solid"/>
            <a:miter lim="800000"/>
            <a:headEnd len="sm" w="sm" type="none"/>
            <a:tailEnd len="sm" w="sm" type="none"/>
          </a:ln>
        </p:spPr>
      </p:cxnSp>
      <p:cxnSp>
        <p:nvCxnSpPr>
          <p:cNvPr id="136" name="Google Shape;136;p6"/>
          <p:cNvCxnSpPr/>
          <p:nvPr/>
        </p:nvCxnSpPr>
        <p:spPr>
          <a:xfrm>
            <a:off x="2861895" y="3434421"/>
            <a:ext cx="380122" cy="429696"/>
          </a:xfrm>
          <a:prstGeom prst="straightConnector1">
            <a:avLst/>
          </a:prstGeom>
          <a:noFill/>
          <a:ln cap="flat" cmpd="sng" w="57150">
            <a:solidFill>
              <a:srgbClr val="3B3838"/>
            </a:solidFill>
            <a:prstDash val="solid"/>
            <a:miter lim="800000"/>
            <a:headEnd len="sm" w="sm" type="none"/>
            <a:tailEnd len="sm" w="sm" type="none"/>
          </a:ln>
        </p:spPr>
      </p:cxnSp>
      <p:sp>
        <p:nvSpPr>
          <p:cNvPr id="137" name="Google Shape;137;p6"/>
          <p:cNvSpPr/>
          <p:nvPr/>
        </p:nvSpPr>
        <p:spPr>
          <a:xfrm>
            <a:off x="3837937" y="3956062"/>
            <a:ext cx="681051" cy="698022"/>
          </a:xfrm>
          <a:prstGeom prst="ellipse">
            <a:avLst/>
          </a:prstGeom>
          <a:solidFill>
            <a:srgbClr val="FFE699"/>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cxnSp>
        <p:nvCxnSpPr>
          <p:cNvPr id="138" name="Google Shape;138;p6"/>
          <p:cNvCxnSpPr/>
          <p:nvPr/>
        </p:nvCxnSpPr>
        <p:spPr>
          <a:xfrm flipH="1">
            <a:off x="4419998" y="3552635"/>
            <a:ext cx="447435" cy="504753"/>
          </a:xfrm>
          <a:prstGeom prst="straightConnector1">
            <a:avLst/>
          </a:prstGeom>
          <a:noFill/>
          <a:ln cap="flat" cmpd="sng" w="57150">
            <a:solidFill>
              <a:srgbClr val="3B3838"/>
            </a:solidFill>
            <a:prstDash val="solid"/>
            <a:miter lim="800000"/>
            <a:headEnd len="sm" w="sm" type="none"/>
            <a:tailEnd len="sm" w="sm" type="none"/>
          </a:ln>
        </p:spPr>
      </p:cxnSp>
      <p:grpSp>
        <p:nvGrpSpPr>
          <p:cNvPr id="139" name="Google Shape;139;p6"/>
          <p:cNvGrpSpPr/>
          <p:nvPr/>
        </p:nvGrpSpPr>
        <p:grpSpPr>
          <a:xfrm>
            <a:off x="4108850" y="1274183"/>
            <a:ext cx="3138001" cy="538170"/>
            <a:chOff x="4058173" y="1273523"/>
            <a:chExt cx="3138001" cy="538170"/>
          </a:xfrm>
        </p:grpSpPr>
        <p:cxnSp>
          <p:nvCxnSpPr>
            <p:cNvPr id="140" name="Google Shape;140;p6"/>
            <p:cNvCxnSpPr/>
            <p:nvPr/>
          </p:nvCxnSpPr>
          <p:spPr>
            <a:xfrm flipH="1">
              <a:off x="4058173" y="1551343"/>
              <a:ext cx="1285875" cy="260350"/>
            </a:xfrm>
            <a:prstGeom prst="straightConnector1">
              <a:avLst/>
            </a:prstGeom>
            <a:noFill/>
            <a:ln cap="flat" cmpd="sng" w="38100">
              <a:solidFill>
                <a:schemeClr val="dk2"/>
              </a:solidFill>
              <a:prstDash val="dash"/>
              <a:miter lim="800000"/>
              <a:headEnd len="sm" w="sm" type="none"/>
              <a:tailEnd len="med" w="med" type="triangle"/>
            </a:ln>
          </p:spPr>
        </p:cxnSp>
        <p:sp>
          <p:nvSpPr>
            <p:cNvPr id="141" name="Google Shape;141;p6"/>
            <p:cNvSpPr txBox="1"/>
            <p:nvPr/>
          </p:nvSpPr>
          <p:spPr>
            <a:xfrm>
              <a:off x="4408525" y="1273523"/>
              <a:ext cx="2787649" cy="4603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2400"/>
                <a:buFont typeface="Consolas"/>
                <a:buNone/>
              </a:pPr>
              <a:r>
                <a:rPr b="0" i="0" lang="en-US" sz="2400" u="none" cap="none" strike="noStrike">
                  <a:solidFill>
                    <a:srgbClr val="3B3838"/>
                  </a:solidFill>
                  <a:latin typeface="Consolas"/>
                  <a:ea typeface="Consolas"/>
                  <a:cs typeface="Consolas"/>
                  <a:sym typeface="Consolas"/>
                </a:rPr>
                <a:t>RAÍZ</a:t>
              </a:r>
              <a:endParaRPr b="0" i="0" sz="1400" u="none" cap="none" strike="noStrike">
                <a:solidFill>
                  <a:srgbClr val="000000"/>
                </a:solidFill>
                <a:latin typeface="Arial"/>
                <a:ea typeface="Arial"/>
                <a:cs typeface="Arial"/>
                <a:sym typeface="Arial"/>
              </a:endParaRPr>
            </a:p>
          </p:txBody>
        </p:sp>
      </p:grpSp>
      <p:grpSp>
        <p:nvGrpSpPr>
          <p:cNvPr id="142" name="Google Shape;142;p6"/>
          <p:cNvGrpSpPr/>
          <p:nvPr/>
        </p:nvGrpSpPr>
        <p:grpSpPr>
          <a:xfrm>
            <a:off x="245342" y="3141419"/>
            <a:ext cx="1748410" cy="781226"/>
            <a:chOff x="245342" y="3141419"/>
            <a:chExt cx="1748410" cy="781226"/>
          </a:xfrm>
        </p:grpSpPr>
        <p:cxnSp>
          <p:nvCxnSpPr>
            <p:cNvPr id="143" name="Google Shape;143;p6"/>
            <p:cNvCxnSpPr/>
            <p:nvPr/>
          </p:nvCxnSpPr>
          <p:spPr>
            <a:xfrm flipH="1">
              <a:off x="707877" y="3141419"/>
              <a:ext cx="1285875" cy="260350"/>
            </a:xfrm>
            <a:prstGeom prst="straightConnector1">
              <a:avLst/>
            </a:prstGeom>
            <a:noFill/>
            <a:ln cap="flat" cmpd="sng" w="38100">
              <a:solidFill>
                <a:schemeClr val="dk2"/>
              </a:solidFill>
              <a:prstDash val="dash"/>
              <a:miter lim="800000"/>
              <a:headEnd len="sm" w="sm" type="none"/>
              <a:tailEnd len="med" w="med" type="triangle"/>
            </a:ln>
          </p:spPr>
        </p:cxnSp>
        <p:sp>
          <p:nvSpPr>
            <p:cNvPr id="144" name="Google Shape;144;p6"/>
            <p:cNvSpPr txBox="1"/>
            <p:nvPr/>
          </p:nvSpPr>
          <p:spPr>
            <a:xfrm>
              <a:off x="245342" y="3346792"/>
              <a:ext cx="1362074" cy="575853"/>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600"/>
                </a:spcBef>
                <a:spcAft>
                  <a:spcPts val="600"/>
                </a:spcAft>
                <a:buClr>
                  <a:srgbClr val="595959"/>
                </a:buClr>
                <a:buSzPts val="3200"/>
                <a:buFont typeface="Calibri"/>
                <a:buNone/>
              </a:pPr>
              <a:r>
                <a:rPr b="0" i="0" lang="en-US" sz="2400" u="none" cap="none" strike="noStrike">
                  <a:solidFill>
                    <a:srgbClr val="595959"/>
                  </a:solidFill>
                  <a:latin typeface="Consolas"/>
                  <a:ea typeface="Consolas"/>
                  <a:cs typeface="Consolas"/>
                  <a:sym typeface="Consolas"/>
                </a:rPr>
                <a:t>NODO</a:t>
              </a:r>
              <a:endParaRPr b="0" i="0" sz="2400" u="none" cap="none" strike="noStrike">
                <a:solidFill>
                  <a:srgbClr val="595959"/>
                </a:solidFill>
                <a:latin typeface="Consolas"/>
                <a:ea typeface="Consolas"/>
                <a:cs typeface="Consolas"/>
                <a:sym typeface="Consolas"/>
              </a:endParaRPr>
            </a:p>
          </p:txBody>
        </p:sp>
      </p:grpSp>
      <p:grpSp>
        <p:nvGrpSpPr>
          <p:cNvPr id="145" name="Google Shape;145;p6"/>
          <p:cNvGrpSpPr/>
          <p:nvPr/>
        </p:nvGrpSpPr>
        <p:grpSpPr>
          <a:xfrm>
            <a:off x="1667128" y="4656589"/>
            <a:ext cx="1362074" cy="1000623"/>
            <a:chOff x="1667128" y="4656589"/>
            <a:chExt cx="1362074" cy="1000623"/>
          </a:xfrm>
        </p:grpSpPr>
        <p:cxnSp>
          <p:nvCxnSpPr>
            <p:cNvPr id="146" name="Google Shape;146;p6"/>
            <p:cNvCxnSpPr/>
            <p:nvPr/>
          </p:nvCxnSpPr>
          <p:spPr>
            <a:xfrm>
              <a:off x="1814765" y="4656589"/>
              <a:ext cx="260762" cy="503249"/>
            </a:xfrm>
            <a:prstGeom prst="straightConnector1">
              <a:avLst/>
            </a:prstGeom>
            <a:noFill/>
            <a:ln cap="flat" cmpd="sng" w="38100">
              <a:solidFill>
                <a:schemeClr val="dk2"/>
              </a:solidFill>
              <a:prstDash val="dash"/>
              <a:miter lim="800000"/>
              <a:headEnd len="sm" w="sm" type="none"/>
              <a:tailEnd len="med" w="med" type="triangle"/>
            </a:ln>
          </p:spPr>
        </p:cxnSp>
        <p:sp>
          <p:nvSpPr>
            <p:cNvPr id="147" name="Google Shape;147;p6"/>
            <p:cNvSpPr txBox="1"/>
            <p:nvPr/>
          </p:nvSpPr>
          <p:spPr>
            <a:xfrm>
              <a:off x="1667128" y="5081359"/>
              <a:ext cx="1362074" cy="575853"/>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600"/>
                </a:spcBef>
                <a:spcAft>
                  <a:spcPts val="600"/>
                </a:spcAft>
                <a:buClr>
                  <a:srgbClr val="595959"/>
                </a:buClr>
                <a:buSzPts val="3200"/>
                <a:buFont typeface="Calibri"/>
                <a:buNone/>
              </a:pPr>
              <a:r>
                <a:rPr b="0" i="0" lang="en-US" sz="2400" u="none" cap="none" strike="noStrike">
                  <a:solidFill>
                    <a:srgbClr val="595959"/>
                  </a:solidFill>
                  <a:latin typeface="Consolas"/>
                  <a:ea typeface="Consolas"/>
                  <a:cs typeface="Consolas"/>
                  <a:sym typeface="Consolas"/>
                </a:rPr>
                <a:t>HOJA</a:t>
              </a:r>
              <a:endParaRPr b="0" i="0" sz="2400" u="none" cap="none" strike="noStrike">
                <a:solidFill>
                  <a:srgbClr val="595959"/>
                </a:solidFill>
                <a:latin typeface="Consolas"/>
                <a:ea typeface="Consolas"/>
                <a:cs typeface="Consolas"/>
                <a:sym typeface="Consolas"/>
              </a:endParaRPr>
            </a:p>
          </p:txBody>
        </p:sp>
      </p:grpSp>
      <p:grpSp>
        <p:nvGrpSpPr>
          <p:cNvPr id="148" name="Google Shape;148;p6"/>
          <p:cNvGrpSpPr/>
          <p:nvPr/>
        </p:nvGrpSpPr>
        <p:grpSpPr>
          <a:xfrm>
            <a:off x="7455235" y="1367645"/>
            <a:ext cx="3751721" cy="2771446"/>
            <a:chOff x="7455235" y="1367645"/>
            <a:chExt cx="3751721" cy="2771446"/>
          </a:xfrm>
        </p:grpSpPr>
        <p:sp>
          <p:nvSpPr>
            <p:cNvPr id="149" name="Google Shape;149;p6"/>
            <p:cNvSpPr/>
            <p:nvPr/>
          </p:nvSpPr>
          <p:spPr>
            <a:xfrm>
              <a:off x="9363761" y="1367645"/>
              <a:ext cx="681051" cy="698022"/>
            </a:xfrm>
            <a:prstGeom prst="ellipse">
              <a:avLst/>
            </a:prstGeom>
            <a:solidFill>
              <a:srgbClr val="D0CECE"/>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150" name="Google Shape;150;p6"/>
            <p:cNvSpPr/>
            <p:nvPr/>
          </p:nvSpPr>
          <p:spPr>
            <a:xfrm>
              <a:off x="8302590" y="2431564"/>
              <a:ext cx="683031" cy="698022"/>
            </a:xfrm>
            <a:prstGeom prst="ellipse">
              <a:avLst/>
            </a:prstGeom>
            <a:solidFill>
              <a:srgbClr val="C5E0B4"/>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151" name="Google Shape;151;p6"/>
            <p:cNvSpPr/>
            <p:nvPr/>
          </p:nvSpPr>
          <p:spPr>
            <a:xfrm>
              <a:off x="7455235" y="3433564"/>
              <a:ext cx="681051" cy="698022"/>
            </a:xfrm>
            <a:prstGeom prst="ellipse">
              <a:avLst/>
            </a:prstGeom>
            <a:solidFill>
              <a:srgbClr val="FFE699"/>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152" name="Google Shape;152;p6"/>
            <p:cNvSpPr/>
            <p:nvPr/>
          </p:nvSpPr>
          <p:spPr>
            <a:xfrm>
              <a:off x="8951963" y="3441069"/>
              <a:ext cx="681051" cy="698022"/>
            </a:xfrm>
            <a:prstGeom prst="ellipse">
              <a:avLst/>
            </a:prstGeom>
            <a:solidFill>
              <a:srgbClr val="FFE699"/>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cxnSp>
          <p:nvCxnSpPr>
            <p:cNvPr id="153" name="Google Shape;153;p6"/>
            <p:cNvCxnSpPr/>
            <p:nvPr/>
          </p:nvCxnSpPr>
          <p:spPr>
            <a:xfrm flipH="1">
              <a:off x="8884651" y="1964341"/>
              <a:ext cx="580081" cy="568550"/>
            </a:xfrm>
            <a:prstGeom prst="straightConnector1">
              <a:avLst/>
            </a:prstGeom>
            <a:noFill/>
            <a:ln cap="flat" cmpd="sng" w="57150">
              <a:solidFill>
                <a:srgbClr val="3B3838"/>
              </a:solidFill>
              <a:prstDash val="solid"/>
              <a:miter lim="800000"/>
              <a:headEnd len="sm" w="sm" type="none"/>
              <a:tailEnd len="sm" w="sm" type="none"/>
            </a:ln>
          </p:spPr>
        </p:cxnSp>
        <p:cxnSp>
          <p:nvCxnSpPr>
            <p:cNvPr id="154" name="Google Shape;154;p6"/>
            <p:cNvCxnSpPr/>
            <p:nvPr/>
          </p:nvCxnSpPr>
          <p:spPr>
            <a:xfrm>
              <a:off x="10044813" y="1917431"/>
              <a:ext cx="742424" cy="561045"/>
            </a:xfrm>
            <a:prstGeom prst="straightConnector1">
              <a:avLst/>
            </a:prstGeom>
            <a:noFill/>
            <a:ln cap="flat" cmpd="sng" w="57150">
              <a:solidFill>
                <a:srgbClr val="3B3838"/>
              </a:solidFill>
              <a:prstDash val="solid"/>
              <a:miter lim="800000"/>
              <a:headEnd len="sm" w="sm" type="none"/>
              <a:tailEnd len="sm" w="sm" type="none"/>
            </a:ln>
          </p:spPr>
        </p:cxnSp>
        <p:cxnSp>
          <p:nvCxnSpPr>
            <p:cNvPr id="155" name="Google Shape;155;p6"/>
            <p:cNvCxnSpPr/>
            <p:nvPr/>
          </p:nvCxnSpPr>
          <p:spPr>
            <a:xfrm flipH="1">
              <a:off x="8037296" y="3030137"/>
              <a:ext cx="447434" cy="504751"/>
            </a:xfrm>
            <a:prstGeom prst="straightConnector1">
              <a:avLst/>
            </a:prstGeom>
            <a:noFill/>
            <a:ln cap="flat" cmpd="sng" w="57150">
              <a:solidFill>
                <a:srgbClr val="3B3838"/>
              </a:solidFill>
              <a:prstDash val="solid"/>
              <a:miter lim="800000"/>
              <a:headEnd len="sm" w="sm" type="none"/>
              <a:tailEnd len="sm" w="sm" type="none"/>
            </a:ln>
          </p:spPr>
        </p:cxnSp>
        <p:cxnSp>
          <p:nvCxnSpPr>
            <p:cNvPr id="156" name="Google Shape;156;p6"/>
            <p:cNvCxnSpPr/>
            <p:nvPr/>
          </p:nvCxnSpPr>
          <p:spPr>
            <a:xfrm>
              <a:off x="8912367" y="3011373"/>
              <a:ext cx="380122" cy="429696"/>
            </a:xfrm>
            <a:prstGeom prst="straightConnector1">
              <a:avLst/>
            </a:prstGeom>
            <a:noFill/>
            <a:ln cap="flat" cmpd="sng" w="57150">
              <a:solidFill>
                <a:srgbClr val="3B3838"/>
              </a:solidFill>
              <a:prstDash val="solid"/>
              <a:miter lim="800000"/>
              <a:headEnd len="sm" w="sm" type="none"/>
              <a:tailEnd len="sm" w="sm" type="none"/>
            </a:ln>
          </p:spPr>
        </p:cxnSp>
        <p:sp>
          <p:nvSpPr>
            <p:cNvPr id="157" name="Google Shape;157;p6"/>
            <p:cNvSpPr/>
            <p:nvPr/>
          </p:nvSpPr>
          <p:spPr>
            <a:xfrm>
              <a:off x="10525905" y="2482308"/>
              <a:ext cx="681051" cy="698022"/>
            </a:xfrm>
            <a:prstGeom prst="ellipse">
              <a:avLst/>
            </a:prstGeom>
            <a:solidFill>
              <a:srgbClr val="FFE699"/>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158" name="Google Shape;158;p6"/>
            <p:cNvSpPr/>
            <p:nvPr/>
          </p:nvSpPr>
          <p:spPr>
            <a:xfrm>
              <a:off x="9597331" y="2583277"/>
              <a:ext cx="683031" cy="698022"/>
            </a:xfrm>
            <a:prstGeom prst="ellipse">
              <a:avLst/>
            </a:prstGeom>
            <a:solidFill>
              <a:srgbClr val="FEE599"/>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cxnSp>
          <p:nvCxnSpPr>
            <p:cNvPr id="159" name="Google Shape;159;p6"/>
            <p:cNvCxnSpPr>
              <a:stCxn id="149" idx="4"/>
            </p:cNvCxnSpPr>
            <p:nvPr/>
          </p:nvCxnSpPr>
          <p:spPr>
            <a:xfrm>
              <a:off x="9704287" y="2065667"/>
              <a:ext cx="300900" cy="553500"/>
            </a:xfrm>
            <a:prstGeom prst="straightConnector1">
              <a:avLst/>
            </a:prstGeom>
            <a:noFill/>
            <a:ln cap="flat" cmpd="sng" w="57150">
              <a:solidFill>
                <a:srgbClr val="3B3838"/>
              </a:solidFill>
              <a:prstDash val="solid"/>
              <a:miter lim="800000"/>
              <a:headEnd len="sm" w="sm" type="none"/>
              <a:tailEnd len="sm" w="sm" type="none"/>
            </a:ln>
          </p:spPr>
        </p:cxnSp>
      </p:grpSp>
      <p:grpSp>
        <p:nvGrpSpPr>
          <p:cNvPr id="160" name="Google Shape;160;p6"/>
          <p:cNvGrpSpPr/>
          <p:nvPr/>
        </p:nvGrpSpPr>
        <p:grpSpPr>
          <a:xfrm>
            <a:off x="6285470" y="2500751"/>
            <a:ext cx="2074983" cy="575853"/>
            <a:chOff x="6285470" y="2500751"/>
            <a:chExt cx="2074983" cy="575853"/>
          </a:xfrm>
        </p:grpSpPr>
        <p:cxnSp>
          <p:nvCxnSpPr>
            <p:cNvPr id="161" name="Google Shape;161;p6"/>
            <p:cNvCxnSpPr/>
            <p:nvPr/>
          </p:nvCxnSpPr>
          <p:spPr>
            <a:xfrm flipH="1">
              <a:off x="7074578" y="2523977"/>
              <a:ext cx="1285875" cy="260350"/>
            </a:xfrm>
            <a:prstGeom prst="straightConnector1">
              <a:avLst/>
            </a:prstGeom>
            <a:noFill/>
            <a:ln cap="flat" cmpd="sng" w="38100">
              <a:solidFill>
                <a:schemeClr val="dk2"/>
              </a:solidFill>
              <a:prstDash val="dash"/>
              <a:miter lim="800000"/>
              <a:headEnd len="sm" w="sm" type="none"/>
              <a:tailEnd len="med" w="med" type="triangle"/>
            </a:ln>
          </p:spPr>
        </p:cxnSp>
        <p:sp>
          <p:nvSpPr>
            <p:cNvPr id="162" name="Google Shape;162;p6"/>
            <p:cNvSpPr txBox="1"/>
            <p:nvPr/>
          </p:nvSpPr>
          <p:spPr>
            <a:xfrm>
              <a:off x="6285470" y="2500751"/>
              <a:ext cx="1362074" cy="575853"/>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600"/>
                </a:spcBef>
                <a:spcAft>
                  <a:spcPts val="600"/>
                </a:spcAft>
                <a:buClr>
                  <a:srgbClr val="595959"/>
                </a:buClr>
                <a:buSzPts val="3200"/>
                <a:buFont typeface="Calibri"/>
                <a:buNone/>
              </a:pPr>
              <a:r>
                <a:rPr b="0" i="0" lang="en-US" sz="2400" u="none" cap="none" strike="noStrike">
                  <a:solidFill>
                    <a:srgbClr val="595959"/>
                  </a:solidFill>
                  <a:latin typeface="Consolas"/>
                  <a:ea typeface="Consolas"/>
                  <a:cs typeface="Consolas"/>
                  <a:sym typeface="Consolas"/>
                </a:rPr>
                <a:t>NODO</a:t>
              </a:r>
              <a:endParaRPr b="0" i="0" sz="2400" u="none" cap="none" strike="noStrike">
                <a:solidFill>
                  <a:srgbClr val="595959"/>
                </a:solidFill>
                <a:latin typeface="Consolas"/>
                <a:ea typeface="Consolas"/>
                <a:cs typeface="Consolas"/>
                <a:sym typeface="Consolas"/>
              </a:endParaRPr>
            </a:p>
          </p:txBody>
        </p:sp>
      </p:grpSp>
      <p:grpSp>
        <p:nvGrpSpPr>
          <p:cNvPr id="163" name="Google Shape;163;p6"/>
          <p:cNvGrpSpPr/>
          <p:nvPr/>
        </p:nvGrpSpPr>
        <p:grpSpPr>
          <a:xfrm>
            <a:off x="11057590" y="3311393"/>
            <a:ext cx="1362074" cy="1000623"/>
            <a:chOff x="11057590" y="3311393"/>
            <a:chExt cx="1362074" cy="1000623"/>
          </a:xfrm>
        </p:grpSpPr>
        <p:cxnSp>
          <p:nvCxnSpPr>
            <p:cNvPr id="164" name="Google Shape;164;p6"/>
            <p:cNvCxnSpPr/>
            <p:nvPr/>
          </p:nvCxnSpPr>
          <p:spPr>
            <a:xfrm>
              <a:off x="11205227" y="3311393"/>
              <a:ext cx="260762" cy="503249"/>
            </a:xfrm>
            <a:prstGeom prst="straightConnector1">
              <a:avLst/>
            </a:prstGeom>
            <a:noFill/>
            <a:ln cap="flat" cmpd="sng" w="38100">
              <a:solidFill>
                <a:schemeClr val="dk2"/>
              </a:solidFill>
              <a:prstDash val="dash"/>
              <a:miter lim="800000"/>
              <a:headEnd len="sm" w="sm" type="none"/>
              <a:tailEnd len="med" w="med" type="triangle"/>
            </a:ln>
          </p:spPr>
        </p:cxnSp>
        <p:sp>
          <p:nvSpPr>
            <p:cNvPr id="165" name="Google Shape;165;p6"/>
            <p:cNvSpPr txBox="1"/>
            <p:nvPr/>
          </p:nvSpPr>
          <p:spPr>
            <a:xfrm>
              <a:off x="11057590" y="3736163"/>
              <a:ext cx="1362074" cy="575853"/>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600"/>
                </a:spcBef>
                <a:spcAft>
                  <a:spcPts val="600"/>
                </a:spcAft>
                <a:buClr>
                  <a:srgbClr val="595959"/>
                </a:buClr>
                <a:buSzPts val="3200"/>
                <a:buFont typeface="Calibri"/>
                <a:buNone/>
              </a:pPr>
              <a:r>
                <a:rPr b="0" i="0" lang="en-US" sz="2400" u="none" cap="none" strike="noStrike">
                  <a:solidFill>
                    <a:srgbClr val="595959"/>
                  </a:solidFill>
                  <a:latin typeface="Consolas"/>
                  <a:ea typeface="Consolas"/>
                  <a:cs typeface="Consolas"/>
                  <a:sym typeface="Consolas"/>
                </a:rPr>
                <a:t>HOJA</a:t>
              </a:r>
              <a:endParaRPr b="0" i="0" sz="2400" u="none" cap="none" strike="noStrike">
                <a:solidFill>
                  <a:srgbClr val="595959"/>
                </a:solidFill>
                <a:latin typeface="Consolas"/>
                <a:ea typeface="Consolas"/>
                <a:cs typeface="Consolas"/>
                <a:sym typeface="Consolas"/>
              </a:endParaRPr>
            </a:p>
          </p:txBody>
        </p:sp>
      </p:grpSp>
      <p:sp>
        <p:nvSpPr>
          <p:cNvPr id="166" name="Google Shape;166;p6"/>
          <p:cNvSpPr/>
          <p:nvPr/>
        </p:nvSpPr>
        <p:spPr>
          <a:xfrm>
            <a:off x="7743263" y="5158169"/>
            <a:ext cx="681051" cy="698022"/>
          </a:xfrm>
          <a:prstGeom prst="ellipse">
            <a:avLst/>
          </a:prstGeom>
          <a:solidFill>
            <a:srgbClr val="D0CECE"/>
          </a:solid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grpSp>
        <p:nvGrpSpPr>
          <p:cNvPr id="167" name="Google Shape;167;p6"/>
          <p:cNvGrpSpPr/>
          <p:nvPr/>
        </p:nvGrpSpPr>
        <p:grpSpPr>
          <a:xfrm>
            <a:off x="8702232" y="4909960"/>
            <a:ext cx="3138001" cy="538170"/>
            <a:chOff x="8702232" y="4909960"/>
            <a:chExt cx="3138001" cy="538170"/>
          </a:xfrm>
        </p:grpSpPr>
        <p:cxnSp>
          <p:nvCxnSpPr>
            <p:cNvPr id="168" name="Google Shape;168;p6"/>
            <p:cNvCxnSpPr/>
            <p:nvPr/>
          </p:nvCxnSpPr>
          <p:spPr>
            <a:xfrm flipH="1">
              <a:off x="8702232" y="5187780"/>
              <a:ext cx="1285875" cy="260350"/>
            </a:xfrm>
            <a:prstGeom prst="straightConnector1">
              <a:avLst/>
            </a:prstGeom>
            <a:noFill/>
            <a:ln cap="flat" cmpd="sng" w="38100">
              <a:solidFill>
                <a:schemeClr val="dk2"/>
              </a:solidFill>
              <a:prstDash val="dash"/>
              <a:miter lim="800000"/>
              <a:headEnd len="sm" w="sm" type="none"/>
              <a:tailEnd len="med" w="med" type="triangle"/>
            </a:ln>
          </p:spPr>
        </p:cxnSp>
        <p:sp>
          <p:nvSpPr>
            <p:cNvPr id="169" name="Google Shape;169;p6"/>
            <p:cNvSpPr txBox="1"/>
            <p:nvPr/>
          </p:nvSpPr>
          <p:spPr>
            <a:xfrm>
              <a:off x="9052584" y="4909960"/>
              <a:ext cx="2787649" cy="4603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2400"/>
                <a:buFont typeface="Consolas"/>
                <a:buNone/>
              </a:pPr>
              <a:r>
                <a:rPr b="0" i="0" lang="en-US" sz="2400" u="none" cap="none" strike="noStrike">
                  <a:solidFill>
                    <a:srgbClr val="3B3838"/>
                  </a:solidFill>
                  <a:latin typeface="Consolas"/>
                  <a:ea typeface="Consolas"/>
                  <a:cs typeface="Consolas"/>
                  <a:sym typeface="Consolas"/>
                </a:rPr>
                <a:t>RAÍZ</a:t>
              </a:r>
              <a:endParaRPr b="0" i="0" sz="1400" u="none" cap="none" strike="noStrike">
                <a:solidFill>
                  <a:srgbClr val="000000"/>
                </a:solidFill>
                <a:latin typeface="Arial"/>
                <a:ea typeface="Arial"/>
                <a:cs typeface="Arial"/>
                <a:sym typeface="Arial"/>
              </a:endParaRPr>
            </a:p>
          </p:txBody>
        </p:sp>
      </p:grpSp>
      <p:sp>
        <p:nvSpPr>
          <p:cNvPr id="170" name="Google Shape;170;p6"/>
          <p:cNvSpPr txBox="1"/>
          <p:nvPr/>
        </p:nvSpPr>
        <p:spPr>
          <a:xfrm>
            <a:off x="46090" y="6359831"/>
            <a:ext cx="2717346" cy="4095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cap="none" strike="noStrike">
                <a:solidFill>
                  <a:srgbClr val="595959"/>
                </a:solidFill>
                <a:latin typeface="Tahoma"/>
                <a:ea typeface="Tahoma"/>
                <a:cs typeface="Tahoma"/>
                <a:sym typeface="Tahoma"/>
              </a:rPr>
              <a:t>Clase 3-1 – Módulo Imperativo</a:t>
            </a:r>
            <a:endParaRPr b="0" i="0" sz="1400" u="none" cap="none" strike="noStrike">
              <a:solidFill>
                <a:srgbClr val="000000"/>
              </a:solidFill>
              <a:latin typeface="Arial"/>
              <a:ea typeface="Arial"/>
              <a:cs typeface="Arial"/>
              <a:sym typeface="Arial"/>
            </a:endParaRPr>
          </a:p>
        </p:txBody>
      </p:sp>
      <p:sp>
        <p:nvSpPr>
          <p:cNvPr id="171" name="Google Shape;171;p6"/>
          <p:cNvSpPr txBox="1"/>
          <p:nvPr/>
        </p:nvSpPr>
        <p:spPr>
          <a:xfrm>
            <a:off x="3909727" y="5195276"/>
            <a:ext cx="2940379" cy="1292621"/>
          </a:xfrm>
          <a:prstGeom prst="rect">
            <a:avLst/>
          </a:prstGeom>
          <a:noFill/>
          <a:ln cap="flat" cmpd="sng" w="38100">
            <a:solidFill>
              <a:schemeClr val="accent4"/>
            </a:solidFill>
            <a:prstDash val="dash"/>
            <a:round/>
            <a:headEnd len="sm" w="sm" type="none"/>
            <a:tailEnd len="sm" w="sm" type="none"/>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595959"/>
              </a:buClr>
              <a:buSzPts val="2400"/>
              <a:buFont typeface="Consolas"/>
              <a:buNone/>
            </a:pPr>
            <a:r>
              <a:rPr b="0" i="0" lang="en-US" sz="2600" u="none" cap="none" strike="noStrike">
                <a:solidFill>
                  <a:srgbClr val="595959"/>
                </a:solidFill>
                <a:latin typeface="Architects Daughter"/>
                <a:ea typeface="Architects Daughter"/>
                <a:cs typeface="Architects Daughter"/>
                <a:sym typeface="Architects Daughter"/>
              </a:rPr>
              <a:t>Qué característica cumple cualquier tipo de arbol ?</a:t>
            </a:r>
            <a:endParaRPr b="0" i="0" sz="2600" u="none" cap="none" strike="noStrike">
              <a:solidFill>
                <a:srgbClr val="000000"/>
              </a:solidFill>
              <a:latin typeface="Architects Daughter"/>
              <a:ea typeface="Architects Daughter"/>
              <a:cs typeface="Architects Daughter"/>
              <a:sym typeface="Architects Daughter"/>
            </a:endParaRPr>
          </a:p>
        </p:txBody>
      </p:sp>
      <p:grpSp>
        <p:nvGrpSpPr>
          <p:cNvPr id="172" name="Google Shape;172;p6"/>
          <p:cNvGrpSpPr/>
          <p:nvPr/>
        </p:nvGrpSpPr>
        <p:grpSpPr>
          <a:xfrm>
            <a:off x="10173570" y="1059976"/>
            <a:ext cx="1996431" cy="636144"/>
            <a:chOff x="10173570" y="1059976"/>
            <a:chExt cx="1996431" cy="636144"/>
          </a:xfrm>
        </p:grpSpPr>
        <p:cxnSp>
          <p:nvCxnSpPr>
            <p:cNvPr id="173" name="Google Shape;173;p6"/>
            <p:cNvCxnSpPr/>
            <p:nvPr/>
          </p:nvCxnSpPr>
          <p:spPr>
            <a:xfrm flipH="1">
              <a:off x="10173570" y="1435770"/>
              <a:ext cx="1285875" cy="260350"/>
            </a:xfrm>
            <a:prstGeom prst="straightConnector1">
              <a:avLst/>
            </a:prstGeom>
            <a:noFill/>
            <a:ln cap="flat" cmpd="sng" w="38100">
              <a:solidFill>
                <a:schemeClr val="dk2"/>
              </a:solidFill>
              <a:prstDash val="dash"/>
              <a:miter lim="800000"/>
              <a:headEnd len="sm" w="sm" type="none"/>
              <a:tailEnd len="med" w="med" type="triangle"/>
            </a:ln>
          </p:spPr>
        </p:cxnSp>
        <p:sp>
          <p:nvSpPr>
            <p:cNvPr id="174" name="Google Shape;174;p6"/>
            <p:cNvSpPr txBox="1"/>
            <p:nvPr/>
          </p:nvSpPr>
          <p:spPr>
            <a:xfrm>
              <a:off x="10523922" y="1059976"/>
              <a:ext cx="1646079" cy="4603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2400"/>
                <a:buFont typeface="Consolas"/>
                <a:buNone/>
              </a:pPr>
              <a:r>
                <a:rPr b="0" i="0" lang="en-US" sz="2400" u="none" cap="none" strike="noStrike">
                  <a:solidFill>
                    <a:srgbClr val="3B3838"/>
                  </a:solidFill>
                  <a:latin typeface="Consolas"/>
                  <a:ea typeface="Consolas"/>
                  <a:cs typeface="Consolas"/>
                  <a:sym typeface="Consolas"/>
                </a:rPr>
                <a:t>RAÍZ</a:t>
              </a:r>
              <a:endParaRPr b="0" i="0" sz="1400" u="none" cap="none" strike="noStrike">
                <a:solidFill>
                  <a:srgbClr val="000000"/>
                </a:solidFill>
                <a:latin typeface="Arial"/>
                <a:ea typeface="Arial"/>
                <a:cs typeface="Arial"/>
                <a:sym typeface="Arial"/>
              </a:endParaRPr>
            </a:p>
          </p:txBody>
        </p:sp>
      </p:grp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1000"/>
                                        <p:tgtEl>
                                          <p:spTgt spid="1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2"/>
                                        </p:tgtEl>
                                        <p:attrNameLst>
                                          <p:attrName>style.visibility</p:attrName>
                                        </p:attrNameLst>
                                      </p:cBhvr>
                                      <p:to>
                                        <p:strVal val="visible"/>
                                      </p:to>
                                    </p:set>
                                    <p:animEffect filter="fade" transition="in">
                                      <p:cBhvr>
                                        <p:cTn dur="1000"/>
                                        <p:tgtEl>
                                          <p:spTgt spid="1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
                                        </p:tgtEl>
                                        <p:attrNameLst>
                                          <p:attrName>style.visibility</p:attrName>
                                        </p:attrNameLst>
                                      </p:cBhvr>
                                      <p:to>
                                        <p:strVal val="visible"/>
                                      </p:to>
                                    </p:set>
                                    <p:animEffect filter="fade" transition="in">
                                      <p:cBhvr>
                                        <p:cTn dur="1250"/>
                                        <p:tgtEl>
                                          <p:spTgt spid="1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8"/>
                                        </p:tgtEl>
                                        <p:attrNameLst>
                                          <p:attrName>style.visibility</p:attrName>
                                        </p:attrNameLst>
                                      </p:cBhvr>
                                      <p:to>
                                        <p:strVal val="visible"/>
                                      </p:to>
                                    </p:set>
                                    <p:animEffect filter="fade" transition="in">
                                      <p:cBhvr>
                                        <p:cTn dur="1000"/>
                                        <p:tgtEl>
                                          <p:spTgt spid="1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2"/>
                                        </p:tgtEl>
                                        <p:attrNameLst>
                                          <p:attrName>style.visibility</p:attrName>
                                        </p:attrNameLst>
                                      </p:cBhvr>
                                      <p:to>
                                        <p:strVal val="visible"/>
                                      </p:to>
                                    </p:set>
                                    <p:animEffect filter="fade" transition="in">
                                      <p:cBhvr>
                                        <p:cTn dur="1000"/>
                                        <p:tgtEl>
                                          <p:spTgt spid="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000"/>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3"/>
                                        </p:tgtEl>
                                        <p:attrNameLst>
                                          <p:attrName>style.visibility</p:attrName>
                                        </p:attrNameLst>
                                      </p:cBhvr>
                                      <p:to>
                                        <p:strVal val="visible"/>
                                      </p:to>
                                    </p:set>
                                    <p:animEffect filter="fade" transition="in">
                                      <p:cBhvr>
                                        <p:cTn dur="1000"/>
                                        <p:tgtEl>
                                          <p:spTgt spid="1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
                                        </p:tgtEl>
                                        <p:attrNameLst>
                                          <p:attrName>style.visibility</p:attrName>
                                        </p:attrNameLst>
                                      </p:cBhvr>
                                      <p:to>
                                        <p:strVal val="visible"/>
                                      </p:to>
                                    </p:set>
                                    <p:animEffect filter="fade" transition="in">
                                      <p:cBhvr>
                                        <p:cTn dur="1000"/>
                                        <p:tgtEl>
                                          <p:spTgt spid="17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6"/>
          <p:cNvSpPr/>
          <p:nvPr/>
        </p:nvSpPr>
        <p:spPr>
          <a:xfrm>
            <a:off x="152400" y="1173957"/>
            <a:ext cx="11793084" cy="688033"/>
          </a:xfrm>
          <a:prstGeom prst="roundRect">
            <a:avLst>
              <a:gd fmla="val 16667" name="adj"/>
            </a:avLst>
          </a:prstGeom>
          <a:solidFill>
            <a:schemeClr val="lt2"/>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0" name="Google Shape;180;p16"/>
          <p:cNvSpPr/>
          <p:nvPr/>
        </p:nvSpPr>
        <p:spPr>
          <a:xfrm>
            <a:off x="152400" y="2012444"/>
            <a:ext cx="11793084" cy="688033"/>
          </a:xfrm>
          <a:prstGeom prst="roundRect">
            <a:avLst>
              <a:gd fmla="val 16667" name="adj"/>
            </a:avLst>
          </a:prstGeom>
          <a:solidFill>
            <a:schemeClr val="lt2"/>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1" name="Google Shape;181;p16"/>
          <p:cNvSpPr txBox="1"/>
          <p:nvPr/>
        </p:nvSpPr>
        <p:spPr>
          <a:xfrm>
            <a:off x="936625" y="274637"/>
            <a:ext cx="11104562" cy="741362"/>
          </a:xfrm>
          <a:prstGeom prst="rect">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pic>
        <p:nvPicPr>
          <p:cNvPr descr="Imagen que contiene dibujo&#10;&#10;Descripción generada automáticamente" id="182" name="Google Shape;182;p16"/>
          <p:cNvPicPr preferRelativeResize="0"/>
          <p:nvPr/>
        </p:nvPicPr>
        <p:blipFill rotWithShape="1">
          <a:blip r:embed="rId3">
            <a:alphaModFix/>
          </a:blip>
          <a:srcRect b="0" l="0" r="0" t="0"/>
          <a:stretch/>
        </p:blipFill>
        <p:spPr>
          <a:xfrm>
            <a:off x="21999" y="177267"/>
            <a:ext cx="936103" cy="936103"/>
          </a:xfrm>
          <a:prstGeom prst="rect">
            <a:avLst/>
          </a:prstGeom>
          <a:noFill/>
          <a:ln>
            <a:noFill/>
          </a:ln>
        </p:spPr>
      </p:pic>
      <p:sp>
        <p:nvSpPr>
          <p:cNvPr id="183" name="Google Shape;183;p16"/>
          <p:cNvSpPr txBox="1"/>
          <p:nvPr/>
        </p:nvSpPr>
        <p:spPr>
          <a:xfrm>
            <a:off x="1146175" y="273050"/>
            <a:ext cx="10661650"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4000"/>
              <a:buFont typeface="Calibri"/>
              <a:buNone/>
            </a:pPr>
            <a:r>
              <a:rPr b="0" i="0" lang="en-US" sz="4000" u="none" cap="none" strike="noStrike">
                <a:solidFill>
                  <a:schemeClr val="lt1"/>
                </a:solidFill>
                <a:latin typeface="Calibri"/>
                <a:ea typeface="Calibri"/>
                <a:cs typeface="Calibri"/>
                <a:sym typeface="Calibri"/>
              </a:rPr>
              <a:t>ÁRBOLES - Características</a:t>
            </a:r>
            <a:endParaRPr b="0" i="0" sz="1400" u="none" cap="none" strike="noStrike">
              <a:solidFill>
                <a:srgbClr val="000000"/>
              </a:solidFill>
              <a:latin typeface="Arial"/>
              <a:ea typeface="Arial"/>
              <a:cs typeface="Arial"/>
              <a:sym typeface="Arial"/>
            </a:endParaRPr>
          </a:p>
        </p:txBody>
      </p:sp>
      <p:sp>
        <p:nvSpPr>
          <p:cNvPr id="184" name="Google Shape;184;p16"/>
          <p:cNvSpPr txBox="1"/>
          <p:nvPr/>
        </p:nvSpPr>
        <p:spPr>
          <a:xfrm>
            <a:off x="21999" y="6378575"/>
            <a:ext cx="2717346" cy="4095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cap="none" strike="noStrike">
                <a:solidFill>
                  <a:srgbClr val="595959"/>
                </a:solidFill>
                <a:latin typeface="Tahoma"/>
                <a:ea typeface="Tahoma"/>
                <a:cs typeface="Tahoma"/>
                <a:sym typeface="Tahoma"/>
              </a:rPr>
              <a:t>Clase 3-1 – Módulo Imperativo</a:t>
            </a:r>
            <a:endParaRPr b="0" i="0" sz="1400" u="none" cap="none" strike="noStrike">
              <a:solidFill>
                <a:srgbClr val="000000"/>
              </a:solidFill>
              <a:latin typeface="Arial"/>
              <a:ea typeface="Arial"/>
              <a:cs typeface="Arial"/>
              <a:sym typeface="Arial"/>
            </a:endParaRPr>
          </a:p>
        </p:txBody>
      </p:sp>
      <p:sp>
        <p:nvSpPr>
          <p:cNvPr id="185" name="Google Shape;185;p16"/>
          <p:cNvSpPr txBox="1"/>
          <p:nvPr/>
        </p:nvSpPr>
        <p:spPr>
          <a:xfrm>
            <a:off x="402772" y="1301302"/>
            <a:ext cx="5942700" cy="523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Todo árbol es una estructura jerárquica</a:t>
            </a:r>
            <a:endParaRPr b="0" i="0" sz="2800" u="none" cap="none" strike="noStrike">
              <a:solidFill>
                <a:srgbClr val="000000"/>
              </a:solidFill>
              <a:latin typeface="Calibri"/>
              <a:ea typeface="Calibri"/>
              <a:cs typeface="Calibri"/>
              <a:sym typeface="Calibri"/>
            </a:endParaRPr>
          </a:p>
        </p:txBody>
      </p:sp>
      <p:sp>
        <p:nvSpPr>
          <p:cNvPr id="186" name="Google Shape;186;p16"/>
          <p:cNvSpPr txBox="1"/>
          <p:nvPr/>
        </p:nvSpPr>
        <p:spPr>
          <a:xfrm>
            <a:off x="402772" y="2129132"/>
            <a:ext cx="5796780"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Todo árbol es una estructura dinámica</a:t>
            </a:r>
            <a:endParaRPr b="0" i="0" sz="2800" u="none" cap="none" strike="noStrike">
              <a:solidFill>
                <a:srgbClr val="000000"/>
              </a:solidFill>
              <a:latin typeface="Calibri"/>
              <a:ea typeface="Calibri"/>
              <a:cs typeface="Calibri"/>
              <a:sym typeface="Calibri"/>
            </a:endParaRPr>
          </a:p>
        </p:txBody>
      </p:sp>
      <p:sp>
        <p:nvSpPr>
          <p:cNvPr id="187" name="Google Shape;187;p16"/>
          <p:cNvSpPr/>
          <p:nvPr/>
        </p:nvSpPr>
        <p:spPr>
          <a:xfrm>
            <a:off x="152400" y="3704082"/>
            <a:ext cx="11793084" cy="688033"/>
          </a:xfrm>
          <a:prstGeom prst="roundRect">
            <a:avLst>
              <a:gd fmla="val 16667" name="adj"/>
            </a:avLst>
          </a:prstGeom>
          <a:solidFill>
            <a:schemeClr val="lt2"/>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8" name="Google Shape;188;p16"/>
          <p:cNvSpPr txBox="1"/>
          <p:nvPr/>
        </p:nvSpPr>
        <p:spPr>
          <a:xfrm>
            <a:off x="417513" y="3769399"/>
            <a:ext cx="746229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Para crear un árbol siempre se empieza por la raíz</a:t>
            </a:r>
            <a:endParaRPr b="0" i="0" sz="2800" u="none" cap="none" strike="noStrike">
              <a:solidFill>
                <a:srgbClr val="000000"/>
              </a:solidFill>
              <a:latin typeface="Calibri"/>
              <a:ea typeface="Calibri"/>
              <a:cs typeface="Calibri"/>
              <a:sym typeface="Calibri"/>
            </a:endParaRPr>
          </a:p>
        </p:txBody>
      </p:sp>
      <p:sp>
        <p:nvSpPr>
          <p:cNvPr id="189" name="Google Shape;189;p16"/>
          <p:cNvSpPr/>
          <p:nvPr/>
        </p:nvSpPr>
        <p:spPr>
          <a:xfrm>
            <a:off x="152400" y="2851465"/>
            <a:ext cx="11793084" cy="688033"/>
          </a:xfrm>
          <a:prstGeom prst="roundRect">
            <a:avLst>
              <a:gd fmla="val 16667" name="adj"/>
            </a:avLst>
          </a:prstGeom>
          <a:solidFill>
            <a:schemeClr val="lt2"/>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0" name="Google Shape;190;p16"/>
          <p:cNvSpPr txBox="1"/>
          <p:nvPr/>
        </p:nvSpPr>
        <p:spPr>
          <a:xfrm>
            <a:off x="420686" y="2916782"/>
            <a:ext cx="6211957"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Todo árbol es una estructura homogénea</a:t>
            </a:r>
            <a:endParaRPr b="0" i="0" sz="2800" u="none" cap="none" strike="noStrike">
              <a:solidFill>
                <a:srgbClr val="000000"/>
              </a:solidFill>
              <a:latin typeface="Calibri"/>
              <a:ea typeface="Calibri"/>
              <a:cs typeface="Calibri"/>
              <a:sym typeface="Calibri"/>
            </a:endParaRPr>
          </a:p>
        </p:txBody>
      </p:sp>
      <p:sp>
        <p:nvSpPr>
          <p:cNvPr id="191" name="Google Shape;191;p16"/>
          <p:cNvSpPr/>
          <p:nvPr/>
        </p:nvSpPr>
        <p:spPr>
          <a:xfrm>
            <a:off x="152400" y="4513157"/>
            <a:ext cx="11793084" cy="688033"/>
          </a:xfrm>
          <a:prstGeom prst="roundRect">
            <a:avLst>
              <a:gd fmla="val 16667" name="adj"/>
            </a:avLst>
          </a:prstGeom>
          <a:solidFill>
            <a:schemeClr val="lt2"/>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2" name="Google Shape;192;p16"/>
          <p:cNvSpPr txBox="1"/>
          <p:nvPr/>
        </p:nvSpPr>
        <p:spPr>
          <a:xfrm>
            <a:off x="417513" y="4578474"/>
            <a:ext cx="6558206"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Un árbol vacío se representa con el valor nil</a:t>
            </a:r>
            <a:endParaRPr b="0" i="0" sz="2800" u="none" cap="none" strike="noStrike">
              <a:solidFill>
                <a:srgbClr val="000000"/>
              </a:solidFill>
              <a:latin typeface="Calibri"/>
              <a:ea typeface="Calibri"/>
              <a:cs typeface="Calibri"/>
              <a:sym typeface="Calibri"/>
            </a:endParaRPr>
          </a:p>
        </p:txBody>
      </p:sp>
      <p:sp>
        <p:nvSpPr>
          <p:cNvPr id="193" name="Google Shape;193;p16"/>
          <p:cNvSpPr txBox="1"/>
          <p:nvPr/>
        </p:nvSpPr>
        <p:spPr>
          <a:xfrm>
            <a:off x="2916898" y="6188389"/>
            <a:ext cx="5820702" cy="492402"/>
          </a:xfrm>
          <a:prstGeom prst="rect">
            <a:avLst/>
          </a:prstGeom>
          <a:noFill/>
          <a:ln cap="flat" cmpd="sng" w="38100">
            <a:solidFill>
              <a:schemeClr val="accent4"/>
            </a:solidFill>
            <a:prstDash val="dash"/>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595959"/>
              </a:buClr>
              <a:buSzPts val="2400"/>
              <a:buFont typeface="Consolas"/>
              <a:buNone/>
            </a:pPr>
            <a:r>
              <a:rPr b="0" i="0" lang="en-US" sz="2600" u="none" cap="none" strike="noStrike">
                <a:solidFill>
                  <a:srgbClr val="595959"/>
                </a:solidFill>
                <a:latin typeface="Architects Daughter"/>
                <a:ea typeface="Architects Daughter"/>
                <a:cs typeface="Architects Daughter"/>
                <a:sym typeface="Architects Daughter"/>
              </a:rPr>
              <a:t>Con qué tipo de arbol vamos a trabajar ?</a:t>
            </a:r>
            <a:endParaRPr b="0" i="0" sz="2600" u="none" cap="none" strike="noStrike">
              <a:solidFill>
                <a:srgbClr val="000000"/>
              </a:solidFill>
              <a:latin typeface="Architects Daughter"/>
              <a:ea typeface="Architects Daughter"/>
              <a:cs typeface="Architects Daughter"/>
              <a:sym typeface="Architects Daughter"/>
            </a:endParaRPr>
          </a:p>
        </p:txBody>
      </p:sp>
      <p:sp>
        <p:nvSpPr>
          <p:cNvPr id="194" name="Google Shape;194;p16"/>
          <p:cNvSpPr txBox="1"/>
          <p:nvPr/>
        </p:nvSpPr>
        <p:spPr>
          <a:xfrm>
            <a:off x="8987498" y="6176171"/>
            <a:ext cx="2961388" cy="492402"/>
          </a:xfrm>
          <a:prstGeom prst="rect">
            <a:avLst/>
          </a:prstGeom>
          <a:noFill/>
          <a:ln cap="flat" cmpd="sng" w="38100">
            <a:solidFill>
              <a:schemeClr val="accent4"/>
            </a:solidFill>
            <a:prstDash val="dash"/>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595959"/>
              </a:buClr>
              <a:buSzPts val="2400"/>
              <a:buFont typeface="Consolas"/>
              <a:buNone/>
            </a:pPr>
            <a:r>
              <a:rPr b="0" i="0" lang="en-US" sz="2600" u="none" cap="none" strike="noStrike">
                <a:solidFill>
                  <a:srgbClr val="595959"/>
                </a:solidFill>
                <a:latin typeface="Architects Daughter"/>
                <a:ea typeface="Architects Daughter"/>
                <a:cs typeface="Architects Daughter"/>
                <a:sym typeface="Architects Daughter"/>
              </a:rPr>
              <a:t>Cómo se declara?</a:t>
            </a:r>
            <a:endParaRPr b="0" i="0" sz="2600" u="none" cap="none" strike="noStrike">
              <a:solidFill>
                <a:srgbClr val="000000"/>
              </a:solidFill>
              <a:latin typeface="Architects Daughter"/>
              <a:ea typeface="Architects Daughter"/>
              <a:cs typeface="Architects Daughter"/>
              <a:sym typeface="Architects Daughter"/>
            </a:endParaRPr>
          </a:p>
        </p:txBody>
      </p:sp>
      <p:sp>
        <p:nvSpPr>
          <p:cNvPr id="195" name="Google Shape;195;p16"/>
          <p:cNvSpPr/>
          <p:nvPr/>
        </p:nvSpPr>
        <p:spPr>
          <a:xfrm>
            <a:off x="152400" y="5335697"/>
            <a:ext cx="11793084" cy="688033"/>
          </a:xfrm>
          <a:prstGeom prst="roundRect">
            <a:avLst>
              <a:gd fmla="val 16667" name="adj"/>
            </a:avLst>
          </a:prstGeom>
          <a:solidFill>
            <a:schemeClr val="lt2"/>
          </a:solidFill>
          <a:ln cap="flat" cmpd="sng" w="25400">
            <a:solidFill>
              <a:srgbClr val="7F7F7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6" name="Google Shape;196;p16"/>
          <p:cNvSpPr txBox="1"/>
          <p:nvPr/>
        </p:nvSpPr>
        <p:spPr>
          <a:xfrm>
            <a:off x="417513" y="5401014"/>
            <a:ext cx="7345281"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Calibri"/>
                <a:ea typeface="Calibri"/>
                <a:cs typeface="Calibri"/>
                <a:sym typeface="Calibri"/>
              </a:rPr>
              <a:t>Un nuevo dato siempre se inserta como una hoja</a:t>
            </a:r>
            <a:endParaRPr b="0" i="0" sz="2800" u="none" cap="none" strike="noStrike">
              <a:solidFill>
                <a:srgbClr val="000000"/>
              </a:solidFill>
              <a:latin typeface="Calibri"/>
              <a:ea typeface="Calibri"/>
              <a:cs typeface="Calibri"/>
              <a:sym typeface="Calibri"/>
            </a:endParaRPr>
          </a:p>
        </p:txBody>
      </p: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5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500"/>
                                        <p:tgtEl>
                                          <p:spTgt spid="1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8"/>
          <p:cNvSpPr txBox="1"/>
          <p:nvPr/>
        </p:nvSpPr>
        <p:spPr>
          <a:xfrm>
            <a:off x="936625" y="274637"/>
            <a:ext cx="11104562" cy="741362"/>
          </a:xfrm>
          <a:prstGeom prst="rect">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pic>
        <p:nvPicPr>
          <p:cNvPr descr="Imagen que contiene dibujo&#10;&#10;Descripción generada automáticamente" id="202" name="Google Shape;202;p18"/>
          <p:cNvPicPr preferRelativeResize="0"/>
          <p:nvPr/>
        </p:nvPicPr>
        <p:blipFill rotWithShape="1">
          <a:blip r:embed="rId3">
            <a:alphaModFix/>
          </a:blip>
          <a:srcRect b="0" l="0" r="0" t="0"/>
          <a:stretch/>
        </p:blipFill>
        <p:spPr>
          <a:xfrm>
            <a:off x="21999" y="177267"/>
            <a:ext cx="936103" cy="936103"/>
          </a:xfrm>
          <a:prstGeom prst="rect">
            <a:avLst/>
          </a:prstGeom>
          <a:noFill/>
          <a:ln>
            <a:noFill/>
          </a:ln>
        </p:spPr>
      </p:pic>
      <p:sp>
        <p:nvSpPr>
          <p:cNvPr id="203" name="Google Shape;203;p18"/>
          <p:cNvSpPr txBox="1"/>
          <p:nvPr/>
        </p:nvSpPr>
        <p:spPr>
          <a:xfrm>
            <a:off x="1146175" y="273050"/>
            <a:ext cx="10090150" cy="7080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4000"/>
              <a:buFont typeface="Calibri"/>
              <a:buNone/>
            </a:pPr>
            <a:r>
              <a:rPr b="0" i="0" lang="en-US" sz="4000" u="none" cap="none" strike="noStrike">
                <a:solidFill>
                  <a:schemeClr val="lt1"/>
                </a:solidFill>
                <a:latin typeface="Calibri"/>
                <a:ea typeface="Calibri"/>
                <a:cs typeface="Calibri"/>
                <a:sym typeface="Calibri"/>
              </a:rPr>
              <a:t>ÁRBOLES BINARIOS DE BÚSQUEDA- Declaración</a:t>
            </a:r>
            <a:endParaRPr b="0" i="0" sz="1400" u="none" cap="none" strike="noStrike">
              <a:solidFill>
                <a:srgbClr val="000000"/>
              </a:solidFill>
              <a:latin typeface="Arial"/>
              <a:ea typeface="Arial"/>
              <a:cs typeface="Arial"/>
              <a:sym typeface="Arial"/>
            </a:endParaRPr>
          </a:p>
        </p:txBody>
      </p:sp>
      <p:sp>
        <p:nvSpPr>
          <p:cNvPr id="204" name="Google Shape;204;p18"/>
          <p:cNvSpPr txBox="1"/>
          <p:nvPr/>
        </p:nvSpPr>
        <p:spPr>
          <a:xfrm>
            <a:off x="150813" y="1015999"/>
            <a:ext cx="3978275" cy="550916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Programa arboles;</a:t>
            </a:r>
            <a:endParaRPr b="0" i="0" sz="22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Type</a:t>
            </a:r>
            <a:endParaRPr b="0" i="0" sz="22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  arbol = ^nodo;</a:t>
            </a:r>
            <a:endParaRPr b="0" i="0" sz="22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chemeClr val="dk1"/>
              </a:buClr>
              <a:buSzPts val="2200"/>
              <a:buFont typeface="Tahoma"/>
              <a:buNone/>
            </a:pPr>
            <a:r>
              <a:rPr b="0" i="0" lang="en-US" sz="2200" u="none" cap="none" strike="noStrike">
                <a:solidFill>
                  <a:srgbClr val="000000"/>
                </a:solidFill>
                <a:latin typeface="Consolas"/>
                <a:ea typeface="Consolas"/>
                <a:cs typeface="Consolas"/>
                <a:sym typeface="Consolas"/>
              </a:rPr>
              <a:t>  tipo =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200"/>
              <a:buFont typeface="Tahoma"/>
              <a:buNone/>
            </a:pPr>
            <a:r>
              <a:t/>
            </a:r>
            <a:endParaRPr b="0" i="0" sz="22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  nodo = record</a:t>
            </a:r>
            <a:endParaRPr b="0" i="0" sz="22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          dato: tipo;</a:t>
            </a:r>
            <a:endParaRPr b="0" i="0" sz="22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          HI: arbol;</a:t>
            </a:r>
            <a:endParaRPr b="0" i="0" sz="22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          HD: arbol;</a:t>
            </a:r>
            <a:endParaRPr b="0" i="0" sz="22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         end;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2200"/>
              <a:buFont typeface="Tahoma"/>
              <a:buNone/>
            </a:pPr>
            <a:r>
              <a:t/>
            </a:r>
            <a:endParaRPr b="0" i="0" sz="22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Var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 </a:t>
            </a:r>
            <a:r>
              <a:rPr b="1" i="0" lang="en-US" sz="2200" u="none" cap="none" strike="noStrike">
                <a:solidFill>
                  <a:srgbClr val="FFC000"/>
                </a:solidFill>
                <a:latin typeface="Consolas"/>
                <a:ea typeface="Consolas"/>
                <a:cs typeface="Consolas"/>
                <a:sym typeface="Consolas"/>
              </a:rPr>
              <a:t>a:arbol;</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Begin</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Consolas"/>
              <a:buNone/>
            </a:pPr>
            <a:r>
              <a:rPr b="0" i="0" lang="en-US" sz="2200" u="none" cap="none" strike="noStrike">
                <a:solidFill>
                  <a:srgbClr val="000000"/>
                </a:solidFill>
                <a:latin typeface="Consolas"/>
                <a:ea typeface="Consolas"/>
                <a:cs typeface="Consolas"/>
                <a:sym typeface="Consolas"/>
              </a:rPr>
              <a:t>End.</a:t>
            </a:r>
            <a:endParaRPr b="0" i="0" sz="1400" u="none" cap="none" strike="noStrike">
              <a:solidFill>
                <a:srgbClr val="000000"/>
              </a:solidFill>
              <a:latin typeface="Arial"/>
              <a:ea typeface="Arial"/>
              <a:cs typeface="Arial"/>
              <a:sym typeface="Arial"/>
            </a:endParaRPr>
          </a:p>
        </p:txBody>
      </p:sp>
      <p:sp>
        <p:nvSpPr>
          <p:cNvPr id="205" name="Google Shape;205;p18"/>
          <p:cNvSpPr txBox="1"/>
          <p:nvPr/>
        </p:nvSpPr>
        <p:spPr>
          <a:xfrm>
            <a:off x="0" y="6413021"/>
            <a:ext cx="2717346" cy="40957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cap="none" strike="noStrike">
                <a:solidFill>
                  <a:srgbClr val="595959"/>
                </a:solidFill>
                <a:latin typeface="Tahoma"/>
                <a:ea typeface="Tahoma"/>
                <a:cs typeface="Tahoma"/>
                <a:sym typeface="Tahoma"/>
              </a:rPr>
              <a:t>Clase 3-1 – Módulo Imperativo</a:t>
            </a:r>
            <a:endParaRPr b="0" i="0" sz="1400" u="none" cap="none" strike="noStrike">
              <a:solidFill>
                <a:srgbClr val="000000"/>
              </a:solidFill>
              <a:latin typeface="Arial"/>
              <a:ea typeface="Arial"/>
              <a:cs typeface="Arial"/>
              <a:sym typeface="Arial"/>
            </a:endParaRPr>
          </a:p>
        </p:txBody>
      </p:sp>
      <p:sp>
        <p:nvSpPr>
          <p:cNvPr id="206" name="Google Shape;206;p18"/>
          <p:cNvSpPr txBox="1"/>
          <p:nvPr/>
        </p:nvSpPr>
        <p:spPr>
          <a:xfrm>
            <a:off x="3398324" y="1630504"/>
            <a:ext cx="3978275" cy="440116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Programa arbolesEnteros;</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Type</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arbol = ^nodo;</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nodo = record</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dato: integer;</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HI: arbol;</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HD: arbol;</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end;</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chemeClr val="dk1"/>
              </a:buClr>
              <a:buSzPts val="2200"/>
              <a:buFont typeface="Tahoma"/>
              <a:buNone/>
            </a:pPr>
            <a:r>
              <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Var</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a:t>
            </a:r>
            <a:r>
              <a:rPr b="1" i="0" lang="en-US" sz="2000" u="none" cap="none" strike="noStrike">
                <a:solidFill>
                  <a:srgbClr val="FFC000"/>
                </a:solidFill>
                <a:latin typeface="Consolas"/>
                <a:ea typeface="Consolas"/>
                <a:cs typeface="Consolas"/>
                <a:sym typeface="Consolas"/>
              </a:rPr>
              <a:t>a:arbol;</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Begin</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End.</a:t>
            </a:r>
            <a:endParaRPr b="0" i="0" sz="2000" u="none" cap="none" strike="noStrike">
              <a:solidFill>
                <a:srgbClr val="000000"/>
              </a:solidFill>
              <a:latin typeface="Consolas"/>
              <a:ea typeface="Consolas"/>
              <a:cs typeface="Consolas"/>
              <a:sym typeface="Consolas"/>
            </a:endParaRPr>
          </a:p>
        </p:txBody>
      </p:sp>
      <p:sp>
        <p:nvSpPr>
          <p:cNvPr id="207" name="Google Shape;207;p18"/>
          <p:cNvSpPr txBox="1"/>
          <p:nvPr/>
        </p:nvSpPr>
        <p:spPr>
          <a:xfrm>
            <a:off x="7832385" y="1222229"/>
            <a:ext cx="4141904" cy="532449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Programa arbolesPersonas;</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Type</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nsolas"/>
                <a:ea typeface="Consolas"/>
                <a:cs typeface="Consolas"/>
                <a:sym typeface="Consolas"/>
              </a:rPr>
              <a:t> persona = record</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nsolas"/>
                <a:ea typeface="Consolas"/>
                <a:cs typeface="Consolas"/>
                <a:sym typeface="Consolas"/>
              </a:rPr>
              <a:t>   nombre:string;</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nsolas"/>
                <a:ea typeface="Consolas"/>
                <a:cs typeface="Consolas"/>
                <a:sym typeface="Consolas"/>
              </a:rPr>
              <a:t>   dni:integer;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000"/>
              <a:buFont typeface="Arial"/>
              <a:buNone/>
            </a:pPr>
            <a:r>
              <a:rPr b="0" i="0" lang="en-US" sz="2000" u="none" cap="none" strike="noStrike">
                <a:solidFill>
                  <a:srgbClr val="000000"/>
                </a:solidFill>
                <a:latin typeface="Consolas"/>
                <a:ea typeface="Consolas"/>
                <a:cs typeface="Consolas"/>
                <a:sym typeface="Consolas"/>
              </a:rPr>
              <a:t> end;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arbol = ^nodo;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nodo = record</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dato: persona;</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HI: arbol;</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HD: arbol;</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end;</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Var</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a:t>
            </a:r>
            <a:r>
              <a:rPr b="1" i="0" lang="en-US" sz="2000" u="none" cap="none" strike="noStrike">
                <a:solidFill>
                  <a:srgbClr val="FFC000"/>
                </a:solidFill>
                <a:latin typeface="Consolas"/>
                <a:ea typeface="Consolas"/>
                <a:cs typeface="Consolas"/>
                <a:sym typeface="Consolas"/>
              </a:rPr>
              <a:t>a:arbol;</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Begin</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 ….</a:t>
            </a:r>
            <a:endParaRPr b="0" i="0" sz="2000" u="none" cap="none" strike="noStrike">
              <a:solidFill>
                <a:srgbClr val="000000"/>
              </a:solidFill>
              <a:latin typeface="Consolas"/>
              <a:ea typeface="Consolas"/>
              <a:cs typeface="Consolas"/>
              <a:sym typeface="Consolas"/>
            </a:endParaRPr>
          </a:p>
          <a:p>
            <a:pPr indent="0" lvl="0" marL="0" marR="0" rtl="0" algn="just">
              <a:lnSpc>
                <a:spcPct val="100000"/>
              </a:lnSpc>
              <a:spcBef>
                <a:spcPts val="0"/>
              </a:spcBef>
              <a:spcAft>
                <a:spcPts val="0"/>
              </a:spcAft>
              <a:buClr>
                <a:srgbClr val="000000"/>
              </a:buClr>
              <a:buSzPts val="2200"/>
              <a:buFont typeface="Consolas"/>
              <a:buNone/>
            </a:pPr>
            <a:r>
              <a:rPr b="0" i="0" lang="en-US" sz="2000" u="none" cap="none" strike="noStrike">
                <a:solidFill>
                  <a:srgbClr val="000000"/>
                </a:solidFill>
                <a:latin typeface="Consolas"/>
                <a:ea typeface="Consolas"/>
                <a:cs typeface="Consolas"/>
                <a:sym typeface="Consolas"/>
              </a:rPr>
              <a:t>End.</a:t>
            </a:r>
            <a:endParaRPr b="0" i="0" sz="2000" u="none" cap="none" strike="noStrike">
              <a:solidFill>
                <a:srgbClr val="000000"/>
              </a:solidFill>
              <a:latin typeface="Consolas"/>
              <a:ea typeface="Consolas"/>
              <a:cs typeface="Consolas"/>
              <a:sym typeface="Consolas"/>
            </a:endParaRPr>
          </a:p>
        </p:txBody>
      </p:sp>
      <p:sp>
        <p:nvSpPr>
          <p:cNvPr id="208" name="Google Shape;208;p18"/>
          <p:cNvSpPr txBox="1"/>
          <p:nvPr/>
        </p:nvSpPr>
        <p:spPr>
          <a:xfrm>
            <a:off x="4685981" y="5396684"/>
            <a:ext cx="2961388" cy="892512"/>
          </a:xfrm>
          <a:prstGeom prst="rect">
            <a:avLst/>
          </a:prstGeom>
          <a:noFill/>
          <a:ln cap="flat" cmpd="sng" w="38100">
            <a:solidFill>
              <a:srgbClr val="7F7F7F"/>
            </a:solidFill>
            <a:prstDash val="dash"/>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595959"/>
              </a:buClr>
              <a:buSzPts val="2400"/>
              <a:buFont typeface="Consolas"/>
              <a:buNone/>
            </a:pPr>
            <a:r>
              <a:rPr b="0" i="0" lang="en-US" sz="2600" u="none" cap="none" strike="noStrike">
                <a:solidFill>
                  <a:srgbClr val="595959"/>
                </a:solidFill>
                <a:latin typeface="Architects Daughter"/>
                <a:ea typeface="Architects Daughter"/>
                <a:cs typeface="Architects Daughter"/>
                <a:sym typeface="Architects Daughter"/>
              </a:rPr>
              <a:t>Qué caracteróistica tiene un ABB?</a:t>
            </a:r>
            <a:endParaRPr b="0" i="0" sz="2600" u="none" cap="none" strike="noStrike">
              <a:solidFill>
                <a:srgbClr val="000000"/>
              </a:solidFill>
              <a:latin typeface="Architects Daughter"/>
              <a:ea typeface="Architects Daughter"/>
              <a:cs typeface="Architects Daughter"/>
              <a:sym typeface="Architects Daughter"/>
            </a:endParaRPr>
          </a:p>
        </p:txBody>
      </p: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20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gtEl>
                                        <p:attrNameLst>
                                          <p:attrName>style.visibility</p:attrName>
                                        </p:attrNameLst>
                                      </p:cBhvr>
                                      <p:to>
                                        <p:strVal val="visible"/>
                                      </p:to>
                                    </p:set>
                                    <p:animEffect filter="fade" transition="in">
                                      <p:cBhvr>
                                        <p:cTn dur="2000"/>
                                        <p:tgtEl>
                                          <p:spTgt spid="2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
                                        </p:tgtEl>
                                        <p:attrNameLst>
                                          <p:attrName>style.visibility</p:attrName>
                                        </p:attrNameLst>
                                      </p:cBhvr>
                                      <p:to>
                                        <p:strVal val="visible"/>
                                      </p:to>
                                    </p:set>
                                    <p:animEffect filter="fade" transition="in">
                                      <p:cBhvr>
                                        <p:cTn dur="2000"/>
                                        <p:tgtEl>
                                          <p:spTgt spid="2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
                                        </p:tgtEl>
                                        <p:attrNameLst>
                                          <p:attrName>style.visibility</p:attrName>
                                        </p:attrNameLst>
                                      </p:cBhvr>
                                      <p:to>
                                        <p:strVal val="visible"/>
                                      </p:to>
                                    </p:set>
                                    <p:animEffect filter="fade" transition="in">
                                      <p:cBhvr>
                                        <p:cTn dur="1500"/>
                                        <p:tgtEl>
                                          <p:spTgt spid="2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7"/>
          <p:cNvSpPr txBox="1"/>
          <p:nvPr/>
        </p:nvSpPr>
        <p:spPr>
          <a:xfrm>
            <a:off x="47625" y="6432492"/>
            <a:ext cx="2806699" cy="365123"/>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cap="none" strike="noStrike">
                <a:solidFill>
                  <a:srgbClr val="595959"/>
                </a:solidFill>
                <a:latin typeface="Tahoma"/>
                <a:ea typeface="Tahoma"/>
                <a:cs typeface="Tahoma"/>
                <a:sym typeface="Tahoma"/>
              </a:rPr>
              <a:t>Clase 3-1 – Módulo Imperativo</a:t>
            </a:r>
            <a:endParaRPr b="0" i="0" sz="1400" u="none" cap="none" strike="noStrike">
              <a:solidFill>
                <a:srgbClr val="000000"/>
              </a:solidFill>
              <a:latin typeface="Arial"/>
              <a:ea typeface="Arial"/>
              <a:cs typeface="Arial"/>
              <a:sym typeface="Arial"/>
            </a:endParaRPr>
          </a:p>
        </p:txBody>
      </p:sp>
      <p:sp>
        <p:nvSpPr>
          <p:cNvPr id="214" name="Google Shape;214;p7"/>
          <p:cNvSpPr txBox="1"/>
          <p:nvPr/>
        </p:nvSpPr>
        <p:spPr>
          <a:xfrm>
            <a:off x="936625" y="274637"/>
            <a:ext cx="11104562" cy="741362"/>
          </a:xfrm>
          <a:prstGeom prst="rect">
            <a:avLst/>
          </a:prstGeom>
          <a:solidFill>
            <a:srgbClr val="FFC000"/>
          </a:solidFill>
          <a:ln cap="flat" cmpd="sng" w="12700">
            <a:solidFill>
              <a:srgbClr val="FFC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pic>
        <p:nvPicPr>
          <p:cNvPr descr="Imagen que contiene dibujo&#10;&#10;Descripción generada automáticamente" id="215" name="Google Shape;215;p7"/>
          <p:cNvPicPr preferRelativeResize="0"/>
          <p:nvPr/>
        </p:nvPicPr>
        <p:blipFill rotWithShape="1">
          <a:blip r:embed="rId3">
            <a:alphaModFix/>
          </a:blip>
          <a:srcRect b="0" l="0" r="0" t="0"/>
          <a:stretch/>
        </p:blipFill>
        <p:spPr>
          <a:xfrm>
            <a:off x="21999" y="177267"/>
            <a:ext cx="936103" cy="936103"/>
          </a:xfrm>
          <a:prstGeom prst="rect">
            <a:avLst/>
          </a:prstGeom>
          <a:noFill/>
          <a:ln>
            <a:noFill/>
          </a:ln>
        </p:spPr>
      </p:pic>
      <p:sp>
        <p:nvSpPr>
          <p:cNvPr id="216" name="Google Shape;216;p7"/>
          <p:cNvSpPr txBox="1"/>
          <p:nvPr/>
        </p:nvSpPr>
        <p:spPr>
          <a:xfrm>
            <a:off x="1038223" y="273050"/>
            <a:ext cx="11188700" cy="70784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lt1"/>
              </a:buClr>
              <a:buSzPts val="4000"/>
              <a:buFont typeface="Calibri"/>
              <a:buNone/>
            </a:pPr>
            <a:r>
              <a:rPr b="0" i="0" lang="en-US" sz="4000" u="none" cap="none" strike="noStrike">
                <a:solidFill>
                  <a:schemeClr val="lt1"/>
                </a:solidFill>
                <a:latin typeface="Calibri"/>
                <a:ea typeface="Calibri"/>
                <a:cs typeface="Calibri"/>
                <a:sym typeface="Calibri"/>
              </a:rPr>
              <a:t>ÁRBOLES BINARIOS DE BÚSQUEDA- Característica</a:t>
            </a:r>
            <a:endParaRPr b="0" i="0" sz="1400" u="none" cap="none" strike="noStrike">
              <a:solidFill>
                <a:srgbClr val="000000"/>
              </a:solidFill>
              <a:latin typeface="Arial"/>
              <a:ea typeface="Arial"/>
              <a:cs typeface="Arial"/>
              <a:sym typeface="Arial"/>
            </a:endParaRPr>
          </a:p>
        </p:txBody>
      </p:sp>
      <p:grpSp>
        <p:nvGrpSpPr>
          <p:cNvPr id="217" name="Google Shape;217;p7"/>
          <p:cNvGrpSpPr/>
          <p:nvPr/>
        </p:nvGrpSpPr>
        <p:grpSpPr>
          <a:xfrm>
            <a:off x="931862" y="1896607"/>
            <a:ext cx="4659312" cy="2747963"/>
            <a:chOff x="147639" y="1252014"/>
            <a:chExt cx="3567232" cy="2361884"/>
          </a:xfrm>
        </p:grpSpPr>
        <p:sp>
          <p:nvSpPr>
            <p:cNvPr id="218" name="Google Shape;218;p7"/>
            <p:cNvSpPr/>
            <p:nvPr/>
          </p:nvSpPr>
          <p:spPr>
            <a:xfrm>
              <a:off x="1677842" y="1252014"/>
              <a:ext cx="545720" cy="590812"/>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219" name="Google Shape;219;p7"/>
            <p:cNvSpPr/>
            <p:nvPr/>
          </p:nvSpPr>
          <p:spPr>
            <a:xfrm>
              <a:off x="825839" y="2153923"/>
              <a:ext cx="548150" cy="590813"/>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220" name="Google Shape;220;p7"/>
            <p:cNvSpPr/>
            <p:nvPr/>
          </p:nvSpPr>
          <p:spPr>
            <a:xfrm>
              <a:off x="2738896" y="2108896"/>
              <a:ext cx="545719" cy="589448"/>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221" name="Google Shape;221;p7"/>
            <p:cNvSpPr/>
            <p:nvPr/>
          </p:nvSpPr>
          <p:spPr>
            <a:xfrm>
              <a:off x="147639" y="3001255"/>
              <a:ext cx="545719" cy="592177"/>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222" name="Google Shape;222;p7"/>
            <p:cNvSpPr/>
            <p:nvPr/>
          </p:nvSpPr>
          <p:spPr>
            <a:xfrm>
              <a:off x="1347250" y="3008077"/>
              <a:ext cx="545720" cy="590813"/>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223" name="Google Shape;223;p7"/>
            <p:cNvSpPr/>
            <p:nvPr/>
          </p:nvSpPr>
          <p:spPr>
            <a:xfrm>
              <a:off x="3169152" y="3023086"/>
              <a:ext cx="545719" cy="590812"/>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cxnSp>
          <p:nvCxnSpPr>
            <p:cNvPr id="224" name="Google Shape;224;p7"/>
            <p:cNvCxnSpPr/>
            <p:nvPr/>
          </p:nvCxnSpPr>
          <p:spPr>
            <a:xfrm flipH="1">
              <a:off x="1293772" y="1756865"/>
              <a:ext cx="465503" cy="483020"/>
            </a:xfrm>
            <a:prstGeom prst="straightConnector1">
              <a:avLst/>
            </a:prstGeom>
            <a:noFill/>
            <a:ln cap="flat" cmpd="sng" w="57150">
              <a:solidFill>
                <a:srgbClr val="3B3838"/>
              </a:solidFill>
              <a:prstDash val="solid"/>
              <a:miter lim="800000"/>
              <a:headEnd len="sm" w="sm" type="none"/>
              <a:tailEnd len="sm" w="sm" type="none"/>
            </a:ln>
          </p:spPr>
        </p:cxnSp>
        <p:cxnSp>
          <p:nvCxnSpPr>
            <p:cNvPr id="225" name="Google Shape;225;p7"/>
            <p:cNvCxnSpPr/>
            <p:nvPr/>
          </p:nvCxnSpPr>
          <p:spPr>
            <a:xfrm>
              <a:off x="2223562" y="1717295"/>
              <a:ext cx="595552" cy="477562"/>
            </a:xfrm>
            <a:prstGeom prst="straightConnector1">
              <a:avLst/>
            </a:prstGeom>
            <a:noFill/>
            <a:ln cap="flat" cmpd="sng" w="57150">
              <a:solidFill>
                <a:srgbClr val="3B3838"/>
              </a:solidFill>
              <a:prstDash val="solid"/>
              <a:miter lim="800000"/>
              <a:headEnd len="sm" w="sm" type="none"/>
              <a:tailEnd len="sm" w="sm" type="none"/>
            </a:ln>
          </p:spPr>
        </p:cxnSp>
        <p:cxnSp>
          <p:nvCxnSpPr>
            <p:cNvPr id="226" name="Google Shape;226;p7"/>
            <p:cNvCxnSpPr/>
            <p:nvPr/>
          </p:nvCxnSpPr>
          <p:spPr>
            <a:xfrm flipH="1">
              <a:off x="614357" y="2660139"/>
              <a:ext cx="358546" cy="427076"/>
            </a:xfrm>
            <a:prstGeom prst="straightConnector1">
              <a:avLst/>
            </a:prstGeom>
            <a:noFill/>
            <a:ln cap="flat" cmpd="sng" w="57150">
              <a:solidFill>
                <a:srgbClr val="3B3838"/>
              </a:solidFill>
              <a:prstDash val="solid"/>
              <a:miter lim="800000"/>
              <a:headEnd len="sm" w="sm" type="none"/>
              <a:tailEnd len="sm" w="sm" type="none"/>
            </a:ln>
          </p:spPr>
        </p:cxnSp>
        <p:cxnSp>
          <p:nvCxnSpPr>
            <p:cNvPr id="227" name="Google Shape;227;p7"/>
            <p:cNvCxnSpPr/>
            <p:nvPr/>
          </p:nvCxnSpPr>
          <p:spPr>
            <a:xfrm>
              <a:off x="1315649" y="2645130"/>
              <a:ext cx="303853" cy="362947"/>
            </a:xfrm>
            <a:prstGeom prst="straightConnector1">
              <a:avLst/>
            </a:prstGeom>
            <a:noFill/>
            <a:ln cap="flat" cmpd="sng" w="57150">
              <a:solidFill>
                <a:srgbClr val="3B3838"/>
              </a:solidFill>
              <a:prstDash val="solid"/>
              <a:miter lim="800000"/>
              <a:headEnd len="sm" w="sm" type="none"/>
              <a:tailEnd len="sm" w="sm" type="none"/>
            </a:ln>
          </p:spPr>
        </p:cxnSp>
        <p:cxnSp>
          <p:nvCxnSpPr>
            <p:cNvPr id="228" name="Google Shape;228;p7"/>
            <p:cNvCxnSpPr/>
            <p:nvPr/>
          </p:nvCxnSpPr>
          <p:spPr>
            <a:xfrm>
              <a:off x="3017225" y="2702437"/>
              <a:ext cx="305069" cy="361583"/>
            </a:xfrm>
            <a:prstGeom prst="straightConnector1">
              <a:avLst/>
            </a:prstGeom>
            <a:noFill/>
            <a:ln cap="flat" cmpd="sng" w="57150">
              <a:solidFill>
                <a:srgbClr val="3B3838"/>
              </a:solidFill>
              <a:prstDash val="solid"/>
              <a:miter lim="800000"/>
              <a:headEnd len="sm" w="sm" type="none"/>
              <a:tailEnd len="sm" w="sm" type="none"/>
            </a:ln>
          </p:spPr>
        </p:cxnSp>
      </p:grpSp>
      <p:sp>
        <p:nvSpPr>
          <p:cNvPr id="229" name="Google Shape;229;p7"/>
          <p:cNvSpPr/>
          <p:nvPr/>
        </p:nvSpPr>
        <p:spPr>
          <a:xfrm>
            <a:off x="3478212" y="4030207"/>
            <a:ext cx="714375" cy="687387"/>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cxnSp>
        <p:nvCxnSpPr>
          <p:cNvPr id="230" name="Google Shape;230;p7"/>
          <p:cNvCxnSpPr/>
          <p:nvPr/>
        </p:nvCxnSpPr>
        <p:spPr>
          <a:xfrm flipH="1">
            <a:off x="4089399" y="3633333"/>
            <a:ext cx="466725" cy="496887"/>
          </a:xfrm>
          <a:prstGeom prst="straightConnector1">
            <a:avLst/>
          </a:prstGeom>
          <a:noFill/>
          <a:ln cap="flat" cmpd="sng" w="57150">
            <a:solidFill>
              <a:srgbClr val="3B3838"/>
            </a:solidFill>
            <a:prstDash val="solid"/>
            <a:miter lim="800000"/>
            <a:headEnd len="sm" w="sm" type="none"/>
            <a:tailEnd len="sm" w="sm" type="none"/>
          </a:ln>
        </p:spPr>
      </p:cxnSp>
      <p:sp>
        <p:nvSpPr>
          <p:cNvPr id="231" name="Google Shape;231;p7"/>
          <p:cNvSpPr txBox="1"/>
          <p:nvPr/>
        </p:nvSpPr>
        <p:spPr>
          <a:xfrm>
            <a:off x="3035580" y="1946809"/>
            <a:ext cx="611134"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15</a:t>
            </a:r>
            <a:endParaRPr b="0" i="0" sz="1400" u="none" cap="none" strike="noStrike">
              <a:solidFill>
                <a:srgbClr val="000000"/>
              </a:solidFill>
              <a:latin typeface="Arial"/>
              <a:ea typeface="Arial"/>
              <a:cs typeface="Arial"/>
              <a:sym typeface="Arial"/>
            </a:endParaRPr>
          </a:p>
        </p:txBody>
      </p:sp>
      <p:sp>
        <p:nvSpPr>
          <p:cNvPr id="232" name="Google Shape;232;p7"/>
          <p:cNvSpPr txBox="1"/>
          <p:nvPr/>
        </p:nvSpPr>
        <p:spPr>
          <a:xfrm>
            <a:off x="4437989" y="2993244"/>
            <a:ext cx="535713" cy="4305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24</a:t>
            </a:r>
            <a:endParaRPr b="0" i="0" sz="1400" u="none" cap="none" strike="noStrike">
              <a:solidFill>
                <a:srgbClr val="000000"/>
              </a:solidFill>
              <a:latin typeface="Arial"/>
              <a:ea typeface="Arial"/>
              <a:cs typeface="Arial"/>
              <a:sym typeface="Arial"/>
            </a:endParaRPr>
          </a:p>
        </p:txBody>
      </p:sp>
      <p:sp>
        <p:nvSpPr>
          <p:cNvPr id="233" name="Google Shape;233;p7"/>
          <p:cNvSpPr txBox="1"/>
          <p:nvPr/>
        </p:nvSpPr>
        <p:spPr>
          <a:xfrm>
            <a:off x="3567062" y="4129989"/>
            <a:ext cx="535713" cy="4305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16</a:t>
            </a:r>
            <a:endParaRPr b="0" i="0" sz="1400" u="none" cap="none" strike="noStrike">
              <a:solidFill>
                <a:srgbClr val="000000"/>
              </a:solidFill>
              <a:latin typeface="Arial"/>
              <a:ea typeface="Arial"/>
              <a:cs typeface="Arial"/>
              <a:sym typeface="Arial"/>
            </a:endParaRPr>
          </a:p>
        </p:txBody>
      </p:sp>
      <p:sp>
        <p:nvSpPr>
          <p:cNvPr id="234" name="Google Shape;234;p7"/>
          <p:cNvSpPr txBox="1"/>
          <p:nvPr/>
        </p:nvSpPr>
        <p:spPr>
          <a:xfrm>
            <a:off x="5009327" y="4109341"/>
            <a:ext cx="535713" cy="4305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30</a:t>
            </a:r>
            <a:endParaRPr b="0" i="0" sz="1400" u="none" cap="none" strike="noStrike">
              <a:solidFill>
                <a:srgbClr val="000000"/>
              </a:solidFill>
              <a:latin typeface="Arial"/>
              <a:ea typeface="Arial"/>
              <a:cs typeface="Arial"/>
              <a:sym typeface="Arial"/>
            </a:endParaRPr>
          </a:p>
        </p:txBody>
      </p:sp>
      <p:sp>
        <p:nvSpPr>
          <p:cNvPr id="235" name="Google Shape;235;p7"/>
          <p:cNvSpPr txBox="1"/>
          <p:nvPr/>
        </p:nvSpPr>
        <p:spPr>
          <a:xfrm>
            <a:off x="1955051" y="3062534"/>
            <a:ext cx="535713" cy="4305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8</a:t>
            </a:r>
            <a:endParaRPr b="0" i="0" sz="1400" u="none" cap="none" strike="noStrike">
              <a:solidFill>
                <a:srgbClr val="000000"/>
              </a:solidFill>
              <a:latin typeface="Arial"/>
              <a:ea typeface="Arial"/>
              <a:cs typeface="Arial"/>
              <a:sym typeface="Arial"/>
            </a:endParaRPr>
          </a:p>
        </p:txBody>
      </p:sp>
      <p:sp>
        <p:nvSpPr>
          <p:cNvPr id="236" name="Google Shape;236;p7"/>
          <p:cNvSpPr txBox="1"/>
          <p:nvPr/>
        </p:nvSpPr>
        <p:spPr>
          <a:xfrm>
            <a:off x="2590598" y="4060534"/>
            <a:ext cx="535713" cy="4305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12</a:t>
            </a:r>
            <a:endParaRPr b="0" i="0" sz="1400" u="none" cap="none" strike="noStrike">
              <a:solidFill>
                <a:srgbClr val="000000"/>
              </a:solidFill>
              <a:latin typeface="Arial"/>
              <a:ea typeface="Arial"/>
              <a:cs typeface="Arial"/>
              <a:sym typeface="Arial"/>
            </a:endParaRPr>
          </a:p>
        </p:txBody>
      </p:sp>
      <p:sp>
        <p:nvSpPr>
          <p:cNvPr id="237" name="Google Shape;237;p7"/>
          <p:cNvSpPr txBox="1"/>
          <p:nvPr/>
        </p:nvSpPr>
        <p:spPr>
          <a:xfrm>
            <a:off x="1094870" y="4056042"/>
            <a:ext cx="535713" cy="430586"/>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7</a:t>
            </a:r>
            <a:endParaRPr b="0" i="0" sz="1400" u="none" cap="none" strike="noStrike">
              <a:solidFill>
                <a:srgbClr val="000000"/>
              </a:solidFill>
              <a:latin typeface="Arial"/>
              <a:ea typeface="Arial"/>
              <a:cs typeface="Arial"/>
              <a:sym typeface="Arial"/>
            </a:endParaRPr>
          </a:p>
        </p:txBody>
      </p:sp>
      <p:grpSp>
        <p:nvGrpSpPr>
          <p:cNvPr id="238" name="Google Shape;238;p7"/>
          <p:cNvGrpSpPr/>
          <p:nvPr/>
        </p:nvGrpSpPr>
        <p:grpSpPr>
          <a:xfrm>
            <a:off x="7714658" y="2007430"/>
            <a:ext cx="3773487" cy="2819400"/>
            <a:chOff x="1387948" y="1412776"/>
            <a:chExt cx="3790128" cy="3024336"/>
          </a:xfrm>
        </p:grpSpPr>
        <p:grpSp>
          <p:nvGrpSpPr>
            <p:cNvPr id="239" name="Google Shape;239;p7"/>
            <p:cNvGrpSpPr/>
            <p:nvPr/>
          </p:nvGrpSpPr>
          <p:grpSpPr>
            <a:xfrm>
              <a:off x="1387948" y="1412776"/>
              <a:ext cx="3790128" cy="3024336"/>
              <a:chOff x="1518303" y="1700808"/>
              <a:chExt cx="2889813" cy="2423575"/>
            </a:xfrm>
          </p:grpSpPr>
          <p:grpSp>
            <p:nvGrpSpPr>
              <p:cNvPr id="240" name="Google Shape;240;p7"/>
              <p:cNvGrpSpPr/>
              <p:nvPr/>
            </p:nvGrpSpPr>
            <p:grpSpPr>
              <a:xfrm>
                <a:off x="1518303" y="1700808"/>
                <a:ext cx="2889813" cy="2359438"/>
                <a:chOff x="826247" y="1252014"/>
                <a:chExt cx="2888624" cy="2360484"/>
              </a:xfrm>
            </p:grpSpPr>
            <p:sp>
              <p:nvSpPr>
                <p:cNvPr id="241" name="Google Shape;241;p7"/>
                <p:cNvSpPr/>
                <p:nvPr/>
              </p:nvSpPr>
              <p:spPr>
                <a:xfrm>
                  <a:off x="1678130" y="1252014"/>
                  <a:ext cx="545643" cy="589780"/>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242" name="Google Shape;242;p7"/>
                <p:cNvSpPr/>
                <p:nvPr/>
              </p:nvSpPr>
              <p:spPr>
                <a:xfrm>
                  <a:off x="826247" y="2153066"/>
                  <a:ext cx="548073" cy="591144"/>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243" name="Google Shape;243;p7"/>
                <p:cNvSpPr/>
                <p:nvPr/>
              </p:nvSpPr>
              <p:spPr>
                <a:xfrm>
                  <a:off x="2739034" y="2108013"/>
                  <a:ext cx="545642" cy="589780"/>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244" name="Google Shape;244;p7"/>
                <p:cNvSpPr/>
                <p:nvPr/>
              </p:nvSpPr>
              <p:spPr>
                <a:xfrm>
                  <a:off x="1347584" y="3007701"/>
                  <a:ext cx="545643" cy="591144"/>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245" name="Google Shape;245;p7"/>
                <p:cNvSpPr/>
                <p:nvPr/>
              </p:nvSpPr>
              <p:spPr>
                <a:xfrm>
                  <a:off x="3169229" y="3022718"/>
                  <a:ext cx="545642" cy="589780"/>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cxnSp>
              <p:nvCxnSpPr>
                <p:cNvPr id="246" name="Google Shape;246;p7"/>
                <p:cNvCxnSpPr/>
                <p:nvPr/>
              </p:nvCxnSpPr>
              <p:spPr>
                <a:xfrm flipH="1">
                  <a:off x="1292899" y="1757149"/>
                  <a:ext cx="465436" cy="481926"/>
                </a:xfrm>
                <a:prstGeom prst="straightConnector1">
                  <a:avLst/>
                </a:prstGeom>
                <a:noFill/>
                <a:ln cap="flat" cmpd="sng" w="57150">
                  <a:solidFill>
                    <a:srgbClr val="3B3838"/>
                  </a:solidFill>
                  <a:prstDash val="solid"/>
                  <a:miter lim="800000"/>
                  <a:headEnd len="sm" w="sm" type="none"/>
                  <a:tailEnd len="sm" w="sm" type="none"/>
                </a:ln>
              </p:spPr>
            </p:cxnSp>
            <p:cxnSp>
              <p:nvCxnSpPr>
                <p:cNvPr id="247" name="Google Shape;247;p7"/>
                <p:cNvCxnSpPr/>
                <p:nvPr/>
              </p:nvCxnSpPr>
              <p:spPr>
                <a:xfrm>
                  <a:off x="2223772" y="1717557"/>
                  <a:ext cx="594252" cy="476466"/>
                </a:xfrm>
                <a:prstGeom prst="straightConnector1">
                  <a:avLst/>
                </a:prstGeom>
                <a:noFill/>
                <a:ln cap="flat" cmpd="sng" w="57150">
                  <a:solidFill>
                    <a:srgbClr val="3B3838"/>
                  </a:solidFill>
                  <a:prstDash val="solid"/>
                  <a:miter lim="800000"/>
                  <a:headEnd len="sm" w="sm" type="none"/>
                  <a:tailEnd len="sm" w="sm" type="none"/>
                </a:ln>
              </p:spPr>
            </p:cxnSp>
            <p:cxnSp>
              <p:nvCxnSpPr>
                <p:cNvPr id="248" name="Google Shape;248;p7"/>
                <p:cNvCxnSpPr/>
                <p:nvPr/>
              </p:nvCxnSpPr>
              <p:spPr>
                <a:xfrm>
                  <a:off x="1315988" y="2644549"/>
                  <a:ext cx="303810" cy="363151"/>
                </a:xfrm>
                <a:prstGeom prst="straightConnector1">
                  <a:avLst/>
                </a:prstGeom>
                <a:noFill/>
                <a:ln cap="flat" cmpd="sng" w="57150">
                  <a:solidFill>
                    <a:srgbClr val="3B3838"/>
                  </a:solidFill>
                  <a:prstDash val="solid"/>
                  <a:miter lim="800000"/>
                  <a:headEnd len="sm" w="sm" type="none"/>
                  <a:tailEnd len="sm" w="sm" type="none"/>
                </a:ln>
              </p:spPr>
            </p:cxnSp>
            <p:cxnSp>
              <p:nvCxnSpPr>
                <p:cNvPr id="249" name="Google Shape;249;p7"/>
                <p:cNvCxnSpPr/>
                <p:nvPr/>
              </p:nvCxnSpPr>
              <p:spPr>
                <a:xfrm>
                  <a:off x="3017324" y="2701889"/>
                  <a:ext cx="303810" cy="361786"/>
                </a:xfrm>
                <a:prstGeom prst="straightConnector1">
                  <a:avLst/>
                </a:prstGeom>
                <a:noFill/>
                <a:ln cap="flat" cmpd="sng" w="57150">
                  <a:solidFill>
                    <a:srgbClr val="3B3838"/>
                  </a:solidFill>
                  <a:prstDash val="solid"/>
                  <a:miter lim="800000"/>
                  <a:headEnd len="sm" w="sm" type="none"/>
                  <a:tailEnd len="sm" w="sm" type="none"/>
                </a:ln>
              </p:spPr>
            </p:cxnSp>
          </p:grpSp>
          <p:sp>
            <p:nvSpPr>
              <p:cNvPr id="250" name="Google Shape;250;p7"/>
              <p:cNvSpPr/>
              <p:nvPr/>
            </p:nvSpPr>
            <p:spPr>
              <a:xfrm>
                <a:off x="2789967" y="3534865"/>
                <a:ext cx="547083" cy="589518"/>
              </a:xfrm>
              <a:prstGeom prst="ellipse">
                <a:avLst/>
              </a:prstGeom>
              <a:noFill/>
              <a:ln cap="flat" cmpd="sng" w="57150">
                <a:solidFill>
                  <a:srgbClr val="3B3838"/>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cxnSp>
            <p:nvCxnSpPr>
              <p:cNvPr id="251" name="Google Shape;251;p7"/>
              <p:cNvCxnSpPr/>
              <p:nvPr/>
            </p:nvCxnSpPr>
            <p:spPr>
              <a:xfrm flipH="1">
                <a:off x="3256811" y="3192343"/>
                <a:ext cx="358643" cy="427128"/>
              </a:xfrm>
              <a:prstGeom prst="straightConnector1">
                <a:avLst/>
              </a:prstGeom>
              <a:noFill/>
              <a:ln cap="flat" cmpd="sng" w="57150">
                <a:solidFill>
                  <a:srgbClr val="3B3838"/>
                </a:solidFill>
                <a:prstDash val="solid"/>
                <a:miter lim="800000"/>
                <a:headEnd len="sm" w="sm" type="none"/>
                <a:tailEnd len="sm" w="sm" type="none"/>
              </a:ln>
            </p:spPr>
          </p:cxnSp>
        </p:grpSp>
        <p:sp>
          <p:nvSpPr>
            <p:cNvPr id="252" name="Google Shape;252;p7"/>
            <p:cNvSpPr txBox="1"/>
            <p:nvPr/>
          </p:nvSpPr>
          <p:spPr>
            <a:xfrm>
              <a:off x="2610849" y="1531588"/>
              <a:ext cx="538151"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15</a:t>
              </a:r>
              <a:endParaRPr b="0" i="0" sz="1400" u="none" cap="none" strike="noStrike">
                <a:solidFill>
                  <a:srgbClr val="000000"/>
                </a:solidFill>
                <a:latin typeface="Arial"/>
                <a:ea typeface="Arial"/>
                <a:cs typeface="Arial"/>
                <a:sym typeface="Arial"/>
              </a:endParaRPr>
            </a:p>
          </p:txBody>
        </p:sp>
        <p:sp>
          <p:nvSpPr>
            <p:cNvPr id="253" name="Google Shape;253;p7"/>
            <p:cNvSpPr txBox="1"/>
            <p:nvPr/>
          </p:nvSpPr>
          <p:spPr>
            <a:xfrm>
              <a:off x="4019641" y="2588463"/>
              <a:ext cx="538151" cy="4951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8</a:t>
              </a:r>
              <a:endParaRPr b="0" i="0" sz="1400" u="none" cap="none" strike="noStrike">
                <a:solidFill>
                  <a:srgbClr val="000000"/>
                </a:solidFill>
                <a:latin typeface="Arial"/>
                <a:ea typeface="Arial"/>
                <a:cs typeface="Arial"/>
                <a:sym typeface="Arial"/>
              </a:endParaRPr>
            </a:p>
          </p:txBody>
        </p:sp>
        <p:sp>
          <p:nvSpPr>
            <p:cNvPr id="254" name="Google Shape;254;p7"/>
            <p:cNvSpPr txBox="1"/>
            <p:nvPr/>
          </p:nvSpPr>
          <p:spPr>
            <a:xfrm>
              <a:off x="3144750" y="3807150"/>
              <a:ext cx="538151" cy="4951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10</a:t>
              </a:r>
              <a:endParaRPr b="0" i="0" sz="1400" u="none" cap="none" strike="noStrike">
                <a:solidFill>
                  <a:srgbClr val="000000"/>
                </a:solidFill>
                <a:latin typeface="Arial"/>
                <a:ea typeface="Arial"/>
                <a:cs typeface="Arial"/>
                <a:sym typeface="Arial"/>
              </a:endParaRPr>
            </a:p>
          </p:txBody>
        </p:sp>
        <p:sp>
          <p:nvSpPr>
            <p:cNvPr id="255" name="Google Shape;255;p7"/>
            <p:cNvSpPr txBox="1"/>
            <p:nvPr/>
          </p:nvSpPr>
          <p:spPr>
            <a:xfrm>
              <a:off x="4593580" y="3785014"/>
              <a:ext cx="538151" cy="4951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4</a:t>
              </a:r>
              <a:endParaRPr b="0" i="0" sz="1400" u="none" cap="none" strike="noStrike">
                <a:solidFill>
                  <a:srgbClr val="000000"/>
                </a:solidFill>
                <a:latin typeface="Arial"/>
                <a:ea typeface="Arial"/>
                <a:cs typeface="Arial"/>
                <a:sym typeface="Arial"/>
              </a:endParaRPr>
            </a:p>
          </p:txBody>
        </p:sp>
        <p:sp>
          <p:nvSpPr>
            <p:cNvPr id="256" name="Google Shape;256;p7"/>
            <p:cNvSpPr txBox="1"/>
            <p:nvPr/>
          </p:nvSpPr>
          <p:spPr>
            <a:xfrm>
              <a:off x="1525401" y="2662748"/>
              <a:ext cx="538151" cy="4951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30</a:t>
              </a:r>
              <a:endParaRPr b="0" i="0" sz="1400" u="none" cap="none" strike="noStrike">
                <a:solidFill>
                  <a:srgbClr val="000000"/>
                </a:solidFill>
                <a:latin typeface="Arial"/>
                <a:ea typeface="Arial"/>
                <a:cs typeface="Arial"/>
                <a:sym typeface="Arial"/>
              </a:endParaRPr>
            </a:p>
          </p:txBody>
        </p:sp>
        <p:sp>
          <p:nvSpPr>
            <p:cNvPr id="257" name="Google Shape;257;p7"/>
            <p:cNvSpPr txBox="1"/>
            <p:nvPr/>
          </p:nvSpPr>
          <p:spPr>
            <a:xfrm>
              <a:off x="2163841" y="3732688"/>
              <a:ext cx="538151" cy="495128"/>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24</a:t>
              </a:r>
              <a:endParaRPr b="0" i="0" sz="1400" u="none" cap="none" strike="noStrike">
                <a:solidFill>
                  <a:srgbClr val="000000"/>
                </a:solidFill>
                <a:latin typeface="Arial"/>
                <a:ea typeface="Arial"/>
                <a:cs typeface="Arial"/>
                <a:sym typeface="Arial"/>
              </a:endParaRPr>
            </a:p>
          </p:txBody>
        </p:sp>
      </p:grpSp>
      <p:grpSp>
        <p:nvGrpSpPr>
          <p:cNvPr id="258" name="Google Shape;258;p7"/>
          <p:cNvGrpSpPr/>
          <p:nvPr/>
        </p:nvGrpSpPr>
        <p:grpSpPr>
          <a:xfrm>
            <a:off x="2004143" y="1808502"/>
            <a:ext cx="714375" cy="687387"/>
            <a:chOff x="5738812" y="1527791"/>
            <a:chExt cx="714375" cy="687387"/>
          </a:xfrm>
        </p:grpSpPr>
        <p:sp>
          <p:nvSpPr>
            <p:cNvPr id="259" name="Google Shape;259;p7"/>
            <p:cNvSpPr/>
            <p:nvPr/>
          </p:nvSpPr>
          <p:spPr>
            <a:xfrm>
              <a:off x="5738812" y="1527791"/>
              <a:ext cx="714375" cy="687387"/>
            </a:xfrm>
            <a:prstGeom prst="ellipse">
              <a:avLst/>
            </a:prstGeom>
            <a:solidFill>
              <a:srgbClr val="E1EFD8"/>
            </a:solidFill>
            <a:ln cap="flat" cmpd="sng" w="5715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Tahoma"/>
                <a:ea typeface="Tahoma"/>
                <a:cs typeface="Tahoma"/>
                <a:sym typeface="Tahoma"/>
              </a:endParaRPr>
            </a:p>
          </p:txBody>
        </p:sp>
        <p:sp>
          <p:nvSpPr>
            <p:cNvPr id="260" name="Google Shape;260;p7"/>
            <p:cNvSpPr txBox="1"/>
            <p:nvPr/>
          </p:nvSpPr>
          <p:spPr>
            <a:xfrm>
              <a:off x="5827662" y="1627573"/>
              <a:ext cx="535713" cy="461624"/>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400"/>
                <a:buFont typeface="Consolas"/>
                <a:buNone/>
              </a:pPr>
              <a:r>
                <a:rPr b="0" i="0" lang="en-US" sz="2400" u="none" cap="none" strike="noStrike">
                  <a:solidFill>
                    <a:srgbClr val="000000"/>
                  </a:solidFill>
                  <a:latin typeface="Consolas"/>
                  <a:ea typeface="Consolas"/>
                  <a:cs typeface="Consolas"/>
                  <a:sym typeface="Consolas"/>
                </a:rPr>
                <a:t>11</a:t>
              </a:r>
              <a:endParaRPr b="0" i="0" sz="1400" u="none" cap="none" strike="noStrike">
                <a:solidFill>
                  <a:srgbClr val="000000"/>
                </a:solidFill>
                <a:latin typeface="Arial"/>
                <a:ea typeface="Arial"/>
                <a:cs typeface="Arial"/>
                <a:sym typeface="Arial"/>
              </a:endParaRPr>
            </a:p>
          </p:txBody>
        </p:sp>
      </p:grpSp>
      <p:sp>
        <p:nvSpPr>
          <p:cNvPr id="261" name="Google Shape;261;p7"/>
          <p:cNvSpPr txBox="1"/>
          <p:nvPr/>
        </p:nvSpPr>
        <p:spPr>
          <a:xfrm>
            <a:off x="3224981" y="5380225"/>
            <a:ext cx="8804616" cy="1302658"/>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595959"/>
              </a:buClr>
              <a:buSzPts val="2800"/>
              <a:buFont typeface="Calibri"/>
              <a:buNone/>
            </a:pPr>
            <a:r>
              <a:rPr b="0" i="0" lang="en-US" sz="2400" u="none" cap="none" strike="noStrike">
                <a:solidFill>
                  <a:srgbClr val="595959"/>
                </a:solidFill>
                <a:latin typeface="Calibri"/>
                <a:ea typeface="Calibri"/>
                <a:cs typeface="Calibri"/>
                <a:sym typeface="Calibri"/>
              </a:rPr>
              <a:t>Un </a:t>
            </a:r>
            <a:r>
              <a:rPr b="1" i="0" lang="en-US" sz="2400" u="none" cap="none" strike="noStrike">
                <a:solidFill>
                  <a:schemeClr val="accent2"/>
                </a:solidFill>
                <a:latin typeface="Calibri"/>
                <a:ea typeface="Calibri"/>
                <a:cs typeface="Calibri"/>
                <a:sym typeface="Calibri"/>
              </a:rPr>
              <a:t>árbol binario de búsqueda</a:t>
            </a:r>
            <a:r>
              <a:rPr b="0" i="0" lang="en-US" sz="2400" u="none" cap="none" strike="noStrike">
                <a:solidFill>
                  <a:schemeClr val="accent2"/>
                </a:solidFill>
                <a:latin typeface="Calibri"/>
                <a:ea typeface="Calibri"/>
                <a:cs typeface="Calibri"/>
                <a:sym typeface="Calibri"/>
              </a:rPr>
              <a:t> </a:t>
            </a:r>
            <a:r>
              <a:rPr b="1" i="0" lang="en-US" sz="2400" u="none" cap="none" strike="noStrike">
                <a:solidFill>
                  <a:schemeClr val="accent2"/>
                </a:solidFill>
                <a:latin typeface="Calibri"/>
                <a:ea typeface="Calibri"/>
                <a:cs typeface="Calibri"/>
                <a:sym typeface="Calibri"/>
              </a:rPr>
              <a:t>(ABB) </a:t>
            </a:r>
            <a:r>
              <a:rPr b="0" i="0" lang="en-US" sz="2400" u="none" cap="none" strike="noStrike">
                <a:solidFill>
                  <a:srgbClr val="595959"/>
                </a:solidFill>
                <a:latin typeface="Calibri"/>
                <a:ea typeface="Calibri"/>
                <a:cs typeface="Calibri"/>
                <a:sym typeface="Calibri"/>
              </a:rPr>
              <a:t>agrega los elementos por sus hojas. Dichos elementos quedan ordenados (todos por el mismo criterio). Esta operación lleva un tiempo de ejecución de O(log n).</a:t>
            </a:r>
            <a:endParaRPr b="0" i="0" sz="2400" u="none" cap="none" strike="noStrike">
              <a:solidFill>
                <a:srgbClr val="000000"/>
              </a:solidFill>
              <a:latin typeface="Arial"/>
              <a:ea typeface="Arial"/>
              <a:cs typeface="Arial"/>
              <a:sym typeface="Arial"/>
            </a:endParaRPr>
          </a:p>
        </p:txBody>
      </p:sp>
      <p:cxnSp>
        <p:nvCxnSpPr>
          <p:cNvPr id="262" name="Google Shape;262;p7"/>
          <p:cNvCxnSpPr/>
          <p:nvPr/>
        </p:nvCxnSpPr>
        <p:spPr>
          <a:xfrm flipH="1">
            <a:off x="1861254" y="4429815"/>
            <a:ext cx="721364" cy="549080"/>
          </a:xfrm>
          <a:prstGeom prst="straightConnector1">
            <a:avLst/>
          </a:prstGeom>
          <a:noFill/>
          <a:ln cap="flat" cmpd="sng" w="57150">
            <a:solidFill>
              <a:schemeClr val="dk2"/>
            </a:solidFill>
            <a:prstDash val="solid"/>
            <a:round/>
            <a:headEnd len="sm" w="sm" type="none"/>
            <a:tailEnd len="sm" w="sm" type="none"/>
          </a:ln>
        </p:spPr>
      </p:cxn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8"/>
                                        </p:tgtEl>
                                        <p:attrNameLst>
                                          <p:attrName>style.visibility</p:attrName>
                                        </p:attrNameLst>
                                      </p:cBhvr>
                                      <p:to>
                                        <p:strVal val="visible"/>
                                      </p:to>
                                    </p:set>
                                    <p:animEffect filter="fade" transition="in">
                                      <p:cBhvr>
                                        <p:cTn dur="500"/>
                                        <p:tgtEl>
                                          <p:spTgt spid="2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500"/>
                                        <p:tgtEl>
                                          <p:spTgt spid="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8"/>
                                        </p:tgtEl>
                                        <p:attrNameLst>
                                          <p:attrName>style.visibility</p:attrName>
                                        </p:attrNameLst>
                                      </p:cBhvr>
                                      <p:to>
                                        <p:strVal val="visible"/>
                                      </p:to>
                                    </p:set>
                                    <p:animEffect filter="fade" transition="in">
                                      <p:cBhvr>
                                        <p:cTn dur="1250"/>
                                        <p:tgtEl>
                                          <p:spTgt spid="2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2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2004-03-08T16:29:06Z</dcterms:created>
  <dc:creator>Cecilia Verónica Sanz</dc:creator>
</cp:coreProperties>
</file>